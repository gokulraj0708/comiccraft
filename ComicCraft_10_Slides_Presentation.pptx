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Tip] Project name matrum one-line idea mattum simple-aa sollunga.</a:t>
            </a:r>
          </a:p>
          <a:p/>
          <a:p>
            <a:r>
              <a:t>[Simple Explanation]</a:t>
            </a:r>
          </a:p>
          <a:p>
            <a:r>
              <a:t>ComicCraft is an AI Comic Story Creator built with Python and FastAPI. It takes a short story idea from the user and automatically turns it into an illustrated comic book with web preview and A4 PDF download.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Tip] User oru story idea kudutha Plan -&gt; Write -&gt; Illustrate -&gt; Publish nu 4 step-la PDF ready aagidum.</a:t>
            </a:r>
          </a:p>
          <a:p/>
          <a:p>
            <a:r>
              <a:t>[Simple Explanation]</a:t>
            </a:r>
          </a:p>
          <a:p>
            <a:r>
              <a:t>ComicCraft accepts a simple creative brief and runs four automated steps—Plan, Write, Illustrate, and Publish—using Google Gemini AI, Pydantic validation, and fpdf2 PDF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Tip] Left side 4 problems, right side atha solve panra 4 objectives.</a:t>
            </a:r>
          </a:p>
          <a:p/>
          <a:p>
            <a:r>
              <a:t>[Simple Explanation]</a:t>
            </a:r>
          </a:p>
          <a:p>
            <a:r>
              <a:t>Manual comics take too much effort, and basic AI scripts suffer from broken text parsing, changing characters, and API crashes. Our objective is to solve all four using structured JSON, a Character Bible, and offline fallbacks.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Tip] Existing vs Proposed table-la ulla 5 simple points-ah apdiye compare panni sollunga.</a:t>
            </a:r>
          </a:p>
          <a:p/>
          <a:p>
            <a:r>
              <a:t>[Simple Explanation]</a:t>
            </a:r>
          </a:p>
          <a:p>
            <a:r>
              <a:t>Unlike existing manual tools or fragile chat scripts, ComicCraft unifies story writing, consistent artwork, offline reliability, and A4 PDF export into one smooth web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Tip] 6 cards-la ulla main technologies mattum sollunga: FastAPI, Pydantic, Gemini, Pillow/HuggingFace, Jinja2, fpdf2.</a:t>
            </a:r>
          </a:p>
          <a:p/>
          <a:p>
            <a:r>
              <a:t>[Simple Explanation]</a:t>
            </a:r>
          </a:p>
          <a:p>
            <a:r>
              <a:t>ComicCraft is built with Python 3.11, FastAPI, and Pydantic v2. It uses Google Gemini for scripts, Pillow, Hugging Face, or Diffusers for artwork, Jinja2 for the web interface, and fpdf2 for PDF export.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Tip] User -&gt; FastAPI -&gt; ComicService -&gt; 4 Services (Story, Image, PDF, Storage).</a:t>
            </a:r>
          </a:p>
          <a:p/>
          <a:p>
            <a:r>
              <a:t>[Simple Explanation]</a:t>
            </a:r>
          </a:p>
          <a:p>
            <a:r>
              <a:t>User requests come through FastAPI and Pydantic validation into ComicService. ComicService coordinates four clean modules: Story Service, Image Service, PDF Service, and Storage Service.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Tip] Stage 1 Outline + Character Bible, Stage 2 Full Script, Stage 4 Panel Images.</a:t>
            </a:r>
          </a:p>
          <a:p/>
          <a:p>
            <a:r>
              <a:t>[Simple Explanation]</a:t>
            </a:r>
          </a:p>
          <a:p>
            <a:r>
              <a:t>Instead of a single prompt, ComicCraft uses two Gemini stages. Stage 1 plans the outline and creates a Character Bible. Stage 2 writes captions and dialogues while repeating the Character Bible in every panel prompt.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Tip] API fail aanalum app crash aagathu — retry pannum, illana Offline Demo + Placeholder image vachu PDF kudukum!</a:t>
            </a:r>
          </a:p>
          <a:p/>
          <a:p>
            <a:r>
              <a:t>[Simple Explanation]</a:t>
            </a:r>
          </a:p>
          <a:p>
            <a:r>
              <a:t>ComicCraft is designed never to crash during use. It automatically retries transient errors, switches to backup models, protects individual panels with placeholder images, and saves every comic inside a safe UUID folder.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Tip] Moonu screenshots: 1) Input Form, 2) Generated Comic Panels, 3) Final A4 PDF Output.</a:t>
            </a:r>
          </a:p>
          <a:p/>
          <a:p>
            <a:r>
              <a:t>[Simple Explanation]</a:t>
            </a:r>
          </a:p>
          <a:p>
            <a:r>
              <a:t>Here are actual outputs from ComicCraft: the story input studio on the left, the generated multi-panel web preview in the middle, and the final A4 PDF cover and panel page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Tip] 11 pytest pass, future enhancements (background queue, cloud storage, Tamil support), matrum simple conclusion solli mudinga!</a:t>
            </a:r>
          </a:p>
          <a:p/>
          <a:p>
            <a:r>
              <a:t>[Simple Explanation]</a:t>
            </a:r>
          </a:p>
          <a:p>
            <a:r>
              <a:t>ComicCraft is verified with 11 automated offline tests and ~80% coverage. Future enhancements include background queues, cloud user libraries, single-panel editing, and Tamil support.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01168" y="0"/>
            <a:ext cx="54864" cy="685800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143000"/>
            <a:ext cx="2697480" cy="347472"/>
          </a:xfrm>
          <a:prstGeom prst="roundRect">
            <a:avLst>
              <a:gd name="adj" fmla="val 4000"/>
            </a:avLst>
          </a:prstGeom>
          <a:solidFill>
            <a:srgbClr val="1E293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143000"/>
            <a:ext cx="2697480" cy="347472"/>
          </a:xfrm>
          <a:prstGeom prst="rect">
            <a:avLst/>
          </a:prstGeom>
          <a:noFill/>
        </p:spPr>
        <p:txBody>
          <a:bodyPr wrap="square" anchor="ctr" lIns="36576" rIns="36576" tIns="18288" bIns="18288">
            <a:spAutoFit/>
          </a:bodyPr>
          <a:lstStyle/>
          <a:p>
            <a:pPr algn="ctr"/>
            <a:r>
              <a:rPr sz="1100" b="1">
                <a:solidFill>
                  <a:srgbClr val="F59E0B"/>
                </a:solidFill>
                <a:latin typeface="Calibri"/>
              </a:rPr>
              <a:t>AI COMIC STORY STUDIO</a:t>
            </a:r>
          </a:p>
        </p:txBody>
      </p:sp>
      <p:sp>
        <p:nvSpPr>
          <p:cNvPr id="6" name="Rounded Rectangle 5"/>
          <p:cNvSpPr/>
          <p:nvPr/>
        </p:nvSpPr>
        <p:spPr>
          <a:xfrm>
            <a:off x="822960" y="1810512"/>
            <a:ext cx="731520" cy="731520"/>
          </a:xfrm>
          <a:prstGeom prst="roundRect">
            <a:avLst>
              <a:gd name="adj" fmla="val 4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10512"/>
            <a:ext cx="731520" cy="731520"/>
          </a:xfrm>
          <a:prstGeom prst="rect">
            <a:avLst/>
          </a:prstGeom>
          <a:noFill/>
        </p:spPr>
        <p:txBody>
          <a:bodyPr wrap="square" anchor="ctr" lIns="36576" rIns="36576" tIns="18288" bIns="18288">
            <a:spAutoFit/>
          </a:bodyPr>
          <a:lstStyle/>
          <a:p>
            <a:pPr algn="ctr"/>
            <a:r>
              <a:rPr sz="2700" b="1">
                <a:solidFill>
                  <a:srgbClr val="0F172A"/>
                </a:solidFill>
                <a:latin typeface="Calibri"/>
              </a:rPr>
              <a:t>C!</a:t>
            </a:r>
          </a:p>
        </p:txBody>
      </p:sp>
      <p:sp>
        <p:nvSpPr>
          <p:cNvPr id="8" name="TextBox 7"/>
          <p:cNvSpPr txBox="1"/>
          <p:nvPr/>
        </p:nvSpPr>
        <p:spPr>
          <a:xfrm>
            <a:off x="1719072" y="1719072"/>
            <a:ext cx="5943600" cy="841248"/>
          </a:xfrm>
          <a:prstGeom prst="rect">
            <a:avLst/>
          </a:prstGeom>
          <a:noFill/>
        </p:spPr>
        <p:txBody>
          <a:bodyPr wrap="square" anchor="t" lIns="36576" rIns="36576" tIns="18288" bIns="18288">
            <a:spAutoFit/>
          </a:bodyPr>
          <a:lstStyle/>
          <a:p>
            <a:pPr algn="l"/>
            <a:r>
              <a:rPr sz="4800" b="1">
                <a:solidFill>
                  <a:srgbClr val="FFFFFF"/>
                </a:solidFill>
                <a:latin typeface="Calibri"/>
              </a:rPr>
              <a:t>ComicCraft</a:t>
            </a:r>
          </a:p>
        </p:txBody>
      </p:sp>
      <p:sp>
        <p:nvSpPr>
          <p:cNvPr id="9" name="TextBox 8"/>
          <p:cNvSpPr txBox="1"/>
          <p:nvPr/>
        </p:nvSpPr>
        <p:spPr>
          <a:xfrm>
            <a:off x="822960" y="2697480"/>
            <a:ext cx="6766560" cy="530352"/>
          </a:xfrm>
          <a:prstGeom prst="rect">
            <a:avLst/>
          </a:prstGeom>
          <a:noFill/>
        </p:spPr>
        <p:txBody>
          <a:bodyPr wrap="square" anchor="t" lIns="36576" rIns="36576" tIns="18288" bIns="18288">
            <a:spAutoFit/>
          </a:bodyPr>
          <a:lstStyle/>
          <a:p>
            <a:pPr algn="l"/>
            <a:r>
              <a:rPr sz="2300" b="1">
                <a:solidFill>
                  <a:srgbClr val="2DD4BF"/>
                </a:solidFill>
                <a:latin typeface="Calibri"/>
              </a:rPr>
              <a:t>AI Comic Story Creator Using Gemini Models</a:t>
            </a:r>
          </a:p>
        </p:txBody>
      </p:sp>
      <p:sp>
        <p:nvSpPr>
          <p:cNvPr id="10" name="TextBox 9"/>
          <p:cNvSpPr txBox="1"/>
          <p:nvPr/>
        </p:nvSpPr>
        <p:spPr>
          <a:xfrm>
            <a:off x="822960" y="3364992"/>
            <a:ext cx="6583680" cy="804672"/>
          </a:xfrm>
          <a:prstGeom prst="rect">
            <a:avLst/>
          </a:prstGeom>
          <a:noFill/>
        </p:spPr>
        <p:txBody>
          <a:bodyPr wrap="square" anchor="t" lIns="36576" rIns="36576" tIns="18288" bIns="18288">
            <a:spAutoFit/>
          </a:bodyPr>
          <a:lstStyle/>
          <a:p>
            <a:pPr algn="l"/>
            <a:r>
              <a:rPr sz="1500" b="0">
                <a:solidFill>
                  <a:srgbClr val="E2E8F0"/>
                </a:solidFill>
                <a:latin typeface="Calibri"/>
              </a:rPr>
              <a:t>Turns a single story idea into a structured, illustrated comic book with live web preview and downloadable A4 PDF export.</a:t>
            </a:r>
          </a:p>
        </p:txBody>
      </p:sp>
      <p:sp>
        <p:nvSpPr>
          <p:cNvPr id="11" name="Rounded Rectangle 10"/>
          <p:cNvSpPr/>
          <p:nvPr/>
        </p:nvSpPr>
        <p:spPr>
          <a:xfrm>
            <a:off x="822960" y="4462272"/>
            <a:ext cx="1481328" cy="347472"/>
          </a:xfrm>
          <a:prstGeom prst="roundRect">
            <a:avLst>
              <a:gd name="adj" fmla="val 4000"/>
            </a:avLst>
          </a:prstGeom>
          <a:solidFill>
            <a:srgbClr val="1E293B"/>
          </a:solidFill>
          <a:ln w="1143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462272"/>
            <a:ext cx="1481328" cy="347472"/>
          </a:xfrm>
          <a:prstGeom prst="rect">
            <a:avLst/>
          </a:prstGeom>
          <a:noFill/>
        </p:spPr>
        <p:txBody>
          <a:bodyPr wrap="square" anchor="ctr" lIns="36576" rIns="36576" tIns="18288" bIns="18288">
            <a:spAutoFit/>
          </a:bodyPr>
          <a:lstStyle/>
          <a:p>
            <a:pPr algn="ctr"/>
            <a:r>
              <a:rPr sz="1100" b="1">
                <a:solidFill>
                  <a:srgbClr val="2DD4BF"/>
                </a:solidFill>
                <a:latin typeface="Calibri"/>
              </a:rPr>
              <a:t>Python 3.11+</a:t>
            </a:r>
          </a:p>
        </p:txBody>
      </p:sp>
      <p:sp>
        <p:nvSpPr>
          <p:cNvPr id="13" name="Rounded Rectangle 12"/>
          <p:cNvSpPr/>
          <p:nvPr/>
        </p:nvSpPr>
        <p:spPr>
          <a:xfrm>
            <a:off x="2450592" y="4462272"/>
            <a:ext cx="1024128" cy="347472"/>
          </a:xfrm>
          <a:prstGeom prst="roundRect">
            <a:avLst>
              <a:gd name="adj" fmla="val 4000"/>
            </a:avLst>
          </a:prstGeom>
          <a:solidFill>
            <a:srgbClr val="1E293B"/>
          </a:solidFill>
          <a:ln w="1143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50592" y="4462272"/>
            <a:ext cx="1024128" cy="347472"/>
          </a:xfrm>
          <a:prstGeom prst="rect">
            <a:avLst/>
          </a:prstGeom>
          <a:noFill/>
        </p:spPr>
        <p:txBody>
          <a:bodyPr wrap="square" anchor="ctr" lIns="36576" rIns="36576" tIns="18288" bIns="18288">
            <a:spAutoFit/>
          </a:bodyPr>
          <a:lstStyle/>
          <a:p>
            <a:pPr algn="ctr"/>
            <a:r>
              <a:rPr sz="1100" b="1">
                <a:solidFill>
                  <a:srgbClr val="2DD4BF"/>
                </a:solidFill>
                <a:latin typeface="Calibri"/>
              </a:rPr>
              <a:t>FastAPI</a:t>
            </a:r>
          </a:p>
        </p:txBody>
      </p:sp>
      <p:sp>
        <p:nvSpPr>
          <p:cNvPr id="15" name="Rounded Rectangle 14"/>
          <p:cNvSpPr/>
          <p:nvPr/>
        </p:nvSpPr>
        <p:spPr>
          <a:xfrm>
            <a:off x="3621024" y="4462272"/>
            <a:ext cx="1847088" cy="347472"/>
          </a:xfrm>
          <a:prstGeom prst="roundRect">
            <a:avLst>
              <a:gd name="adj" fmla="val 4000"/>
            </a:avLst>
          </a:prstGeom>
          <a:solidFill>
            <a:srgbClr val="1E293B"/>
          </a:solidFill>
          <a:ln w="1143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4462272"/>
            <a:ext cx="1847088" cy="347472"/>
          </a:xfrm>
          <a:prstGeom prst="rect">
            <a:avLst/>
          </a:prstGeom>
          <a:noFill/>
        </p:spPr>
        <p:txBody>
          <a:bodyPr wrap="square" anchor="ctr" lIns="36576" rIns="36576" tIns="18288" bIns="18288">
            <a:spAutoFit/>
          </a:bodyPr>
          <a:lstStyle/>
          <a:p>
            <a:pPr algn="ctr"/>
            <a:r>
              <a:rPr sz="1100" b="1">
                <a:solidFill>
                  <a:srgbClr val="2DD4BF"/>
                </a:solidFill>
                <a:latin typeface="Calibri"/>
              </a:rPr>
              <a:t>Google Gemini AI</a:t>
            </a:r>
          </a:p>
        </p:txBody>
      </p:sp>
      <p:sp>
        <p:nvSpPr>
          <p:cNvPr id="17" name="Rounded Rectangle 16"/>
          <p:cNvSpPr/>
          <p:nvPr/>
        </p:nvSpPr>
        <p:spPr>
          <a:xfrm>
            <a:off x="822960" y="4919472"/>
            <a:ext cx="1389888" cy="347472"/>
          </a:xfrm>
          <a:prstGeom prst="roundRect">
            <a:avLst>
              <a:gd name="adj" fmla="val 4000"/>
            </a:avLst>
          </a:prstGeom>
          <a:solidFill>
            <a:srgbClr val="1E293B"/>
          </a:solidFill>
          <a:ln w="1143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19472"/>
            <a:ext cx="1389888" cy="347472"/>
          </a:xfrm>
          <a:prstGeom prst="rect">
            <a:avLst/>
          </a:prstGeom>
          <a:noFill/>
        </p:spPr>
        <p:txBody>
          <a:bodyPr wrap="square" anchor="ctr" lIns="36576" rIns="36576" tIns="18288" bIns="18288">
            <a:spAutoFit/>
          </a:bodyPr>
          <a:lstStyle/>
          <a:p>
            <a:pPr algn="ctr"/>
            <a:r>
              <a:rPr sz="1100" b="1">
                <a:solidFill>
                  <a:srgbClr val="2DD4BF"/>
                </a:solidFill>
                <a:latin typeface="Calibri"/>
              </a:rPr>
              <a:t>Pydantic v2</a:t>
            </a:r>
          </a:p>
        </p:txBody>
      </p:sp>
      <p:sp>
        <p:nvSpPr>
          <p:cNvPr id="19" name="Rounded Rectangle 18"/>
          <p:cNvSpPr/>
          <p:nvPr/>
        </p:nvSpPr>
        <p:spPr>
          <a:xfrm>
            <a:off x="2359152" y="4919472"/>
            <a:ext cx="1847088" cy="347472"/>
          </a:xfrm>
          <a:prstGeom prst="roundRect">
            <a:avLst>
              <a:gd name="adj" fmla="val 4000"/>
            </a:avLst>
          </a:prstGeom>
          <a:solidFill>
            <a:srgbClr val="1E293B"/>
          </a:solidFill>
          <a:ln w="1143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359152" y="4919472"/>
            <a:ext cx="1847088" cy="347472"/>
          </a:xfrm>
          <a:prstGeom prst="rect">
            <a:avLst/>
          </a:prstGeom>
          <a:noFill/>
        </p:spPr>
        <p:txBody>
          <a:bodyPr wrap="square" anchor="ctr" lIns="36576" rIns="36576" tIns="18288" bIns="18288">
            <a:spAutoFit/>
          </a:bodyPr>
          <a:lstStyle/>
          <a:p>
            <a:pPr algn="ctr"/>
            <a:r>
              <a:rPr sz="1100" b="1">
                <a:solidFill>
                  <a:srgbClr val="2DD4BF"/>
                </a:solidFill>
                <a:latin typeface="Calibri"/>
              </a:rPr>
              <a:t>SDXL / Diffusers</a:t>
            </a:r>
          </a:p>
        </p:txBody>
      </p:sp>
      <p:sp>
        <p:nvSpPr>
          <p:cNvPr id="21" name="Rounded Rectangle 20"/>
          <p:cNvSpPr/>
          <p:nvPr/>
        </p:nvSpPr>
        <p:spPr>
          <a:xfrm>
            <a:off x="4352544" y="4919472"/>
            <a:ext cx="1847088" cy="347472"/>
          </a:xfrm>
          <a:prstGeom prst="roundRect">
            <a:avLst>
              <a:gd name="adj" fmla="val 4000"/>
            </a:avLst>
          </a:prstGeom>
          <a:solidFill>
            <a:srgbClr val="1E293B"/>
          </a:solidFill>
          <a:ln w="1143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52544" y="4919472"/>
            <a:ext cx="1847088" cy="347472"/>
          </a:xfrm>
          <a:prstGeom prst="rect">
            <a:avLst/>
          </a:prstGeom>
          <a:noFill/>
        </p:spPr>
        <p:txBody>
          <a:bodyPr wrap="square" anchor="ctr" lIns="36576" rIns="36576" tIns="18288" bIns="18288">
            <a:spAutoFit/>
          </a:bodyPr>
          <a:lstStyle/>
          <a:p>
            <a:pPr algn="ctr"/>
            <a:r>
              <a:rPr sz="1100" b="1">
                <a:solidFill>
                  <a:srgbClr val="2DD4BF"/>
                </a:solidFill>
                <a:latin typeface="Calibri"/>
              </a:rPr>
              <a:t>fpdf2 PDF Export</a:t>
            </a:r>
          </a:p>
        </p:txBody>
      </p:sp>
      <p:sp>
        <p:nvSpPr>
          <p:cNvPr id="23" name="Rounded Rectangle 22"/>
          <p:cNvSpPr/>
          <p:nvPr/>
        </p:nvSpPr>
        <p:spPr>
          <a:xfrm>
            <a:off x="8001000" y="1143000"/>
            <a:ext cx="3566160" cy="4526280"/>
          </a:xfrm>
          <a:prstGeom prst="roundRect">
            <a:avLst>
              <a:gd name="adj" fmla="val 4000"/>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75320" y="1371600"/>
            <a:ext cx="3017520" cy="320040"/>
          </a:xfrm>
          <a:prstGeom prst="rect">
            <a:avLst/>
          </a:prstGeom>
          <a:noFill/>
        </p:spPr>
        <p:txBody>
          <a:bodyPr wrap="square" anchor="t" lIns="36576" rIns="36576" tIns="18288" bIns="18288">
            <a:spAutoFit/>
          </a:bodyPr>
          <a:lstStyle/>
          <a:p>
            <a:pPr algn="l"/>
            <a:r>
              <a:rPr sz="1150" b="1">
                <a:solidFill>
                  <a:srgbClr val="F59E0B"/>
                </a:solidFill>
                <a:latin typeface="Calibri"/>
              </a:rPr>
              <a:t>HOW COMICCRAFT WORKS</a:t>
            </a:r>
          </a:p>
        </p:txBody>
      </p:sp>
      <p:sp>
        <p:nvSpPr>
          <p:cNvPr id="25" name="Rounded Rectangle 24"/>
          <p:cNvSpPr/>
          <p:nvPr/>
        </p:nvSpPr>
        <p:spPr>
          <a:xfrm>
            <a:off x="8275320" y="1865376"/>
            <a:ext cx="3017520" cy="804672"/>
          </a:xfrm>
          <a:prstGeom prst="roundRect">
            <a:avLst>
              <a:gd name="adj" fmla="val 4000"/>
            </a:avLst>
          </a:prstGeom>
          <a:solidFill>
            <a:srgbClr val="0F172A"/>
          </a:solidFill>
          <a:ln w="1016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412480" y="2039112"/>
            <a:ext cx="457200" cy="457200"/>
          </a:xfrm>
          <a:prstGeom prst="roundRect">
            <a:avLst>
              <a:gd name="adj" fmla="val 4000"/>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0" y="2039112"/>
            <a:ext cx="457200" cy="457200"/>
          </a:xfrm>
          <a:prstGeom prst="rect">
            <a:avLst/>
          </a:prstGeom>
          <a:noFill/>
        </p:spPr>
        <p:txBody>
          <a:bodyPr wrap="square" anchor="ctr" lIns="36576" rIns="36576" tIns="18288" bIns="18288">
            <a:spAutoFit/>
          </a:bodyPr>
          <a:lstStyle/>
          <a:p>
            <a:pPr algn="ctr"/>
            <a:r>
              <a:rPr sz="1200" b="1">
                <a:solidFill>
                  <a:srgbClr val="FFFFFF"/>
                </a:solidFill>
                <a:latin typeface="Calibri"/>
              </a:rPr>
              <a:t>01</a:t>
            </a:r>
          </a:p>
        </p:txBody>
      </p:sp>
      <p:sp>
        <p:nvSpPr>
          <p:cNvPr id="28" name="TextBox 27"/>
          <p:cNvSpPr txBox="1"/>
          <p:nvPr/>
        </p:nvSpPr>
        <p:spPr>
          <a:xfrm>
            <a:off x="9006840" y="2002536"/>
            <a:ext cx="2148840" cy="274320"/>
          </a:xfrm>
          <a:prstGeom prst="rect">
            <a:avLst/>
          </a:prstGeom>
          <a:noFill/>
        </p:spPr>
        <p:txBody>
          <a:bodyPr wrap="square" anchor="t" lIns="36576" rIns="36576" tIns="18288" bIns="18288">
            <a:spAutoFit/>
          </a:bodyPr>
          <a:lstStyle/>
          <a:p>
            <a:pPr algn="l"/>
            <a:r>
              <a:rPr sz="1300" b="1">
                <a:solidFill>
                  <a:srgbClr val="FFFFFF"/>
                </a:solidFill>
                <a:latin typeface="Calibri"/>
              </a:rPr>
              <a:t>Plan Story</a:t>
            </a:r>
          </a:p>
        </p:txBody>
      </p:sp>
      <p:sp>
        <p:nvSpPr>
          <p:cNvPr id="29" name="TextBox 28"/>
          <p:cNvSpPr txBox="1"/>
          <p:nvPr/>
        </p:nvSpPr>
        <p:spPr>
          <a:xfrm>
            <a:off x="9006840" y="2286000"/>
            <a:ext cx="2148840" cy="256032"/>
          </a:xfrm>
          <a:prstGeom prst="rect">
            <a:avLst/>
          </a:prstGeom>
          <a:noFill/>
        </p:spPr>
        <p:txBody>
          <a:bodyPr wrap="square" anchor="t" lIns="36576" rIns="36576" tIns="18288" bIns="18288">
            <a:spAutoFit/>
          </a:bodyPr>
          <a:lstStyle/>
          <a:p>
            <a:pPr algn="l"/>
            <a:r>
              <a:rPr sz="1050" b="0">
                <a:solidFill>
                  <a:srgbClr val="64748B"/>
                </a:solidFill>
                <a:latin typeface="Calibri"/>
              </a:rPr>
              <a:t>Outline &amp; Character Bible</a:t>
            </a:r>
          </a:p>
        </p:txBody>
      </p:sp>
      <p:sp>
        <p:nvSpPr>
          <p:cNvPr id="30" name="Rounded Rectangle 29"/>
          <p:cNvSpPr/>
          <p:nvPr/>
        </p:nvSpPr>
        <p:spPr>
          <a:xfrm>
            <a:off x="8275320" y="2779776"/>
            <a:ext cx="3017520" cy="804672"/>
          </a:xfrm>
          <a:prstGeom prst="roundRect">
            <a:avLst>
              <a:gd name="adj" fmla="val 4000"/>
            </a:avLst>
          </a:prstGeom>
          <a:solidFill>
            <a:srgbClr val="0F172A"/>
          </a:solidFill>
          <a:ln w="1016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412480" y="2953512"/>
            <a:ext cx="457200" cy="457200"/>
          </a:xfrm>
          <a:prstGeom prst="roundRect">
            <a:avLst>
              <a:gd name="adj" fmla="val 4000"/>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2480" y="2953512"/>
            <a:ext cx="457200" cy="457200"/>
          </a:xfrm>
          <a:prstGeom prst="rect">
            <a:avLst/>
          </a:prstGeom>
          <a:noFill/>
        </p:spPr>
        <p:txBody>
          <a:bodyPr wrap="square" anchor="ctr" lIns="36576" rIns="36576" tIns="18288" bIns="18288">
            <a:spAutoFit/>
          </a:bodyPr>
          <a:lstStyle/>
          <a:p>
            <a:pPr algn="ctr"/>
            <a:r>
              <a:rPr sz="1200" b="1">
                <a:solidFill>
                  <a:srgbClr val="FFFFFF"/>
                </a:solidFill>
                <a:latin typeface="Calibri"/>
              </a:rPr>
              <a:t>02</a:t>
            </a:r>
          </a:p>
        </p:txBody>
      </p:sp>
      <p:sp>
        <p:nvSpPr>
          <p:cNvPr id="33" name="TextBox 32"/>
          <p:cNvSpPr txBox="1"/>
          <p:nvPr/>
        </p:nvSpPr>
        <p:spPr>
          <a:xfrm>
            <a:off x="9006840" y="2916936"/>
            <a:ext cx="2148840" cy="274320"/>
          </a:xfrm>
          <a:prstGeom prst="rect">
            <a:avLst/>
          </a:prstGeom>
          <a:noFill/>
        </p:spPr>
        <p:txBody>
          <a:bodyPr wrap="square" anchor="t" lIns="36576" rIns="36576" tIns="18288" bIns="18288">
            <a:spAutoFit/>
          </a:bodyPr>
          <a:lstStyle/>
          <a:p>
            <a:pPr algn="l"/>
            <a:r>
              <a:rPr sz="1300" b="1">
                <a:solidFill>
                  <a:srgbClr val="FFFFFF"/>
                </a:solidFill>
                <a:latin typeface="Calibri"/>
              </a:rPr>
              <a:t>Write Script</a:t>
            </a:r>
          </a:p>
        </p:txBody>
      </p:sp>
      <p:sp>
        <p:nvSpPr>
          <p:cNvPr id="34" name="TextBox 33"/>
          <p:cNvSpPr txBox="1"/>
          <p:nvPr/>
        </p:nvSpPr>
        <p:spPr>
          <a:xfrm>
            <a:off x="9006840" y="3200400"/>
            <a:ext cx="2148840" cy="256032"/>
          </a:xfrm>
          <a:prstGeom prst="rect">
            <a:avLst/>
          </a:prstGeom>
          <a:noFill/>
        </p:spPr>
        <p:txBody>
          <a:bodyPr wrap="square" anchor="t" lIns="36576" rIns="36576" tIns="18288" bIns="18288">
            <a:spAutoFit/>
          </a:bodyPr>
          <a:lstStyle/>
          <a:p>
            <a:pPr algn="l"/>
            <a:r>
              <a:rPr sz="1050" b="0">
                <a:solidFill>
                  <a:srgbClr val="64748B"/>
                </a:solidFill>
                <a:latin typeface="Calibri"/>
              </a:rPr>
              <a:t>Captions &amp; Dialogues</a:t>
            </a:r>
          </a:p>
        </p:txBody>
      </p:sp>
      <p:sp>
        <p:nvSpPr>
          <p:cNvPr id="35" name="Rounded Rectangle 34"/>
          <p:cNvSpPr/>
          <p:nvPr/>
        </p:nvSpPr>
        <p:spPr>
          <a:xfrm>
            <a:off x="8275320" y="3694176"/>
            <a:ext cx="3017520" cy="804672"/>
          </a:xfrm>
          <a:prstGeom prst="roundRect">
            <a:avLst>
              <a:gd name="adj" fmla="val 4000"/>
            </a:avLst>
          </a:prstGeom>
          <a:solidFill>
            <a:srgbClr val="0F172A"/>
          </a:solidFill>
          <a:ln w="1016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8412480" y="3867912"/>
            <a:ext cx="457200" cy="457200"/>
          </a:xfrm>
          <a:prstGeom prst="roundRect">
            <a:avLst>
              <a:gd name="adj" fmla="val 4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80" y="3867912"/>
            <a:ext cx="457200" cy="457200"/>
          </a:xfrm>
          <a:prstGeom prst="rect">
            <a:avLst/>
          </a:prstGeom>
          <a:noFill/>
        </p:spPr>
        <p:txBody>
          <a:bodyPr wrap="square" anchor="ctr" lIns="36576" rIns="36576" tIns="18288" bIns="18288">
            <a:spAutoFit/>
          </a:bodyPr>
          <a:lstStyle/>
          <a:p>
            <a:pPr algn="ctr"/>
            <a:r>
              <a:rPr sz="1200" b="1">
                <a:solidFill>
                  <a:srgbClr val="0F172A"/>
                </a:solidFill>
                <a:latin typeface="Calibri"/>
              </a:rPr>
              <a:t>03</a:t>
            </a:r>
          </a:p>
        </p:txBody>
      </p:sp>
      <p:sp>
        <p:nvSpPr>
          <p:cNvPr id="38" name="TextBox 37"/>
          <p:cNvSpPr txBox="1"/>
          <p:nvPr/>
        </p:nvSpPr>
        <p:spPr>
          <a:xfrm>
            <a:off x="9006840" y="3831336"/>
            <a:ext cx="2148840" cy="274320"/>
          </a:xfrm>
          <a:prstGeom prst="rect">
            <a:avLst/>
          </a:prstGeom>
          <a:noFill/>
        </p:spPr>
        <p:txBody>
          <a:bodyPr wrap="square" anchor="t" lIns="36576" rIns="36576" tIns="18288" bIns="18288">
            <a:spAutoFit/>
          </a:bodyPr>
          <a:lstStyle/>
          <a:p>
            <a:pPr algn="l"/>
            <a:r>
              <a:rPr sz="1300" b="1">
                <a:solidFill>
                  <a:srgbClr val="FFFFFF"/>
                </a:solidFill>
                <a:latin typeface="Calibri"/>
              </a:rPr>
              <a:t>Draw Panels</a:t>
            </a:r>
          </a:p>
        </p:txBody>
      </p:sp>
      <p:sp>
        <p:nvSpPr>
          <p:cNvPr id="39" name="TextBox 38"/>
          <p:cNvSpPr txBox="1"/>
          <p:nvPr/>
        </p:nvSpPr>
        <p:spPr>
          <a:xfrm>
            <a:off x="9006840" y="4114800"/>
            <a:ext cx="2148840" cy="256032"/>
          </a:xfrm>
          <a:prstGeom prst="rect">
            <a:avLst/>
          </a:prstGeom>
          <a:noFill/>
        </p:spPr>
        <p:txBody>
          <a:bodyPr wrap="square" anchor="t" lIns="36576" rIns="36576" tIns="18288" bIns="18288">
            <a:spAutoFit/>
          </a:bodyPr>
          <a:lstStyle/>
          <a:p>
            <a:pPr algn="l"/>
            <a:r>
              <a:rPr sz="1050" b="0">
                <a:solidFill>
                  <a:srgbClr val="64748B"/>
                </a:solidFill>
                <a:latin typeface="Calibri"/>
              </a:rPr>
              <a:t>AI or Placeholder Artwork</a:t>
            </a:r>
          </a:p>
        </p:txBody>
      </p:sp>
      <p:sp>
        <p:nvSpPr>
          <p:cNvPr id="40" name="Rounded Rectangle 39"/>
          <p:cNvSpPr/>
          <p:nvPr/>
        </p:nvSpPr>
        <p:spPr>
          <a:xfrm>
            <a:off x="8275320" y="4608576"/>
            <a:ext cx="3017520" cy="804672"/>
          </a:xfrm>
          <a:prstGeom prst="roundRect">
            <a:avLst>
              <a:gd name="adj" fmla="val 4000"/>
            </a:avLst>
          </a:prstGeom>
          <a:solidFill>
            <a:srgbClr val="0F172A"/>
          </a:solidFill>
          <a:ln w="1016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412480" y="4782312"/>
            <a:ext cx="457200" cy="457200"/>
          </a:xfrm>
          <a:prstGeom prst="roundRect">
            <a:avLst>
              <a:gd name="adj" fmla="val 4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412480" y="4782312"/>
            <a:ext cx="457200" cy="457200"/>
          </a:xfrm>
          <a:prstGeom prst="rect">
            <a:avLst/>
          </a:prstGeom>
          <a:noFill/>
        </p:spPr>
        <p:txBody>
          <a:bodyPr wrap="square" anchor="ctr" lIns="36576" rIns="36576" tIns="18288" bIns="18288">
            <a:spAutoFit/>
          </a:bodyPr>
          <a:lstStyle/>
          <a:p>
            <a:pPr algn="ctr"/>
            <a:r>
              <a:rPr sz="1200" b="1">
                <a:solidFill>
                  <a:srgbClr val="0F172A"/>
                </a:solidFill>
                <a:latin typeface="Calibri"/>
              </a:rPr>
              <a:t>04</a:t>
            </a:r>
          </a:p>
        </p:txBody>
      </p:sp>
      <p:sp>
        <p:nvSpPr>
          <p:cNvPr id="43" name="TextBox 42"/>
          <p:cNvSpPr txBox="1"/>
          <p:nvPr/>
        </p:nvSpPr>
        <p:spPr>
          <a:xfrm>
            <a:off x="9006840" y="4745736"/>
            <a:ext cx="2148840" cy="274320"/>
          </a:xfrm>
          <a:prstGeom prst="rect">
            <a:avLst/>
          </a:prstGeom>
          <a:noFill/>
        </p:spPr>
        <p:txBody>
          <a:bodyPr wrap="square" anchor="t" lIns="36576" rIns="36576" tIns="18288" bIns="18288">
            <a:spAutoFit/>
          </a:bodyPr>
          <a:lstStyle/>
          <a:p>
            <a:pPr algn="l"/>
            <a:r>
              <a:rPr sz="1300" b="1">
                <a:solidFill>
                  <a:srgbClr val="FFFFFF"/>
                </a:solidFill>
                <a:latin typeface="Calibri"/>
              </a:rPr>
              <a:t>Export PDF</a:t>
            </a:r>
          </a:p>
        </p:txBody>
      </p:sp>
      <p:sp>
        <p:nvSpPr>
          <p:cNvPr id="44" name="TextBox 43"/>
          <p:cNvSpPr txBox="1"/>
          <p:nvPr/>
        </p:nvSpPr>
        <p:spPr>
          <a:xfrm>
            <a:off x="9006840" y="5029200"/>
            <a:ext cx="2148840" cy="256032"/>
          </a:xfrm>
          <a:prstGeom prst="rect">
            <a:avLst/>
          </a:prstGeom>
          <a:noFill/>
        </p:spPr>
        <p:txBody>
          <a:bodyPr wrap="square" anchor="t" lIns="36576" rIns="36576" tIns="18288" bIns="18288">
            <a:spAutoFit/>
          </a:bodyPr>
          <a:lstStyle/>
          <a:p>
            <a:pPr algn="l"/>
            <a:r>
              <a:rPr sz="1050" b="0">
                <a:solidFill>
                  <a:srgbClr val="64748B"/>
                </a:solidFill>
                <a:latin typeface="Calibri"/>
              </a:rPr>
              <a:t>Web Preview &amp; A4 Book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0" cy="7315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744200" y="274320"/>
            <a:ext cx="896112" cy="329184"/>
          </a:xfrm>
          <a:prstGeom prst="roundRect">
            <a:avLst>
              <a:gd name="adj" fmla="val 4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274320"/>
            <a:ext cx="896112" cy="329184"/>
          </a:xfrm>
          <a:prstGeom prst="rect">
            <a:avLst/>
          </a:prstGeom>
          <a:noFill/>
        </p:spPr>
        <p:txBody>
          <a:bodyPr wrap="square" anchor="ctr" lIns="36576" rIns="36576" tIns="18288" bIns="18288">
            <a:spAutoFit/>
          </a:bodyPr>
          <a:lstStyle/>
          <a:p>
            <a:pPr algn="ctr"/>
            <a:r>
              <a:rPr sz="1100" b="1">
                <a:solidFill>
                  <a:srgbClr val="F59E0B"/>
                </a:solidFill>
                <a:latin typeface="Calibri"/>
              </a:rPr>
              <a:t>02 / 10</a:t>
            </a:r>
          </a:p>
        </p:txBody>
      </p:sp>
      <p:sp>
        <p:nvSpPr>
          <p:cNvPr id="6" name="TextBox 5"/>
          <p:cNvSpPr txBox="1"/>
          <p:nvPr/>
        </p:nvSpPr>
        <p:spPr>
          <a:xfrm>
            <a:off x="548640" y="219456"/>
            <a:ext cx="9966960" cy="438912"/>
          </a:xfrm>
          <a:prstGeom prst="rect">
            <a:avLst/>
          </a:prstGeom>
          <a:noFill/>
        </p:spPr>
        <p:txBody>
          <a:bodyPr wrap="square" anchor="t" lIns="36576" rIns="36576" tIns="18288" bIns="18288">
            <a:spAutoFit/>
          </a:bodyPr>
          <a:lstStyle/>
          <a:p>
            <a:pPr algn="l"/>
            <a:r>
              <a:rPr sz="2500" b="1">
                <a:solidFill>
                  <a:srgbClr val="0F172A"/>
                </a:solidFill>
                <a:latin typeface="Calibri"/>
              </a:rPr>
              <a:t>Introduction &amp; Abstract</a:t>
            </a:r>
          </a:p>
        </p:txBody>
      </p:sp>
      <p:sp>
        <p:nvSpPr>
          <p:cNvPr id="7" name="TextBox 6"/>
          <p:cNvSpPr txBox="1"/>
          <p:nvPr/>
        </p:nvSpPr>
        <p:spPr>
          <a:xfrm>
            <a:off x="548640" y="658368"/>
            <a:ext cx="10058400" cy="292608"/>
          </a:xfrm>
          <a:prstGeom prst="rect">
            <a:avLst/>
          </a:prstGeom>
          <a:noFill/>
        </p:spPr>
        <p:txBody>
          <a:bodyPr wrap="square" anchor="t" lIns="36576" rIns="36576" tIns="18288" bIns="18288">
            <a:spAutoFit/>
          </a:bodyPr>
          <a:lstStyle/>
          <a:p>
            <a:pPr algn="l"/>
            <a:r>
              <a:rPr sz="1300" b="0">
                <a:solidFill>
                  <a:srgbClr val="64748B"/>
                </a:solidFill>
                <a:latin typeface="Calibri"/>
              </a:rPr>
              <a:t>What ComicCraft is and how it creates a complete comic from one short idea</a:t>
            </a:r>
          </a:p>
        </p:txBody>
      </p:sp>
      <p:sp>
        <p:nvSpPr>
          <p:cNvPr id="8" name="Rectangle 7"/>
          <p:cNvSpPr/>
          <p:nvPr/>
        </p:nvSpPr>
        <p:spPr>
          <a:xfrm>
            <a:off x="548640" y="987552"/>
            <a:ext cx="11094415" cy="16459"/>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510528"/>
            <a:ext cx="7315200" cy="228600"/>
          </a:xfrm>
          <a:prstGeom prst="rect">
            <a:avLst/>
          </a:prstGeom>
          <a:noFill/>
        </p:spPr>
        <p:txBody>
          <a:bodyPr wrap="square" anchor="t" lIns="36576" rIns="36576" tIns="18288" bIns="18288">
            <a:spAutoFit/>
          </a:bodyPr>
          <a:lstStyle/>
          <a:p>
            <a:pPr algn="l"/>
            <a:r>
              <a:rPr sz="950" b="0">
                <a:solidFill>
                  <a:srgbClr val="64748B"/>
                </a:solidFill>
                <a:latin typeface="Calibri"/>
              </a:rPr>
              <a:t>ComicCraft — AI Comic Story Creator</a:t>
            </a:r>
          </a:p>
        </p:txBody>
      </p:sp>
      <p:sp>
        <p:nvSpPr>
          <p:cNvPr id="10" name="Rounded Rectangle 9"/>
          <p:cNvSpPr/>
          <p:nvPr/>
        </p:nvSpPr>
        <p:spPr>
          <a:xfrm>
            <a:off x="548640" y="1207008"/>
            <a:ext cx="5760720" cy="5029200"/>
          </a:xfrm>
          <a:prstGeom prst="roundRect">
            <a:avLst>
              <a:gd name="adj" fmla="val 4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207008"/>
            <a:ext cx="5760720" cy="914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1444752"/>
            <a:ext cx="5212080" cy="347472"/>
          </a:xfrm>
          <a:prstGeom prst="rect">
            <a:avLst/>
          </a:prstGeom>
          <a:noFill/>
        </p:spPr>
        <p:txBody>
          <a:bodyPr wrap="square" anchor="t" lIns="36576" rIns="36576" tIns="18288" bIns="18288">
            <a:spAutoFit/>
          </a:bodyPr>
          <a:lstStyle/>
          <a:p>
            <a:pPr algn="l"/>
            <a:r>
              <a:rPr sz="1400" b="1">
                <a:solidFill>
                  <a:srgbClr val="0D9488"/>
                </a:solidFill>
                <a:latin typeface="Calibri"/>
              </a:rPr>
              <a:t>PROJECT ABSTRACT</a:t>
            </a:r>
          </a:p>
        </p:txBody>
      </p:sp>
      <p:sp>
        <p:nvSpPr>
          <p:cNvPr id="13" name="TextBox 12"/>
          <p:cNvSpPr txBox="1"/>
          <p:nvPr/>
        </p:nvSpPr>
        <p:spPr>
          <a:xfrm>
            <a:off x="804672" y="1883664"/>
            <a:ext cx="5257800" cy="4160520"/>
          </a:xfrm>
          <a:prstGeom prst="rect">
            <a:avLst/>
          </a:prstGeom>
          <a:noFill/>
        </p:spPr>
        <p:txBody>
          <a:bodyPr wrap="square" lIns="45720" rIns="45720" tIns="27432" bIns="27432">
            <a:spAutoFit/>
          </a:bodyPr>
          <a:lstStyle/>
          <a:p>
            <a:pPr>
              <a:lnSpc>
                <a:spcPct val="122000"/>
              </a:lnSpc>
              <a:spcAft>
                <a:spcPts val="1100"/>
              </a:spcAft>
            </a:pPr>
            <a:r>
              <a:rPr sz="1300" b="1">
                <a:solidFill>
                  <a:srgbClr val="0D9488"/>
                </a:solidFill>
                <a:latin typeface="Calibri"/>
              </a:rPr>
              <a:t>▪  </a:t>
            </a:r>
            <a:r>
              <a:rPr sz="1300" b="1">
                <a:solidFill>
                  <a:srgbClr val="0F172A"/>
                </a:solidFill>
                <a:latin typeface="Calibri"/>
              </a:rPr>
              <a:t>Simple User Input: </a:t>
            </a:r>
            <a:r>
              <a:rPr sz="1300">
                <a:solidFill>
                  <a:srgbClr val="334155"/>
                </a:solidFill>
                <a:latin typeface="Calibri"/>
              </a:rPr>
              <a:t>User gives a short story idea, character name, setting, tone, art style, and panel count (3 to 8 panels).</a:t>
            </a:r>
          </a:p>
          <a:p>
            <a:pPr>
              <a:lnSpc>
                <a:spcPct val="122000"/>
              </a:lnSpc>
              <a:spcAft>
                <a:spcPts val="1100"/>
              </a:spcAft>
            </a:pPr>
            <a:r>
              <a:rPr sz="1300" b="1">
                <a:solidFill>
                  <a:srgbClr val="0D9488"/>
                </a:solidFill>
                <a:latin typeface="Calibri"/>
              </a:rPr>
              <a:t>▪  </a:t>
            </a:r>
            <a:r>
              <a:rPr sz="1300" b="1">
                <a:solidFill>
                  <a:srgbClr val="0F172A"/>
                </a:solidFill>
                <a:latin typeface="Calibri"/>
              </a:rPr>
              <a:t>Two-Stage Gemini AI: </a:t>
            </a:r>
            <a:r>
              <a:rPr sz="1300">
                <a:solidFill>
                  <a:srgbClr val="334155"/>
                </a:solidFill>
                <a:latin typeface="Calibri"/>
              </a:rPr>
              <a:t>First plans the story outline and Character Bible, then writes panel captions, narration, and dialogues.</a:t>
            </a:r>
          </a:p>
          <a:p>
            <a:pPr>
              <a:lnSpc>
                <a:spcPct val="122000"/>
              </a:lnSpc>
              <a:spcAft>
                <a:spcPts val="1100"/>
              </a:spcAft>
            </a:pPr>
            <a:r>
              <a:rPr sz="1300" b="1">
                <a:solidFill>
                  <a:srgbClr val="0D9488"/>
                </a:solidFill>
                <a:latin typeface="Calibri"/>
              </a:rPr>
              <a:t>▪  </a:t>
            </a:r>
            <a:r>
              <a:rPr sz="1300" b="1">
                <a:solidFill>
                  <a:srgbClr val="0F172A"/>
                </a:solidFill>
                <a:latin typeface="Calibri"/>
              </a:rPr>
              <a:t>Validated JSON Data: </a:t>
            </a:r>
            <a:r>
              <a:rPr sz="1300">
                <a:solidFill>
                  <a:srgbClr val="334155"/>
                </a:solidFill>
                <a:latin typeface="Calibri"/>
              </a:rPr>
              <a:t>Uses Pydantic v2 to check all AI outputs so panel count and order are always accurate.</a:t>
            </a:r>
          </a:p>
          <a:p>
            <a:pPr>
              <a:lnSpc>
                <a:spcPct val="122000"/>
              </a:lnSpc>
              <a:spcAft>
                <a:spcPts val="1100"/>
              </a:spcAft>
            </a:pPr>
            <a:r>
              <a:rPr sz="1300" b="1">
                <a:solidFill>
                  <a:srgbClr val="0D9488"/>
                </a:solidFill>
                <a:latin typeface="Calibri"/>
              </a:rPr>
              <a:t>▪  </a:t>
            </a:r>
            <a:r>
              <a:rPr sz="1300" b="1">
                <a:solidFill>
                  <a:srgbClr val="0F172A"/>
                </a:solidFill>
                <a:latin typeface="Calibri"/>
              </a:rPr>
              <a:t>Panel Artwork &amp; PDF: </a:t>
            </a:r>
            <a:r>
              <a:rPr sz="1300">
                <a:solidFill>
                  <a:srgbClr val="334155"/>
                </a:solidFill>
                <a:latin typeface="Calibri"/>
              </a:rPr>
              <a:t>Generates one PNG image per panel and exports a clean A4 Comic Book PDF using fpdf2.</a:t>
            </a:r>
          </a:p>
          <a:p>
            <a:pPr>
              <a:lnSpc>
                <a:spcPct val="122000"/>
              </a:lnSpc>
              <a:spcAft>
                <a:spcPts val="1100"/>
              </a:spcAft>
            </a:pPr>
            <a:r>
              <a:rPr sz="1300" b="1">
                <a:solidFill>
                  <a:srgbClr val="0D9488"/>
                </a:solidFill>
                <a:latin typeface="Calibri"/>
              </a:rPr>
              <a:t>▪  </a:t>
            </a:r>
            <a:r>
              <a:rPr sz="1300" b="1">
                <a:solidFill>
                  <a:srgbClr val="0F172A"/>
                </a:solidFill>
                <a:latin typeface="Calibri"/>
              </a:rPr>
              <a:t>Offline Ready: </a:t>
            </a:r>
            <a:r>
              <a:rPr sz="1300">
                <a:solidFill>
                  <a:srgbClr val="334155"/>
                </a:solidFill>
                <a:latin typeface="Calibri"/>
              </a:rPr>
              <a:t>Includes a built-in Demo Mode and Placeholder Art so the full app works even without API keys.</a:t>
            </a:r>
          </a:p>
        </p:txBody>
      </p:sp>
      <p:sp>
        <p:nvSpPr>
          <p:cNvPr id="14" name="TextBox 13"/>
          <p:cNvSpPr txBox="1"/>
          <p:nvPr/>
        </p:nvSpPr>
        <p:spPr>
          <a:xfrm>
            <a:off x="6601968" y="1207008"/>
            <a:ext cx="4937760" cy="329184"/>
          </a:xfrm>
          <a:prstGeom prst="rect">
            <a:avLst/>
          </a:prstGeom>
          <a:noFill/>
        </p:spPr>
        <p:txBody>
          <a:bodyPr wrap="square" anchor="t" lIns="36576" rIns="36576" tIns="18288" bIns="18288">
            <a:spAutoFit/>
          </a:bodyPr>
          <a:lstStyle/>
          <a:p>
            <a:pPr algn="l"/>
            <a:r>
              <a:rPr sz="1300" b="1">
                <a:solidFill>
                  <a:srgbClr val="0F172A"/>
                </a:solidFill>
                <a:latin typeface="Calibri"/>
              </a:rPr>
              <a:t>FOUR-STEP PIPELINE</a:t>
            </a:r>
          </a:p>
        </p:txBody>
      </p:sp>
      <p:sp>
        <p:nvSpPr>
          <p:cNvPr id="15" name="Rounded Rectangle 14"/>
          <p:cNvSpPr/>
          <p:nvPr/>
        </p:nvSpPr>
        <p:spPr>
          <a:xfrm>
            <a:off x="6601968" y="1609344"/>
            <a:ext cx="5038344" cy="1060704"/>
          </a:xfrm>
          <a:prstGeom prst="roundRect">
            <a:avLst>
              <a:gd name="adj" fmla="val 4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601968" y="1609344"/>
            <a:ext cx="91440" cy="10607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0" y="1837943"/>
            <a:ext cx="603504" cy="603504"/>
          </a:xfrm>
          <a:prstGeom prst="roundRect">
            <a:avLst>
              <a:gd name="adj" fmla="val 4000"/>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0" y="1837943"/>
            <a:ext cx="603504" cy="603504"/>
          </a:xfrm>
          <a:prstGeom prst="rect">
            <a:avLst/>
          </a:prstGeom>
          <a:noFill/>
        </p:spPr>
        <p:txBody>
          <a:bodyPr wrap="square" anchor="ctr" lIns="36576" rIns="36576" tIns="18288" bIns="18288">
            <a:spAutoFit/>
          </a:bodyPr>
          <a:lstStyle/>
          <a:p>
            <a:pPr algn="ctr"/>
            <a:r>
              <a:rPr sz="1500" b="1">
                <a:solidFill>
                  <a:srgbClr val="2563EB"/>
                </a:solidFill>
                <a:latin typeface="Calibri"/>
              </a:rPr>
              <a:t>01</a:t>
            </a:r>
          </a:p>
        </p:txBody>
      </p:sp>
      <p:sp>
        <p:nvSpPr>
          <p:cNvPr id="19" name="TextBox 18"/>
          <p:cNvSpPr txBox="1"/>
          <p:nvPr/>
        </p:nvSpPr>
        <p:spPr>
          <a:xfrm>
            <a:off x="7626096" y="1773936"/>
            <a:ext cx="3840480" cy="292608"/>
          </a:xfrm>
          <a:prstGeom prst="rect">
            <a:avLst/>
          </a:prstGeom>
          <a:noFill/>
        </p:spPr>
        <p:txBody>
          <a:bodyPr wrap="square" anchor="t" lIns="36576" rIns="36576" tIns="18288" bIns="18288">
            <a:spAutoFit/>
          </a:bodyPr>
          <a:lstStyle/>
          <a:p>
            <a:pPr algn="l"/>
            <a:r>
              <a:rPr sz="1400" b="1">
                <a:solidFill>
                  <a:srgbClr val="0F172A"/>
                </a:solidFill>
                <a:latin typeface="Calibri"/>
              </a:rPr>
              <a:t>PLAN</a:t>
            </a:r>
          </a:p>
        </p:txBody>
      </p:sp>
      <p:sp>
        <p:nvSpPr>
          <p:cNvPr id="20" name="TextBox 19"/>
          <p:cNvSpPr txBox="1"/>
          <p:nvPr/>
        </p:nvSpPr>
        <p:spPr>
          <a:xfrm>
            <a:off x="7626096" y="2084832"/>
            <a:ext cx="3840480" cy="457200"/>
          </a:xfrm>
          <a:prstGeom prst="rect">
            <a:avLst/>
          </a:prstGeom>
          <a:noFill/>
        </p:spPr>
        <p:txBody>
          <a:bodyPr wrap="square" anchor="t" lIns="36576" rIns="36576" tIns="18288" bIns="18288">
            <a:spAutoFit/>
          </a:bodyPr>
          <a:lstStyle/>
          <a:p>
            <a:pPr algn="l"/>
            <a:r>
              <a:rPr sz="1200" b="0">
                <a:solidFill>
                  <a:srgbClr val="334155"/>
                </a:solidFill>
                <a:latin typeface="Calibri"/>
              </a:rPr>
              <a:t>Creates comic title, Character Bible, and panel scenes.</a:t>
            </a:r>
          </a:p>
        </p:txBody>
      </p:sp>
      <p:sp>
        <p:nvSpPr>
          <p:cNvPr id="21" name="Rounded Rectangle 20"/>
          <p:cNvSpPr/>
          <p:nvPr/>
        </p:nvSpPr>
        <p:spPr>
          <a:xfrm>
            <a:off x="6601968" y="2788920"/>
            <a:ext cx="5038344" cy="1060704"/>
          </a:xfrm>
          <a:prstGeom prst="roundRect">
            <a:avLst>
              <a:gd name="adj" fmla="val 4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601968" y="2788920"/>
            <a:ext cx="91440" cy="1060704"/>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858000" y="3017520"/>
            <a:ext cx="603504" cy="603504"/>
          </a:xfrm>
          <a:prstGeom prst="roundRect">
            <a:avLst>
              <a:gd name="adj" fmla="val 4000"/>
            </a:avLst>
          </a:prstGeom>
          <a:solidFill>
            <a:srgbClr val="F0FDFA"/>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3017520"/>
            <a:ext cx="603504" cy="603504"/>
          </a:xfrm>
          <a:prstGeom prst="rect">
            <a:avLst/>
          </a:prstGeom>
          <a:noFill/>
        </p:spPr>
        <p:txBody>
          <a:bodyPr wrap="square" anchor="ctr" lIns="36576" rIns="36576" tIns="18288" bIns="18288">
            <a:spAutoFit/>
          </a:bodyPr>
          <a:lstStyle/>
          <a:p>
            <a:pPr algn="ctr"/>
            <a:r>
              <a:rPr sz="1500" b="1">
                <a:solidFill>
                  <a:srgbClr val="0D9488"/>
                </a:solidFill>
                <a:latin typeface="Calibri"/>
              </a:rPr>
              <a:t>02</a:t>
            </a:r>
          </a:p>
        </p:txBody>
      </p:sp>
      <p:sp>
        <p:nvSpPr>
          <p:cNvPr id="25" name="TextBox 24"/>
          <p:cNvSpPr txBox="1"/>
          <p:nvPr/>
        </p:nvSpPr>
        <p:spPr>
          <a:xfrm>
            <a:off x="7626096" y="2953512"/>
            <a:ext cx="3840480" cy="292608"/>
          </a:xfrm>
          <a:prstGeom prst="rect">
            <a:avLst/>
          </a:prstGeom>
          <a:noFill/>
        </p:spPr>
        <p:txBody>
          <a:bodyPr wrap="square" anchor="t" lIns="36576" rIns="36576" tIns="18288" bIns="18288">
            <a:spAutoFit/>
          </a:bodyPr>
          <a:lstStyle/>
          <a:p>
            <a:pPr algn="l"/>
            <a:r>
              <a:rPr sz="1400" b="1">
                <a:solidFill>
                  <a:srgbClr val="0F172A"/>
                </a:solidFill>
                <a:latin typeface="Calibri"/>
              </a:rPr>
              <a:t>WRITE</a:t>
            </a:r>
          </a:p>
        </p:txBody>
      </p:sp>
      <p:sp>
        <p:nvSpPr>
          <p:cNvPr id="26" name="TextBox 25"/>
          <p:cNvSpPr txBox="1"/>
          <p:nvPr/>
        </p:nvSpPr>
        <p:spPr>
          <a:xfrm>
            <a:off x="7626096" y="3264408"/>
            <a:ext cx="3840480" cy="457200"/>
          </a:xfrm>
          <a:prstGeom prst="rect">
            <a:avLst/>
          </a:prstGeom>
          <a:noFill/>
        </p:spPr>
        <p:txBody>
          <a:bodyPr wrap="square" anchor="t" lIns="36576" rIns="36576" tIns="18288" bIns="18288">
            <a:spAutoFit/>
          </a:bodyPr>
          <a:lstStyle/>
          <a:p>
            <a:pPr algn="l"/>
            <a:r>
              <a:rPr sz="1200" b="0">
                <a:solidFill>
                  <a:srgbClr val="334155"/>
                </a:solidFill>
                <a:latin typeface="Calibri"/>
              </a:rPr>
              <a:t>Writes panel captions, narration, and character dialogues.</a:t>
            </a:r>
          </a:p>
        </p:txBody>
      </p:sp>
      <p:sp>
        <p:nvSpPr>
          <p:cNvPr id="27" name="Rounded Rectangle 26"/>
          <p:cNvSpPr/>
          <p:nvPr/>
        </p:nvSpPr>
        <p:spPr>
          <a:xfrm>
            <a:off x="6601968" y="3968496"/>
            <a:ext cx="5038344" cy="1060704"/>
          </a:xfrm>
          <a:prstGeom prst="roundRect">
            <a:avLst>
              <a:gd name="adj" fmla="val 4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601968" y="3968496"/>
            <a:ext cx="91440" cy="1060704"/>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858000" y="4197096"/>
            <a:ext cx="603504" cy="603504"/>
          </a:xfrm>
          <a:prstGeom prst="roundRect">
            <a:avLst>
              <a:gd name="adj" fmla="val 4000"/>
            </a:avLst>
          </a:prstGeom>
          <a:solidFill>
            <a:srgbClr val="FFFBEB"/>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0" y="4197096"/>
            <a:ext cx="603504" cy="603504"/>
          </a:xfrm>
          <a:prstGeom prst="rect">
            <a:avLst/>
          </a:prstGeom>
          <a:noFill/>
        </p:spPr>
        <p:txBody>
          <a:bodyPr wrap="square" anchor="ctr" lIns="36576" rIns="36576" tIns="18288" bIns="18288">
            <a:spAutoFit/>
          </a:bodyPr>
          <a:lstStyle/>
          <a:p>
            <a:pPr algn="ctr"/>
            <a:r>
              <a:rPr sz="1500" b="1">
                <a:solidFill>
                  <a:srgbClr val="B45309"/>
                </a:solidFill>
                <a:latin typeface="Calibri"/>
              </a:rPr>
              <a:t>03</a:t>
            </a:r>
          </a:p>
        </p:txBody>
      </p:sp>
      <p:sp>
        <p:nvSpPr>
          <p:cNvPr id="31" name="TextBox 30"/>
          <p:cNvSpPr txBox="1"/>
          <p:nvPr/>
        </p:nvSpPr>
        <p:spPr>
          <a:xfrm>
            <a:off x="7626096" y="4133087"/>
            <a:ext cx="3840480" cy="292608"/>
          </a:xfrm>
          <a:prstGeom prst="rect">
            <a:avLst/>
          </a:prstGeom>
          <a:noFill/>
        </p:spPr>
        <p:txBody>
          <a:bodyPr wrap="square" anchor="t" lIns="36576" rIns="36576" tIns="18288" bIns="18288">
            <a:spAutoFit/>
          </a:bodyPr>
          <a:lstStyle/>
          <a:p>
            <a:pPr algn="l"/>
            <a:r>
              <a:rPr sz="1400" b="1">
                <a:solidFill>
                  <a:srgbClr val="0F172A"/>
                </a:solidFill>
                <a:latin typeface="Calibri"/>
              </a:rPr>
              <a:t>ILLUSTRATE</a:t>
            </a:r>
          </a:p>
        </p:txBody>
      </p:sp>
      <p:sp>
        <p:nvSpPr>
          <p:cNvPr id="32" name="TextBox 31"/>
          <p:cNvSpPr txBox="1"/>
          <p:nvPr/>
        </p:nvSpPr>
        <p:spPr>
          <a:xfrm>
            <a:off x="7626096" y="4443983"/>
            <a:ext cx="3840480" cy="457200"/>
          </a:xfrm>
          <a:prstGeom prst="rect">
            <a:avLst/>
          </a:prstGeom>
          <a:noFill/>
        </p:spPr>
        <p:txBody>
          <a:bodyPr wrap="square" anchor="t" lIns="36576" rIns="36576" tIns="18288" bIns="18288">
            <a:spAutoFit/>
          </a:bodyPr>
          <a:lstStyle/>
          <a:p>
            <a:pPr algn="l"/>
            <a:r>
              <a:rPr sz="1200" b="0">
                <a:solidFill>
                  <a:srgbClr val="334155"/>
                </a:solidFill>
                <a:latin typeface="Calibri"/>
              </a:rPr>
              <a:t>Generates one consistent PNG image for every panel.</a:t>
            </a:r>
          </a:p>
        </p:txBody>
      </p:sp>
      <p:sp>
        <p:nvSpPr>
          <p:cNvPr id="33" name="Rounded Rectangle 32"/>
          <p:cNvSpPr/>
          <p:nvPr/>
        </p:nvSpPr>
        <p:spPr>
          <a:xfrm>
            <a:off x="6601968" y="5148072"/>
            <a:ext cx="5038344" cy="1060704"/>
          </a:xfrm>
          <a:prstGeom prst="roundRect">
            <a:avLst>
              <a:gd name="adj" fmla="val 4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601968" y="5148072"/>
            <a:ext cx="91440" cy="106070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858000" y="5376672"/>
            <a:ext cx="603504" cy="603504"/>
          </a:xfrm>
          <a:prstGeom prst="roundRect">
            <a:avLst>
              <a:gd name="adj" fmla="val 4000"/>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0" y="5376672"/>
            <a:ext cx="603504" cy="603504"/>
          </a:xfrm>
          <a:prstGeom prst="rect">
            <a:avLst/>
          </a:prstGeom>
          <a:noFill/>
        </p:spPr>
        <p:txBody>
          <a:bodyPr wrap="square" anchor="ctr" lIns="36576" rIns="36576" tIns="18288" bIns="18288">
            <a:spAutoFit/>
          </a:bodyPr>
          <a:lstStyle/>
          <a:p>
            <a:pPr algn="ctr"/>
            <a:r>
              <a:rPr sz="1500" b="1">
                <a:solidFill>
                  <a:srgbClr val="4F46E5"/>
                </a:solidFill>
                <a:latin typeface="Calibri"/>
              </a:rPr>
              <a:t>04</a:t>
            </a:r>
          </a:p>
        </p:txBody>
      </p:sp>
      <p:sp>
        <p:nvSpPr>
          <p:cNvPr id="37" name="TextBox 36"/>
          <p:cNvSpPr txBox="1"/>
          <p:nvPr/>
        </p:nvSpPr>
        <p:spPr>
          <a:xfrm>
            <a:off x="7626096" y="5312664"/>
            <a:ext cx="3840480" cy="292608"/>
          </a:xfrm>
          <a:prstGeom prst="rect">
            <a:avLst/>
          </a:prstGeom>
          <a:noFill/>
        </p:spPr>
        <p:txBody>
          <a:bodyPr wrap="square" anchor="t" lIns="36576" rIns="36576" tIns="18288" bIns="18288">
            <a:spAutoFit/>
          </a:bodyPr>
          <a:lstStyle/>
          <a:p>
            <a:pPr algn="l"/>
            <a:r>
              <a:rPr sz="1400" b="1">
                <a:solidFill>
                  <a:srgbClr val="0F172A"/>
                </a:solidFill>
                <a:latin typeface="Calibri"/>
              </a:rPr>
              <a:t>PUBLISH</a:t>
            </a:r>
          </a:p>
        </p:txBody>
      </p:sp>
      <p:sp>
        <p:nvSpPr>
          <p:cNvPr id="38" name="TextBox 37"/>
          <p:cNvSpPr txBox="1"/>
          <p:nvPr/>
        </p:nvSpPr>
        <p:spPr>
          <a:xfrm>
            <a:off x="7626096" y="5623560"/>
            <a:ext cx="3840480" cy="457200"/>
          </a:xfrm>
          <a:prstGeom prst="rect">
            <a:avLst/>
          </a:prstGeom>
          <a:noFill/>
        </p:spPr>
        <p:txBody>
          <a:bodyPr wrap="square" anchor="t" lIns="36576" rIns="36576" tIns="18288" bIns="18288">
            <a:spAutoFit/>
          </a:bodyPr>
          <a:lstStyle/>
          <a:p>
            <a:pPr algn="l"/>
            <a:r>
              <a:rPr sz="1200" b="0">
                <a:solidFill>
                  <a:srgbClr val="334155"/>
                </a:solidFill>
                <a:latin typeface="Calibri"/>
              </a:rPr>
              <a:t>Shows responsive web preview and builds an A4 PDF.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0" cy="73152"/>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744200" y="274320"/>
            <a:ext cx="896112" cy="329184"/>
          </a:xfrm>
          <a:prstGeom prst="roundRect">
            <a:avLst>
              <a:gd name="adj" fmla="val 4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274320"/>
            <a:ext cx="896112" cy="329184"/>
          </a:xfrm>
          <a:prstGeom prst="rect">
            <a:avLst/>
          </a:prstGeom>
          <a:noFill/>
        </p:spPr>
        <p:txBody>
          <a:bodyPr wrap="square" anchor="ctr" lIns="36576" rIns="36576" tIns="18288" bIns="18288">
            <a:spAutoFit/>
          </a:bodyPr>
          <a:lstStyle/>
          <a:p>
            <a:pPr algn="ctr"/>
            <a:r>
              <a:rPr sz="1100" b="1">
                <a:solidFill>
                  <a:srgbClr val="F59E0B"/>
                </a:solidFill>
                <a:latin typeface="Calibri"/>
              </a:rPr>
              <a:t>03 / 10</a:t>
            </a:r>
          </a:p>
        </p:txBody>
      </p:sp>
      <p:sp>
        <p:nvSpPr>
          <p:cNvPr id="6" name="TextBox 5"/>
          <p:cNvSpPr txBox="1"/>
          <p:nvPr/>
        </p:nvSpPr>
        <p:spPr>
          <a:xfrm>
            <a:off x="548640" y="219456"/>
            <a:ext cx="9966960" cy="438912"/>
          </a:xfrm>
          <a:prstGeom prst="rect">
            <a:avLst/>
          </a:prstGeom>
          <a:noFill/>
        </p:spPr>
        <p:txBody>
          <a:bodyPr wrap="square" anchor="t" lIns="36576" rIns="36576" tIns="18288" bIns="18288">
            <a:spAutoFit/>
          </a:bodyPr>
          <a:lstStyle/>
          <a:p>
            <a:pPr algn="l"/>
            <a:r>
              <a:rPr sz="2500" b="1">
                <a:solidFill>
                  <a:srgbClr val="0F172A"/>
                </a:solidFill>
                <a:latin typeface="Calibri"/>
              </a:rPr>
              <a:t>Problem Statement &amp; Objectives</a:t>
            </a:r>
          </a:p>
        </p:txBody>
      </p:sp>
      <p:sp>
        <p:nvSpPr>
          <p:cNvPr id="7" name="TextBox 6"/>
          <p:cNvSpPr txBox="1"/>
          <p:nvPr/>
        </p:nvSpPr>
        <p:spPr>
          <a:xfrm>
            <a:off x="548640" y="658368"/>
            <a:ext cx="10058400" cy="292608"/>
          </a:xfrm>
          <a:prstGeom prst="rect">
            <a:avLst/>
          </a:prstGeom>
          <a:noFill/>
        </p:spPr>
        <p:txBody>
          <a:bodyPr wrap="square" anchor="t" lIns="36576" rIns="36576" tIns="18288" bIns="18288">
            <a:spAutoFit/>
          </a:bodyPr>
          <a:lstStyle/>
          <a:p>
            <a:pPr algn="l"/>
            <a:r>
              <a:rPr sz="1300" b="0">
                <a:solidFill>
                  <a:srgbClr val="64748B"/>
                </a:solidFill>
                <a:latin typeface="Calibri"/>
              </a:rPr>
              <a:t>Challenges in comic creation and how ComicCraft solves them</a:t>
            </a:r>
          </a:p>
        </p:txBody>
      </p:sp>
      <p:sp>
        <p:nvSpPr>
          <p:cNvPr id="8" name="Rectangle 7"/>
          <p:cNvSpPr/>
          <p:nvPr/>
        </p:nvSpPr>
        <p:spPr>
          <a:xfrm>
            <a:off x="548640" y="987552"/>
            <a:ext cx="11094415" cy="16459"/>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510528"/>
            <a:ext cx="7315200" cy="228600"/>
          </a:xfrm>
          <a:prstGeom prst="rect">
            <a:avLst/>
          </a:prstGeom>
          <a:noFill/>
        </p:spPr>
        <p:txBody>
          <a:bodyPr wrap="square" anchor="t" lIns="36576" rIns="36576" tIns="18288" bIns="18288">
            <a:spAutoFit/>
          </a:bodyPr>
          <a:lstStyle/>
          <a:p>
            <a:pPr algn="l"/>
            <a:r>
              <a:rPr sz="950" b="0">
                <a:solidFill>
                  <a:srgbClr val="64748B"/>
                </a:solidFill>
                <a:latin typeface="Calibri"/>
              </a:rPr>
              <a:t>ComicCraft — AI Comic Story Creator</a:t>
            </a:r>
          </a:p>
        </p:txBody>
      </p:sp>
      <p:sp>
        <p:nvSpPr>
          <p:cNvPr id="10" name="Rounded Rectangle 9"/>
          <p:cNvSpPr/>
          <p:nvPr/>
        </p:nvSpPr>
        <p:spPr>
          <a:xfrm>
            <a:off x="548640" y="1188720"/>
            <a:ext cx="5394960" cy="420624"/>
          </a:xfrm>
          <a:prstGeom prst="roundRect">
            <a:avLst>
              <a:gd name="adj" fmla="val 4000"/>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188720"/>
            <a:ext cx="5029200" cy="420624"/>
          </a:xfrm>
          <a:prstGeom prst="rect">
            <a:avLst/>
          </a:prstGeom>
          <a:noFill/>
        </p:spPr>
        <p:txBody>
          <a:bodyPr wrap="square" anchor="ctr" lIns="36576" rIns="36576" tIns="18288" bIns="18288">
            <a:spAutoFit/>
          </a:bodyPr>
          <a:lstStyle/>
          <a:p>
            <a:pPr algn="l"/>
            <a:r>
              <a:rPr sz="1300" b="1">
                <a:solidFill>
                  <a:srgbClr val="FFFFFF"/>
                </a:solidFill>
                <a:latin typeface="Calibri"/>
              </a:rPr>
              <a:t>PROBLEM STATEMENT</a:t>
            </a:r>
          </a:p>
        </p:txBody>
      </p:sp>
      <p:sp>
        <p:nvSpPr>
          <p:cNvPr id="12" name="Rounded Rectangle 11"/>
          <p:cNvSpPr/>
          <p:nvPr/>
        </p:nvSpPr>
        <p:spPr>
          <a:xfrm>
            <a:off x="548640" y="1737360"/>
            <a:ext cx="5394960" cy="1024128"/>
          </a:xfrm>
          <a:prstGeom prst="roundRect">
            <a:avLst>
              <a:gd name="adj" fmla="val 4000"/>
            </a:avLst>
          </a:prstGeom>
          <a:solidFill>
            <a:srgbClr val="FFFFFF"/>
          </a:solidFill>
          <a:ln w="1143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737360"/>
            <a:ext cx="91440" cy="1024128"/>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6384" y="1847088"/>
            <a:ext cx="4983480" cy="292608"/>
          </a:xfrm>
          <a:prstGeom prst="rect">
            <a:avLst/>
          </a:prstGeom>
          <a:noFill/>
        </p:spPr>
        <p:txBody>
          <a:bodyPr wrap="square" anchor="t" lIns="36576" rIns="36576" tIns="18288" bIns="18288">
            <a:spAutoFit/>
          </a:bodyPr>
          <a:lstStyle/>
          <a:p>
            <a:pPr algn="l"/>
            <a:r>
              <a:rPr sz="1350" b="1">
                <a:solidFill>
                  <a:srgbClr val="E11D48"/>
                </a:solidFill>
                <a:latin typeface="Calibri"/>
              </a:rPr>
              <a:t>1. Needs Multiple Skills</a:t>
            </a:r>
          </a:p>
        </p:txBody>
      </p:sp>
      <p:sp>
        <p:nvSpPr>
          <p:cNvPr id="15" name="TextBox 14"/>
          <p:cNvSpPr txBox="1"/>
          <p:nvPr/>
        </p:nvSpPr>
        <p:spPr>
          <a:xfrm>
            <a:off x="786384" y="2157984"/>
            <a:ext cx="4983480" cy="512064"/>
          </a:xfrm>
          <a:prstGeom prst="rect">
            <a:avLst/>
          </a:prstGeom>
          <a:noFill/>
        </p:spPr>
        <p:txBody>
          <a:bodyPr wrap="square" anchor="t" lIns="36576" rIns="36576" tIns="18288" bIns="18288">
            <a:spAutoFit/>
          </a:bodyPr>
          <a:lstStyle/>
          <a:p>
            <a:pPr algn="l"/>
            <a:r>
              <a:rPr sz="1200" b="0">
                <a:solidFill>
                  <a:srgbClr val="334155"/>
                </a:solidFill>
                <a:latin typeface="Calibri"/>
              </a:rPr>
              <a:t>Creating a comic manually needs story writing, drawing, and page layout skills.</a:t>
            </a:r>
          </a:p>
        </p:txBody>
      </p:sp>
      <p:sp>
        <p:nvSpPr>
          <p:cNvPr id="16" name="Rounded Rectangle 15"/>
          <p:cNvSpPr/>
          <p:nvPr/>
        </p:nvSpPr>
        <p:spPr>
          <a:xfrm>
            <a:off x="548640" y="2871215"/>
            <a:ext cx="5394960" cy="1024128"/>
          </a:xfrm>
          <a:prstGeom prst="roundRect">
            <a:avLst>
              <a:gd name="adj" fmla="val 4000"/>
            </a:avLst>
          </a:prstGeom>
          <a:solidFill>
            <a:srgbClr val="FFFFFF"/>
          </a:solidFill>
          <a:ln w="1143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2871215"/>
            <a:ext cx="91440" cy="1024128"/>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2980944"/>
            <a:ext cx="4983480" cy="292608"/>
          </a:xfrm>
          <a:prstGeom prst="rect">
            <a:avLst/>
          </a:prstGeom>
          <a:noFill/>
        </p:spPr>
        <p:txBody>
          <a:bodyPr wrap="square" anchor="t" lIns="36576" rIns="36576" tIns="18288" bIns="18288">
            <a:spAutoFit/>
          </a:bodyPr>
          <a:lstStyle/>
          <a:p>
            <a:pPr algn="l"/>
            <a:r>
              <a:rPr sz="1350" b="1">
                <a:solidFill>
                  <a:srgbClr val="E11D48"/>
                </a:solidFill>
                <a:latin typeface="Calibri"/>
              </a:rPr>
              <a:t>2. Unstructured AI Text</a:t>
            </a:r>
          </a:p>
        </p:txBody>
      </p:sp>
      <p:sp>
        <p:nvSpPr>
          <p:cNvPr id="19" name="TextBox 18"/>
          <p:cNvSpPr txBox="1"/>
          <p:nvPr/>
        </p:nvSpPr>
        <p:spPr>
          <a:xfrm>
            <a:off x="786384" y="3291839"/>
            <a:ext cx="4983480" cy="512064"/>
          </a:xfrm>
          <a:prstGeom prst="rect">
            <a:avLst/>
          </a:prstGeom>
          <a:noFill/>
        </p:spPr>
        <p:txBody>
          <a:bodyPr wrap="square" anchor="t" lIns="36576" rIns="36576" tIns="18288" bIns="18288">
            <a:spAutoFit/>
          </a:bodyPr>
          <a:lstStyle/>
          <a:p>
            <a:pPr algn="l"/>
            <a:r>
              <a:rPr sz="1200" b="0">
                <a:solidFill>
                  <a:srgbClr val="334155"/>
                </a:solidFill>
                <a:latin typeface="Calibri"/>
              </a:rPr>
              <a:t>Normal AI chat replies return plain text, which breaks easily when splitting into panels.</a:t>
            </a:r>
          </a:p>
        </p:txBody>
      </p:sp>
      <p:sp>
        <p:nvSpPr>
          <p:cNvPr id="20" name="Rounded Rectangle 19"/>
          <p:cNvSpPr/>
          <p:nvPr/>
        </p:nvSpPr>
        <p:spPr>
          <a:xfrm>
            <a:off x="548640" y="4005072"/>
            <a:ext cx="5394960" cy="1024128"/>
          </a:xfrm>
          <a:prstGeom prst="roundRect">
            <a:avLst>
              <a:gd name="adj" fmla="val 4000"/>
            </a:avLst>
          </a:prstGeom>
          <a:solidFill>
            <a:srgbClr val="FFFFFF"/>
          </a:solidFill>
          <a:ln w="1143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05072"/>
            <a:ext cx="91440" cy="1024128"/>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114800"/>
            <a:ext cx="4983480" cy="292608"/>
          </a:xfrm>
          <a:prstGeom prst="rect">
            <a:avLst/>
          </a:prstGeom>
          <a:noFill/>
        </p:spPr>
        <p:txBody>
          <a:bodyPr wrap="square" anchor="t" lIns="36576" rIns="36576" tIns="18288" bIns="18288">
            <a:spAutoFit/>
          </a:bodyPr>
          <a:lstStyle/>
          <a:p>
            <a:pPr algn="l"/>
            <a:r>
              <a:rPr sz="1350" b="1">
                <a:solidFill>
                  <a:srgbClr val="E11D48"/>
                </a:solidFill>
                <a:latin typeface="Calibri"/>
              </a:rPr>
              <a:t>3. Inconsistent Characters</a:t>
            </a:r>
          </a:p>
        </p:txBody>
      </p:sp>
      <p:sp>
        <p:nvSpPr>
          <p:cNvPr id="23" name="TextBox 22"/>
          <p:cNvSpPr txBox="1"/>
          <p:nvPr/>
        </p:nvSpPr>
        <p:spPr>
          <a:xfrm>
            <a:off x="786384" y="4425696"/>
            <a:ext cx="4983480" cy="512064"/>
          </a:xfrm>
          <a:prstGeom prst="rect">
            <a:avLst/>
          </a:prstGeom>
          <a:noFill/>
        </p:spPr>
        <p:txBody>
          <a:bodyPr wrap="square" anchor="t" lIns="36576" rIns="36576" tIns="18288" bIns="18288">
            <a:spAutoFit/>
          </a:bodyPr>
          <a:lstStyle/>
          <a:p>
            <a:pPr algn="l"/>
            <a:r>
              <a:rPr sz="1200" b="0">
                <a:solidFill>
                  <a:srgbClr val="334155"/>
                </a:solidFill>
                <a:latin typeface="Calibri"/>
              </a:rPr>
              <a:t>Independent image prompts make the hero's face and outfit change in every panel.</a:t>
            </a:r>
          </a:p>
        </p:txBody>
      </p:sp>
      <p:sp>
        <p:nvSpPr>
          <p:cNvPr id="24" name="Rounded Rectangle 23"/>
          <p:cNvSpPr/>
          <p:nvPr/>
        </p:nvSpPr>
        <p:spPr>
          <a:xfrm>
            <a:off x="548640" y="5138928"/>
            <a:ext cx="5394960" cy="1024128"/>
          </a:xfrm>
          <a:prstGeom prst="roundRect">
            <a:avLst>
              <a:gd name="adj" fmla="val 4000"/>
            </a:avLst>
          </a:prstGeom>
          <a:solidFill>
            <a:srgbClr val="FFFFFF"/>
          </a:solidFill>
          <a:ln w="1143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5138928"/>
            <a:ext cx="91440" cy="1024128"/>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6384" y="5248656"/>
            <a:ext cx="4983480" cy="292608"/>
          </a:xfrm>
          <a:prstGeom prst="rect">
            <a:avLst/>
          </a:prstGeom>
          <a:noFill/>
        </p:spPr>
        <p:txBody>
          <a:bodyPr wrap="square" anchor="t" lIns="36576" rIns="36576" tIns="18288" bIns="18288">
            <a:spAutoFit/>
          </a:bodyPr>
          <a:lstStyle/>
          <a:p>
            <a:pPr algn="l"/>
            <a:r>
              <a:rPr sz="1350" b="1">
                <a:solidFill>
                  <a:srgbClr val="E11D48"/>
                </a:solidFill>
                <a:latin typeface="Calibri"/>
              </a:rPr>
              <a:t>4. API &amp; Key Failures</a:t>
            </a:r>
          </a:p>
        </p:txBody>
      </p:sp>
      <p:sp>
        <p:nvSpPr>
          <p:cNvPr id="27" name="TextBox 26"/>
          <p:cNvSpPr txBox="1"/>
          <p:nvPr/>
        </p:nvSpPr>
        <p:spPr>
          <a:xfrm>
            <a:off x="786384" y="5559552"/>
            <a:ext cx="4983480" cy="512064"/>
          </a:xfrm>
          <a:prstGeom prst="rect">
            <a:avLst/>
          </a:prstGeom>
          <a:noFill/>
        </p:spPr>
        <p:txBody>
          <a:bodyPr wrap="square" anchor="t" lIns="36576" rIns="36576" tIns="18288" bIns="18288">
            <a:spAutoFit/>
          </a:bodyPr>
          <a:lstStyle/>
          <a:p>
            <a:pPr algn="l"/>
            <a:r>
              <a:rPr sz="1200" b="0">
                <a:solidFill>
                  <a:srgbClr val="334155"/>
                </a:solidFill>
                <a:latin typeface="Calibri"/>
              </a:rPr>
              <a:t>Rate limits, model changes, or missing API keys stop normal AI apps from working.</a:t>
            </a:r>
          </a:p>
        </p:txBody>
      </p:sp>
      <p:sp>
        <p:nvSpPr>
          <p:cNvPr id="28" name="Rounded Rectangle 27"/>
          <p:cNvSpPr/>
          <p:nvPr/>
        </p:nvSpPr>
        <p:spPr>
          <a:xfrm>
            <a:off x="6245352" y="1188720"/>
            <a:ext cx="5394960" cy="420624"/>
          </a:xfrm>
          <a:prstGeom prst="roundRect">
            <a:avLst>
              <a:gd name="adj" fmla="val 4000"/>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28232" y="1188720"/>
            <a:ext cx="5029200" cy="420624"/>
          </a:xfrm>
          <a:prstGeom prst="rect">
            <a:avLst/>
          </a:prstGeom>
          <a:noFill/>
        </p:spPr>
        <p:txBody>
          <a:bodyPr wrap="square" anchor="ctr" lIns="36576" rIns="36576" tIns="18288" bIns="18288">
            <a:spAutoFit/>
          </a:bodyPr>
          <a:lstStyle/>
          <a:p>
            <a:pPr algn="l"/>
            <a:r>
              <a:rPr sz="1300" b="1">
                <a:solidFill>
                  <a:srgbClr val="FFFFFF"/>
                </a:solidFill>
                <a:latin typeface="Calibri"/>
              </a:rPr>
              <a:t>PROJECT OBJECTIVES</a:t>
            </a:r>
          </a:p>
        </p:txBody>
      </p:sp>
      <p:sp>
        <p:nvSpPr>
          <p:cNvPr id="30" name="Rounded Rectangle 29"/>
          <p:cNvSpPr/>
          <p:nvPr/>
        </p:nvSpPr>
        <p:spPr>
          <a:xfrm>
            <a:off x="6245352" y="1737360"/>
            <a:ext cx="5394960" cy="1024128"/>
          </a:xfrm>
          <a:prstGeom prst="roundRect">
            <a:avLst>
              <a:gd name="adj" fmla="val 4000"/>
            </a:avLst>
          </a:prstGeom>
          <a:solidFill>
            <a:srgbClr val="FFFFFF"/>
          </a:solidFill>
          <a:ln w="1143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45352" y="1737360"/>
            <a:ext cx="91440" cy="102412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83096" y="1847088"/>
            <a:ext cx="4983480" cy="292608"/>
          </a:xfrm>
          <a:prstGeom prst="rect">
            <a:avLst/>
          </a:prstGeom>
          <a:noFill/>
        </p:spPr>
        <p:txBody>
          <a:bodyPr wrap="square" anchor="t" lIns="36576" rIns="36576" tIns="18288" bIns="18288">
            <a:spAutoFit/>
          </a:bodyPr>
          <a:lstStyle/>
          <a:p>
            <a:pPr algn="l"/>
            <a:r>
              <a:rPr sz="1350" b="1">
                <a:solidFill>
                  <a:srgbClr val="0D9488"/>
                </a:solidFill>
                <a:latin typeface="Calibri"/>
              </a:rPr>
              <a:t>1. One-Stop Comic Studio</a:t>
            </a:r>
          </a:p>
        </p:txBody>
      </p:sp>
      <p:sp>
        <p:nvSpPr>
          <p:cNvPr id="33" name="TextBox 32"/>
          <p:cNvSpPr txBox="1"/>
          <p:nvPr/>
        </p:nvSpPr>
        <p:spPr>
          <a:xfrm>
            <a:off x="6483096" y="2157984"/>
            <a:ext cx="4983480" cy="512064"/>
          </a:xfrm>
          <a:prstGeom prst="rect">
            <a:avLst/>
          </a:prstGeom>
          <a:noFill/>
        </p:spPr>
        <p:txBody>
          <a:bodyPr wrap="square" anchor="t" lIns="36576" rIns="36576" tIns="18288" bIns="18288">
            <a:spAutoFit/>
          </a:bodyPr>
          <a:lstStyle/>
          <a:p>
            <a:pPr algn="l"/>
            <a:r>
              <a:rPr sz="1200" b="0">
                <a:solidFill>
                  <a:srgbClr val="334155"/>
                </a:solidFill>
                <a:latin typeface="Calibri"/>
              </a:rPr>
              <a:t>Convert one story brief into a complete 3–8 panel comic via Web UI or JSON API.</a:t>
            </a:r>
          </a:p>
        </p:txBody>
      </p:sp>
      <p:sp>
        <p:nvSpPr>
          <p:cNvPr id="34" name="Rounded Rectangle 33"/>
          <p:cNvSpPr/>
          <p:nvPr/>
        </p:nvSpPr>
        <p:spPr>
          <a:xfrm>
            <a:off x="6245352" y="2871215"/>
            <a:ext cx="5394960" cy="1024128"/>
          </a:xfrm>
          <a:prstGeom prst="roundRect">
            <a:avLst>
              <a:gd name="adj" fmla="val 4000"/>
            </a:avLst>
          </a:prstGeom>
          <a:solidFill>
            <a:srgbClr val="FFFFFF"/>
          </a:solidFill>
          <a:ln w="1143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45352" y="2871215"/>
            <a:ext cx="91440" cy="102412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83096" y="2980944"/>
            <a:ext cx="4983480" cy="292608"/>
          </a:xfrm>
          <a:prstGeom prst="rect">
            <a:avLst/>
          </a:prstGeom>
          <a:noFill/>
        </p:spPr>
        <p:txBody>
          <a:bodyPr wrap="square" anchor="t" lIns="36576" rIns="36576" tIns="18288" bIns="18288">
            <a:spAutoFit/>
          </a:bodyPr>
          <a:lstStyle/>
          <a:p>
            <a:pPr algn="l"/>
            <a:r>
              <a:rPr sz="1350" b="1">
                <a:solidFill>
                  <a:srgbClr val="0D9488"/>
                </a:solidFill>
                <a:latin typeface="Calibri"/>
              </a:rPr>
              <a:t>2. Strict JSON Validation</a:t>
            </a:r>
          </a:p>
        </p:txBody>
      </p:sp>
      <p:sp>
        <p:nvSpPr>
          <p:cNvPr id="37" name="TextBox 36"/>
          <p:cNvSpPr txBox="1"/>
          <p:nvPr/>
        </p:nvSpPr>
        <p:spPr>
          <a:xfrm>
            <a:off x="6483096" y="3291839"/>
            <a:ext cx="4983480" cy="512064"/>
          </a:xfrm>
          <a:prstGeom prst="rect">
            <a:avLst/>
          </a:prstGeom>
          <a:noFill/>
        </p:spPr>
        <p:txBody>
          <a:bodyPr wrap="square" anchor="t" lIns="36576" rIns="36576" tIns="18288" bIns="18288">
            <a:spAutoFit/>
          </a:bodyPr>
          <a:lstStyle/>
          <a:p>
            <a:pPr algn="l"/>
            <a:r>
              <a:rPr sz="1200" b="0">
                <a:solidFill>
                  <a:srgbClr val="334155"/>
                </a:solidFill>
                <a:latin typeface="Calibri"/>
              </a:rPr>
              <a:t>Use Gemini JSON mode and Pydantic schemas so panel structure never breaks.</a:t>
            </a:r>
          </a:p>
        </p:txBody>
      </p:sp>
      <p:sp>
        <p:nvSpPr>
          <p:cNvPr id="38" name="Rounded Rectangle 37"/>
          <p:cNvSpPr/>
          <p:nvPr/>
        </p:nvSpPr>
        <p:spPr>
          <a:xfrm>
            <a:off x="6245352" y="4005072"/>
            <a:ext cx="5394960" cy="1024128"/>
          </a:xfrm>
          <a:prstGeom prst="roundRect">
            <a:avLst>
              <a:gd name="adj" fmla="val 4000"/>
            </a:avLst>
          </a:prstGeom>
          <a:solidFill>
            <a:srgbClr val="FFFFFF"/>
          </a:solidFill>
          <a:ln w="1143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245352" y="4005072"/>
            <a:ext cx="91440" cy="102412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83096" y="4114800"/>
            <a:ext cx="4983480" cy="292608"/>
          </a:xfrm>
          <a:prstGeom prst="rect">
            <a:avLst/>
          </a:prstGeom>
          <a:noFill/>
        </p:spPr>
        <p:txBody>
          <a:bodyPr wrap="square" anchor="t" lIns="36576" rIns="36576" tIns="18288" bIns="18288">
            <a:spAutoFit/>
          </a:bodyPr>
          <a:lstStyle/>
          <a:p>
            <a:pPr algn="l"/>
            <a:r>
              <a:rPr sz="1350" b="1">
                <a:solidFill>
                  <a:srgbClr val="0D9488"/>
                </a:solidFill>
                <a:latin typeface="Calibri"/>
              </a:rPr>
              <a:t>3. Character Continuity</a:t>
            </a:r>
          </a:p>
        </p:txBody>
      </p:sp>
      <p:sp>
        <p:nvSpPr>
          <p:cNvPr id="41" name="TextBox 40"/>
          <p:cNvSpPr txBox="1"/>
          <p:nvPr/>
        </p:nvSpPr>
        <p:spPr>
          <a:xfrm>
            <a:off x="6483096" y="4425696"/>
            <a:ext cx="4983480" cy="512064"/>
          </a:xfrm>
          <a:prstGeom prst="rect">
            <a:avLst/>
          </a:prstGeom>
          <a:noFill/>
        </p:spPr>
        <p:txBody>
          <a:bodyPr wrap="square" anchor="t" lIns="36576" rIns="36576" tIns="18288" bIns="18288">
            <a:spAutoFit/>
          </a:bodyPr>
          <a:lstStyle/>
          <a:p>
            <a:pPr algn="l"/>
            <a:r>
              <a:rPr sz="1200" b="0">
                <a:solidFill>
                  <a:srgbClr val="334155"/>
                </a:solidFill>
                <a:latin typeface="Calibri"/>
              </a:rPr>
              <a:t>Keep the hero visually consistent across all panels using a Character Bible.</a:t>
            </a:r>
          </a:p>
        </p:txBody>
      </p:sp>
      <p:sp>
        <p:nvSpPr>
          <p:cNvPr id="42" name="Rounded Rectangle 41"/>
          <p:cNvSpPr/>
          <p:nvPr/>
        </p:nvSpPr>
        <p:spPr>
          <a:xfrm>
            <a:off x="6245352" y="5138928"/>
            <a:ext cx="5394960" cy="1024128"/>
          </a:xfrm>
          <a:prstGeom prst="roundRect">
            <a:avLst>
              <a:gd name="adj" fmla="val 4000"/>
            </a:avLst>
          </a:prstGeom>
          <a:solidFill>
            <a:srgbClr val="FFFFFF"/>
          </a:solidFill>
          <a:ln w="1143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45352" y="5138928"/>
            <a:ext cx="91440" cy="102412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83096" y="5248656"/>
            <a:ext cx="4983480" cy="292608"/>
          </a:xfrm>
          <a:prstGeom prst="rect">
            <a:avLst/>
          </a:prstGeom>
          <a:noFill/>
        </p:spPr>
        <p:txBody>
          <a:bodyPr wrap="square" anchor="t" lIns="36576" rIns="36576" tIns="18288" bIns="18288">
            <a:spAutoFit/>
          </a:bodyPr>
          <a:lstStyle/>
          <a:p>
            <a:pPr algn="l"/>
            <a:r>
              <a:rPr sz="1350" b="1">
                <a:solidFill>
                  <a:srgbClr val="0D9488"/>
                </a:solidFill>
                <a:latin typeface="Calibri"/>
              </a:rPr>
              <a:t>4. Always-Working Fallback</a:t>
            </a:r>
          </a:p>
        </p:txBody>
      </p:sp>
      <p:sp>
        <p:nvSpPr>
          <p:cNvPr id="45" name="TextBox 44"/>
          <p:cNvSpPr txBox="1"/>
          <p:nvPr/>
        </p:nvSpPr>
        <p:spPr>
          <a:xfrm>
            <a:off x="6483096" y="5559552"/>
            <a:ext cx="4983480" cy="512064"/>
          </a:xfrm>
          <a:prstGeom prst="rect">
            <a:avLst/>
          </a:prstGeom>
          <a:noFill/>
        </p:spPr>
        <p:txBody>
          <a:bodyPr wrap="square" anchor="t" lIns="36576" rIns="36576" tIns="18288" bIns="18288">
            <a:spAutoFit/>
          </a:bodyPr>
          <a:lstStyle/>
          <a:p>
            <a:pPr algn="l"/>
            <a:r>
              <a:rPr sz="1200" b="0">
                <a:solidFill>
                  <a:srgbClr val="334155"/>
                </a:solidFill>
                <a:latin typeface="Calibri"/>
              </a:rPr>
              <a:t>Support automatic retries and an Offline Demo Mode that needs no API keys.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0"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744200" y="274320"/>
            <a:ext cx="896112" cy="329184"/>
          </a:xfrm>
          <a:prstGeom prst="roundRect">
            <a:avLst>
              <a:gd name="adj" fmla="val 4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274320"/>
            <a:ext cx="896112" cy="329184"/>
          </a:xfrm>
          <a:prstGeom prst="rect">
            <a:avLst/>
          </a:prstGeom>
          <a:noFill/>
        </p:spPr>
        <p:txBody>
          <a:bodyPr wrap="square" anchor="ctr" lIns="36576" rIns="36576" tIns="18288" bIns="18288">
            <a:spAutoFit/>
          </a:bodyPr>
          <a:lstStyle/>
          <a:p>
            <a:pPr algn="ctr"/>
            <a:r>
              <a:rPr sz="1100" b="1">
                <a:solidFill>
                  <a:srgbClr val="F59E0B"/>
                </a:solidFill>
                <a:latin typeface="Calibri"/>
              </a:rPr>
              <a:t>04 / 10</a:t>
            </a:r>
          </a:p>
        </p:txBody>
      </p:sp>
      <p:sp>
        <p:nvSpPr>
          <p:cNvPr id="6" name="TextBox 5"/>
          <p:cNvSpPr txBox="1"/>
          <p:nvPr/>
        </p:nvSpPr>
        <p:spPr>
          <a:xfrm>
            <a:off x="548640" y="219456"/>
            <a:ext cx="9966960" cy="438912"/>
          </a:xfrm>
          <a:prstGeom prst="rect">
            <a:avLst/>
          </a:prstGeom>
          <a:noFill/>
        </p:spPr>
        <p:txBody>
          <a:bodyPr wrap="square" anchor="t" lIns="36576" rIns="36576" tIns="18288" bIns="18288">
            <a:spAutoFit/>
          </a:bodyPr>
          <a:lstStyle/>
          <a:p>
            <a:pPr algn="l"/>
            <a:r>
              <a:rPr sz="2500" b="1">
                <a:solidFill>
                  <a:srgbClr val="0F172A"/>
                </a:solidFill>
                <a:latin typeface="Calibri"/>
              </a:rPr>
              <a:t>Existing System vs Proposed System</a:t>
            </a:r>
          </a:p>
        </p:txBody>
      </p:sp>
      <p:sp>
        <p:nvSpPr>
          <p:cNvPr id="7" name="TextBox 6"/>
          <p:cNvSpPr txBox="1"/>
          <p:nvPr/>
        </p:nvSpPr>
        <p:spPr>
          <a:xfrm>
            <a:off x="548640" y="658368"/>
            <a:ext cx="10058400" cy="292608"/>
          </a:xfrm>
          <a:prstGeom prst="rect">
            <a:avLst/>
          </a:prstGeom>
          <a:noFill/>
        </p:spPr>
        <p:txBody>
          <a:bodyPr wrap="square" anchor="t" lIns="36576" rIns="36576" tIns="18288" bIns="18288">
            <a:spAutoFit/>
          </a:bodyPr>
          <a:lstStyle/>
          <a:p>
            <a:pPr algn="l"/>
            <a:r>
              <a:rPr sz="1300" b="0">
                <a:solidFill>
                  <a:srgbClr val="64748B"/>
                </a:solidFill>
                <a:latin typeface="Calibri"/>
              </a:rPr>
              <a:t>How ComicCraft improves upon manual methods and basic AI scripts</a:t>
            </a:r>
          </a:p>
        </p:txBody>
      </p:sp>
      <p:sp>
        <p:nvSpPr>
          <p:cNvPr id="8" name="Rectangle 7"/>
          <p:cNvSpPr/>
          <p:nvPr/>
        </p:nvSpPr>
        <p:spPr>
          <a:xfrm>
            <a:off x="548640" y="987552"/>
            <a:ext cx="11094415" cy="16459"/>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510528"/>
            <a:ext cx="7315200" cy="228600"/>
          </a:xfrm>
          <a:prstGeom prst="rect">
            <a:avLst/>
          </a:prstGeom>
          <a:noFill/>
        </p:spPr>
        <p:txBody>
          <a:bodyPr wrap="square" anchor="t" lIns="36576" rIns="36576" tIns="18288" bIns="18288">
            <a:spAutoFit/>
          </a:bodyPr>
          <a:lstStyle/>
          <a:p>
            <a:pPr algn="l"/>
            <a:r>
              <a:rPr sz="950" b="0">
                <a:solidFill>
                  <a:srgbClr val="64748B"/>
                </a:solidFill>
                <a:latin typeface="Calibri"/>
              </a:rPr>
              <a:t>ComicCraft — AI Comic Story Creator</a:t>
            </a:r>
          </a:p>
        </p:txBody>
      </p:sp>
      <p:graphicFrame>
        <p:nvGraphicFramePr>
          <p:cNvPr id="10" name="Table 9"/>
          <p:cNvGraphicFramePr>
            <a:graphicFrameLocks noGrp="1"/>
          </p:cNvGraphicFramePr>
          <p:nvPr/>
        </p:nvGraphicFramePr>
        <p:xfrm>
          <a:off x="548640" y="1243584"/>
          <a:ext cx="11091672" cy="4251960"/>
        </p:xfrm>
        <a:graphic>
          <a:graphicData uri="http://schemas.openxmlformats.org/drawingml/2006/table">
            <a:tbl>
              <a:tblPr firstRow="1" bandRow="1">
                <a:tableStyleId>{5C22544A-7EE6-4342-B048-85BDC9FD1C3A}</a:tableStyleId>
              </a:tblPr>
              <a:tblGrid>
                <a:gridCol w="2240280"/>
                <a:gridCol w="4334256"/>
                <a:gridCol w="4517136"/>
              </a:tblGrid>
              <a:tr h="708660">
                <a:tc>
                  <a:txBody>
                    <a:bodyPr/>
                    <a:lstStyle/>
                    <a:p>
                      <a:r>
                        <a:rPr sz="1350" b="1">
                          <a:solidFill>
                            <a:srgbClr val="FFFFFF"/>
                          </a:solidFill>
                          <a:latin typeface="Calibri"/>
                        </a:rPr>
                        <a:t>Feature</a:t>
                      </a:r>
                    </a:p>
                  </a:txBody>
                  <a:tcPr anchor="ctr" marL="146304" marR="146304" marT="73152" marB="73152">
                    <a:solidFill>
                      <a:srgbClr val="0F172A"/>
                    </a:solidFill>
                  </a:tcPr>
                </a:tc>
                <a:tc>
                  <a:txBody>
                    <a:bodyPr/>
                    <a:lstStyle/>
                    <a:p>
                      <a:r>
                        <a:rPr sz="1350" b="1">
                          <a:solidFill>
                            <a:srgbClr val="FFFFFF"/>
                          </a:solidFill>
                          <a:latin typeface="Calibri"/>
                        </a:rPr>
                        <a:t>Existing System</a:t>
                      </a:r>
                    </a:p>
                  </a:txBody>
                  <a:tcPr anchor="ctr" marL="146304" marR="146304" marT="73152" marB="73152">
                    <a:solidFill>
                      <a:srgbClr val="0F172A"/>
                    </a:solidFill>
                  </a:tcPr>
                </a:tc>
                <a:tc>
                  <a:txBody>
                    <a:bodyPr/>
                    <a:lstStyle/>
                    <a:p>
                      <a:r>
                        <a:rPr sz="1350" b="1">
                          <a:solidFill>
                            <a:srgbClr val="FFFFFF"/>
                          </a:solidFill>
                          <a:latin typeface="Calibri"/>
                        </a:rPr>
                        <a:t>Proposed System (ComicCraft)</a:t>
                      </a:r>
                    </a:p>
                  </a:txBody>
                  <a:tcPr anchor="ctr" marL="146304" marR="146304" marT="73152" marB="73152">
                    <a:solidFill>
                      <a:srgbClr val="0D9488"/>
                    </a:solidFill>
                  </a:tcPr>
                </a:tc>
              </a:tr>
              <a:tr h="708660">
                <a:tc>
                  <a:txBody>
                    <a:bodyPr/>
                    <a:lstStyle/>
                    <a:p>
                      <a:r>
                        <a:rPr sz="1300" b="1">
                          <a:solidFill>
                            <a:srgbClr val="0F172A"/>
                          </a:solidFill>
                          <a:latin typeface="Calibri"/>
                        </a:rPr>
                        <a:t>Workflow</a:t>
                      </a:r>
                    </a:p>
                  </a:txBody>
                  <a:tcPr anchor="ctr" marL="146304" marR="146304" marT="73152" marB="73152">
                    <a:solidFill>
                      <a:srgbClr val="FFFFFF"/>
                    </a:solidFill>
                  </a:tcPr>
                </a:tc>
                <a:tc>
                  <a:txBody>
                    <a:bodyPr/>
                    <a:lstStyle/>
                    <a:p>
                      <a:r>
                        <a:rPr sz="1250">
                          <a:solidFill>
                            <a:srgbClr val="64748B"/>
                          </a:solidFill>
                          <a:latin typeface="Calibri"/>
                        </a:rPr>
                        <a:t>Separate tools for writing, drawing, and layout.</a:t>
                      </a:r>
                    </a:p>
                  </a:txBody>
                  <a:tcPr anchor="ctr" marL="146304" marR="146304" marT="73152" marB="73152">
                    <a:solidFill>
                      <a:srgbClr val="FFFFFF"/>
                    </a:solidFill>
                  </a:tcPr>
                </a:tc>
                <a:tc>
                  <a:txBody>
                    <a:bodyPr/>
                    <a:lstStyle/>
                    <a:p>
                      <a:r>
                        <a:rPr sz="1250" b="1">
                          <a:solidFill>
                            <a:srgbClr val="0F172A"/>
                          </a:solidFill>
                          <a:latin typeface="Calibri"/>
                        </a:rPr>
                        <a:t>Single web app from story prompt to A4 PDF.</a:t>
                      </a:r>
                    </a:p>
                  </a:txBody>
                  <a:tcPr anchor="ctr" marL="146304" marR="146304" marT="73152" marB="73152">
                    <a:solidFill>
                      <a:srgbClr val="F0FDFA"/>
                    </a:solidFill>
                  </a:tcPr>
                </a:tc>
              </a:tr>
              <a:tr h="708660">
                <a:tc>
                  <a:txBody>
                    <a:bodyPr/>
                    <a:lstStyle/>
                    <a:p>
                      <a:r>
                        <a:rPr sz="1300" b="1">
                          <a:solidFill>
                            <a:srgbClr val="0F172A"/>
                          </a:solidFill>
                          <a:latin typeface="Calibri"/>
                        </a:rPr>
                        <a:t>AI Output</a:t>
                      </a:r>
                    </a:p>
                  </a:txBody>
                  <a:tcPr anchor="ctr" marL="146304" marR="146304" marT="73152" marB="73152">
                    <a:solidFill>
                      <a:srgbClr val="F1F5F9"/>
                    </a:solidFill>
                  </a:tcPr>
                </a:tc>
                <a:tc>
                  <a:txBody>
                    <a:bodyPr/>
                    <a:lstStyle/>
                    <a:p>
                      <a:r>
                        <a:rPr sz="1250">
                          <a:solidFill>
                            <a:srgbClr val="64748B"/>
                          </a:solidFill>
                          <a:latin typeface="Calibri"/>
                        </a:rPr>
                        <a:t>Plain text output that breaks parsers easily.</a:t>
                      </a:r>
                    </a:p>
                  </a:txBody>
                  <a:tcPr anchor="ctr" marL="146304" marR="146304" marT="73152" marB="73152">
                    <a:solidFill>
                      <a:srgbClr val="F8FAFC"/>
                    </a:solidFill>
                  </a:tcPr>
                </a:tc>
                <a:tc>
                  <a:txBody>
                    <a:bodyPr/>
                    <a:lstStyle/>
                    <a:p>
                      <a:r>
                        <a:rPr sz="1250" b="1">
                          <a:solidFill>
                            <a:srgbClr val="0F172A"/>
                          </a:solidFill>
                          <a:latin typeface="Calibri"/>
                        </a:rPr>
                        <a:t>Structured JSON output validated by Pydantic v2.</a:t>
                      </a:r>
                    </a:p>
                  </a:txBody>
                  <a:tcPr anchor="ctr" marL="146304" marR="146304" marT="73152" marB="73152">
                    <a:solidFill>
                      <a:srgbClr val="FFFFFF"/>
                    </a:solidFill>
                  </a:tcPr>
                </a:tc>
              </a:tr>
              <a:tr h="708660">
                <a:tc>
                  <a:txBody>
                    <a:bodyPr/>
                    <a:lstStyle/>
                    <a:p>
                      <a:r>
                        <a:rPr sz="1300" b="1">
                          <a:solidFill>
                            <a:srgbClr val="0F172A"/>
                          </a:solidFill>
                          <a:latin typeface="Calibri"/>
                        </a:rPr>
                        <a:t>Character Look</a:t>
                      </a:r>
                    </a:p>
                  </a:txBody>
                  <a:tcPr anchor="ctr" marL="146304" marR="146304" marT="73152" marB="73152">
                    <a:solidFill>
                      <a:srgbClr val="FFFFFF"/>
                    </a:solidFill>
                  </a:tcPr>
                </a:tc>
                <a:tc>
                  <a:txBody>
                    <a:bodyPr/>
                    <a:lstStyle/>
                    <a:p>
                      <a:r>
                        <a:rPr sz="1250">
                          <a:solidFill>
                            <a:srgbClr val="64748B"/>
                          </a:solidFill>
                          <a:latin typeface="Calibri"/>
                        </a:rPr>
                        <a:t>Character face and clothes change every panel.</a:t>
                      </a:r>
                    </a:p>
                  </a:txBody>
                  <a:tcPr anchor="ctr" marL="146304" marR="146304" marT="73152" marB="73152">
                    <a:solidFill>
                      <a:srgbClr val="FFFFFF"/>
                    </a:solidFill>
                  </a:tcPr>
                </a:tc>
                <a:tc>
                  <a:txBody>
                    <a:bodyPr/>
                    <a:lstStyle/>
                    <a:p>
                      <a:r>
                        <a:rPr sz="1250" b="1">
                          <a:solidFill>
                            <a:srgbClr val="0F172A"/>
                          </a:solidFill>
                          <a:latin typeface="Calibri"/>
                        </a:rPr>
                        <a:t>Fixed Character Bible repeated in every panel.</a:t>
                      </a:r>
                    </a:p>
                  </a:txBody>
                  <a:tcPr anchor="ctr" marL="146304" marR="146304" marT="73152" marB="73152">
                    <a:solidFill>
                      <a:srgbClr val="F0FDFA"/>
                    </a:solidFill>
                  </a:tcPr>
                </a:tc>
              </a:tr>
              <a:tr h="708660">
                <a:tc>
                  <a:txBody>
                    <a:bodyPr/>
                    <a:lstStyle/>
                    <a:p>
                      <a:r>
                        <a:rPr sz="1300" b="1">
                          <a:solidFill>
                            <a:srgbClr val="0F172A"/>
                          </a:solidFill>
                          <a:latin typeface="Calibri"/>
                        </a:rPr>
                        <a:t>Fault Tolerance</a:t>
                      </a:r>
                    </a:p>
                  </a:txBody>
                  <a:tcPr anchor="ctr" marL="146304" marR="146304" marT="73152" marB="73152">
                    <a:solidFill>
                      <a:srgbClr val="F1F5F9"/>
                    </a:solidFill>
                  </a:tcPr>
                </a:tc>
                <a:tc>
                  <a:txBody>
                    <a:bodyPr/>
                    <a:lstStyle/>
                    <a:p>
                      <a:r>
                        <a:rPr sz="1250">
                          <a:solidFill>
                            <a:srgbClr val="64748B"/>
                          </a:solidFill>
                          <a:latin typeface="Calibri"/>
                        </a:rPr>
                        <a:t>Crashes on API errors or without internet.</a:t>
                      </a:r>
                    </a:p>
                  </a:txBody>
                  <a:tcPr anchor="ctr" marL="146304" marR="146304" marT="73152" marB="73152">
                    <a:solidFill>
                      <a:srgbClr val="F8FAFC"/>
                    </a:solidFill>
                  </a:tcPr>
                </a:tc>
                <a:tc>
                  <a:txBody>
                    <a:bodyPr/>
                    <a:lstStyle/>
                    <a:p>
                      <a:r>
                        <a:rPr sz="1250" b="1">
                          <a:solidFill>
                            <a:srgbClr val="0F172A"/>
                          </a:solidFill>
                          <a:latin typeface="Calibri"/>
                        </a:rPr>
                        <a:t>Auto-retry + fallback models + Offline Demo Mode.</a:t>
                      </a:r>
                    </a:p>
                  </a:txBody>
                  <a:tcPr anchor="ctr" marL="146304" marR="146304" marT="73152" marB="73152">
                    <a:solidFill>
                      <a:srgbClr val="FFFFFF"/>
                    </a:solidFill>
                  </a:tcPr>
                </a:tc>
              </a:tr>
              <a:tr h="708660">
                <a:tc>
                  <a:txBody>
                    <a:bodyPr/>
                    <a:lstStyle/>
                    <a:p>
                      <a:r>
                        <a:rPr sz="1300" b="1">
                          <a:solidFill>
                            <a:srgbClr val="0F172A"/>
                          </a:solidFill>
                          <a:latin typeface="Calibri"/>
                        </a:rPr>
                        <a:t>Output &amp; Save</a:t>
                      </a:r>
                    </a:p>
                  </a:txBody>
                  <a:tcPr anchor="ctr" marL="146304" marR="146304" marT="73152" marB="73152">
                    <a:solidFill>
                      <a:srgbClr val="FFFFFF"/>
                    </a:solidFill>
                  </a:tcPr>
                </a:tc>
                <a:tc>
                  <a:txBody>
                    <a:bodyPr/>
                    <a:lstStyle/>
                    <a:p>
                      <a:r>
                        <a:rPr sz="1250">
                          <a:solidFill>
                            <a:srgbClr val="64748B"/>
                          </a:solidFill>
                          <a:latin typeface="Calibri"/>
                        </a:rPr>
                        <a:t>Manual PDF arrangement; files get overwritten.</a:t>
                      </a:r>
                    </a:p>
                  </a:txBody>
                  <a:tcPr anchor="ctr" marL="146304" marR="146304" marT="73152" marB="73152">
                    <a:solidFill>
                      <a:srgbClr val="FFFFFF"/>
                    </a:solidFill>
                  </a:tcPr>
                </a:tc>
                <a:tc>
                  <a:txBody>
                    <a:bodyPr/>
                    <a:lstStyle/>
                    <a:p>
                      <a:r>
                        <a:rPr sz="1250" b="1">
                          <a:solidFill>
                            <a:srgbClr val="0F172A"/>
                          </a:solidFill>
                          <a:latin typeface="Calibri"/>
                        </a:rPr>
                        <a:t>Auto A4 PDF + saved in unique UUID folders.</a:t>
                      </a:r>
                    </a:p>
                  </a:txBody>
                  <a:tcPr anchor="ctr" marL="146304" marR="146304" marT="73152" marB="73152">
                    <a:solidFill>
                      <a:srgbClr val="F0FDFA"/>
                    </a:solidFill>
                  </a:tcPr>
                </a:tc>
              </a:tr>
            </a:tbl>
          </a:graphicData>
        </a:graphic>
      </p:graphicFrame>
      <p:sp>
        <p:nvSpPr>
          <p:cNvPr id="11" name="Rounded Rectangle 10"/>
          <p:cNvSpPr/>
          <p:nvPr/>
        </p:nvSpPr>
        <p:spPr>
          <a:xfrm>
            <a:off x="548640" y="5705856"/>
            <a:ext cx="11091672" cy="585216"/>
          </a:xfrm>
          <a:prstGeom prst="roundRect">
            <a:avLst>
              <a:gd name="adj" fmla="val 4000"/>
            </a:avLst>
          </a:prstGeom>
          <a:solidFill>
            <a:srgbClr val="FFFBEB"/>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05856"/>
            <a:ext cx="10652760" cy="585216"/>
          </a:xfrm>
          <a:prstGeom prst="rect">
            <a:avLst/>
          </a:prstGeom>
          <a:noFill/>
        </p:spPr>
        <p:txBody>
          <a:bodyPr wrap="square" anchor="ctr" lIns="36576" rIns="36576" tIns="18288" bIns="18288">
            <a:spAutoFit/>
          </a:bodyPr>
          <a:lstStyle/>
          <a:p>
            <a:pPr algn="l"/>
            <a:r>
              <a:rPr sz="1300" b="1">
                <a:solidFill>
                  <a:srgbClr val="B45309"/>
                </a:solidFill>
                <a:latin typeface="Calibri"/>
              </a:rPr>
              <a:t>Core Advantage:  Combines AI story planning, consistent character prompts, and automatic PDF creation in one place.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0"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744200" y="274320"/>
            <a:ext cx="896112" cy="329184"/>
          </a:xfrm>
          <a:prstGeom prst="roundRect">
            <a:avLst>
              <a:gd name="adj" fmla="val 4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274320"/>
            <a:ext cx="896112" cy="329184"/>
          </a:xfrm>
          <a:prstGeom prst="rect">
            <a:avLst/>
          </a:prstGeom>
          <a:noFill/>
        </p:spPr>
        <p:txBody>
          <a:bodyPr wrap="square" anchor="ctr" lIns="36576" rIns="36576" tIns="18288" bIns="18288">
            <a:spAutoFit/>
          </a:bodyPr>
          <a:lstStyle/>
          <a:p>
            <a:pPr algn="ctr"/>
            <a:r>
              <a:rPr sz="1100" b="1">
                <a:solidFill>
                  <a:srgbClr val="F59E0B"/>
                </a:solidFill>
                <a:latin typeface="Calibri"/>
              </a:rPr>
              <a:t>05 / 10</a:t>
            </a:r>
          </a:p>
        </p:txBody>
      </p:sp>
      <p:sp>
        <p:nvSpPr>
          <p:cNvPr id="6" name="TextBox 5"/>
          <p:cNvSpPr txBox="1"/>
          <p:nvPr/>
        </p:nvSpPr>
        <p:spPr>
          <a:xfrm>
            <a:off x="548640" y="219456"/>
            <a:ext cx="9966960" cy="438912"/>
          </a:xfrm>
          <a:prstGeom prst="rect">
            <a:avLst/>
          </a:prstGeom>
          <a:noFill/>
        </p:spPr>
        <p:txBody>
          <a:bodyPr wrap="square" anchor="t" lIns="36576" rIns="36576" tIns="18288" bIns="18288">
            <a:spAutoFit/>
          </a:bodyPr>
          <a:lstStyle/>
          <a:p>
            <a:pPr algn="l"/>
            <a:r>
              <a:rPr sz="2500" b="1">
                <a:solidFill>
                  <a:srgbClr val="0F172A"/>
                </a:solidFill>
                <a:latin typeface="Calibri"/>
              </a:rPr>
              <a:t>Technology Stack &amp; Requirements</a:t>
            </a:r>
          </a:p>
        </p:txBody>
      </p:sp>
      <p:sp>
        <p:nvSpPr>
          <p:cNvPr id="7" name="TextBox 6"/>
          <p:cNvSpPr txBox="1"/>
          <p:nvPr/>
        </p:nvSpPr>
        <p:spPr>
          <a:xfrm>
            <a:off x="548640" y="658368"/>
            <a:ext cx="10058400" cy="292608"/>
          </a:xfrm>
          <a:prstGeom prst="rect">
            <a:avLst/>
          </a:prstGeom>
          <a:noFill/>
        </p:spPr>
        <p:txBody>
          <a:bodyPr wrap="square" anchor="t" lIns="36576" rIns="36576" tIns="18288" bIns="18288">
            <a:spAutoFit/>
          </a:bodyPr>
          <a:lstStyle/>
          <a:p>
            <a:pPr algn="l"/>
            <a:r>
              <a:rPr sz="1300" b="0">
                <a:solidFill>
                  <a:srgbClr val="64748B"/>
                </a:solidFill>
                <a:latin typeface="Calibri"/>
              </a:rPr>
              <a:t>Tools, libraries, and basic system specifications used to build ComicCraft</a:t>
            </a:r>
          </a:p>
        </p:txBody>
      </p:sp>
      <p:sp>
        <p:nvSpPr>
          <p:cNvPr id="8" name="Rectangle 7"/>
          <p:cNvSpPr/>
          <p:nvPr/>
        </p:nvSpPr>
        <p:spPr>
          <a:xfrm>
            <a:off x="548640" y="987552"/>
            <a:ext cx="11094415" cy="16459"/>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510528"/>
            <a:ext cx="7315200" cy="228600"/>
          </a:xfrm>
          <a:prstGeom prst="rect">
            <a:avLst/>
          </a:prstGeom>
          <a:noFill/>
        </p:spPr>
        <p:txBody>
          <a:bodyPr wrap="square" anchor="t" lIns="36576" rIns="36576" tIns="18288" bIns="18288">
            <a:spAutoFit/>
          </a:bodyPr>
          <a:lstStyle/>
          <a:p>
            <a:pPr algn="l"/>
            <a:r>
              <a:rPr sz="950" b="0">
                <a:solidFill>
                  <a:srgbClr val="64748B"/>
                </a:solidFill>
                <a:latin typeface="Calibri"/>
              </a:rPr>
              <a:t>ComicCraft — AI Comic Story Creator</a:t>
            </a:r>
          </a:p>
        </p:txBody>
      </p:sp>
      <p:sp>
        <p:nvSpPr>
          <p:cNvPr id="10" name="Rounded Rectangle 9"/>
          <p:cNvSpPr/>
          <p:nvPr/>
        </p:nvSpPr>
        <p:spPr>
          <a:xfrm>
            <a:off x="548640" y="1225296"/>
            <a:ext cx="3529584" cy="1938528"/>
          </a:xfrm>
          <a:prstGeom prst="roundRect">
            <a:avLst>
              <a:gd name="adj" fmla="val 4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225296"/>
            <a:ext cx="3529584" cy="8229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1426464"/>
            <a:ext cx="3127248" cy="256032"/>
          </a:xfrm>
          <a:prstGeom prst="rect">
            <a:avLst/>
          </a:prstGeom>
          <a:noFill/>
        </p:spPr>
        <p:txBody>
          <a:bodyPr wrap="square" anchor="t" lIns="36576" rIns="36576" tIns="18288" bIns="18288">
            <a:spAutoFit/>
          </a:bodyPr>
          <a:lstStyle/>
          <a:p>
            <a:pPr algn="l"/>
            <a:r>
              <a:rPr sz="1100" b="1">
                <a:solidFill>
                  <a:srgbClr val="2563EB"/>
                </a:solidFill>
                <a:latin typeface="Calibri"/>
              </a:rPr>
              <a:t>BACKEND</a:t>
            </a:r>
          </a:p>
        </p:txBody>
      </p:sp>
      <p:sp>
        <p:nvSpPr>
          <p:cNvPr id="13" name="TextBox 12"/>
          <p:cNvSpPr txBox="1"/>
          <p:nvPr/>
        </p:nvSpPr>
        <p:spPr>
          <a:xfrm>
            <a:off x="749808" y="1700784"/>
            <a:ext cx="3127248" cy="329184"/>
          </a:xfrm>
          <a:prstGeom prst="rect">
            <a:avLst/>
          </a:prstGeom>
          <a:noFill/>
        </p:spPr>
        <p:txBody>
          <a:bodyPr wrap="square" anchor="t" lIns="36576" rIns="36576" tIns="18288" bIns="18288">
            <a:spAutoFit/>
          </a:bodyPr>
          <a:lstStyle/>
          <a:p>
            <a:pPr algn="l"/>
            <a:r>
              <a:rPr sz="1250" b="1">
                <a:solidFill>
                  <a:srgbClr val="0F172A"/>
                </a:solidFill>
                <a:latin typeface="Calibri"/>
              </a:rPr>
              <a:t>Python 3.11+ · FastAPI · Uvicorn</a:t>
            </a:r>
          </a:p>
        </p:txBody>
      </p:sp>
      <p:sp>
        <p:nvSpPr>
          <p:cNvPr id="14" name="TextBox 13"/>
          <p:cNvSpPr txBox="1"/>
          <p:nvPr/>
        </p:nvSpPr>
        <p:spPr>
          <a:xfrm>
            <a:off x="749808" y="2084832"/>
            <a:ext cx="3127248" cy="914400"/>
          </a:xfrm>
          <a:prstGeom prst="rect">
            <a:avLst/>
          </a:prstGeom>
          <a:noFill/>
        </p:spPr>
        <p:txBody>
          <a:bodyPr wrap="square" anchor="t" lIns="36576" rIns="36576" tIns="18288" bIns="18288">
            <a:spAutoFit/>
          </a:bodyPr>
          <a:lstStyle/>
          <a:p>
            <a:pPr algn="l"/>
            <a:r>
              <a:rPr sz="1200" b="0">
                <a:solidFill>
                  <a:srgbClr val="334155"/>
                </a:solidFill>
                <a:latin typeface="Calibri"/>
              </a:rPr>
              <a:t>Handles web routes, REST JSON endpoints, and interactive API docs (/docs).</a:t>
            </a:r>
          </a:p>
        </p:txBody>
      </p:sp>
      <p:sp>
        <p:nvSpPr>
          <p:cNvPr id="15" name="Rounded Rectangle 14"/>
          <p:cNvSpPr/>
          <p:nvPr/>
        </p:nvSpPr>
        <p:spPr>
          <a:xfrm>
            <a:off x="4325112" y="1225296"/>
            <a:ext cx="3529584" cy="1938528"/>
          </a:xfrm>
          <a:prstGeom prst="roundRect">
            <a:avLst>
              <a:gd name="adj" fmla="val 4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25112" y="1225296"/>
            <a:ext cx="3529584" cy="822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79" y="1426464"/>
            <a:ext cx="3127248" cy="256032"/>
          </a:xfrm>
          <a:prstGeom prst="rect">
            <a:avLst/>
          </a:prstGeom>
          <a:noFill/>
        </p:spPr>
        <p:txBody>
          <a:bodyPr wrap="square" anchor="t" lIns="36576" rIns="36576" tIns="18288" bIns="18288">
            <a:spAutoFit/>
          </a:bodyPr>
          <a:lstStyle/>
          <a:p>
            <a:pPr algn="l"/>
            <a:r>
              <a:rPr sz="1100" b="1">
                <a:solidFill>
                  <a:srgbClr val="0D9488"/>
                </a:solidFill>
                <a:latin typeface="Calibri"/>
              </a:rPr>
              <a:t>VALIDATION</a:t>
            </a:r>
          </a:p>
        </p:txBody>
      </p:sp>
      <p:sp>
        <p:nvSpPr>
          <p:cNvPr id="18" name="TextBox 17"/>
          <p:cNvSpPr txBox="1"/>
          <p:nvPr/>
        </p:nvSpPr>
        <p:spPr>
          <a:xfrm>
            <a:off x="4526279" y="1700784"/>
            <a:ext cx="3127248" cy="329184"/>
          </a:xfrm>
          <a:prstGeom prst="rect">
            <a:avLst/>
          </a:prstGeom>
          <a:noFill/>
        </p:spPr>
        <p:txBody>
          <a:bodyPr wrap="square" anchor="t" lIns="36576" rIns="36576" tIns="18288" bIns="18288">
            <a:spAutoFit/>
          </a:bodyPr>
          <a:lstStyle/>
          <a:p>
            <a:pPr algn="l"/>
            <a:r>
              <a:rPr sz="1250" b="1">
                <a:solidFill>
                  <a:srgbClr val="0F172A"/>
                </a:solidFill>
                <a:latin typeface="Calibri"/>
              </a:rPr>
              <a:t>Pydantic v2 · .env Settings</a:t>
            </a:r>
          </a:p>
        </p:txBody>
      </p:sp>
      <p:sp>
        <p:nvSpPr>
          <p:cNvPr id="19" name="TextBox 18"/>
          <p:cNvSpPr txBox="1"/>
          <p:nvPr/>
        </p:nvSpPr>
        <p:spPr>
          <a:xfrm>
            <a:off x="4526279" y="2084832"/>
            <a:ext cx="3127248" cy="914400"/>
          </a:xfrm>
          <a:prstGeom prst="rect">
            <a:avLst/>
          </a:prstGeom>
          <a:noFill/>
        </p:spPr>
        <p:txBody>
          <a:bodyPr wrap="square" anchor="t" lIns="36576" rIns="36576" tIns="18288" bIns="18288">
            <a:spAutoFit/>
          </a:bodyPr>
          <a:lstStyle/>
          <a:p>
            <a:pPr algn="l"/>
            <a:r>
              <a:rPr sz="1200" b="0">
                <a:solidFill>
                  <a:srgbClr val="334155"/>
                </a:solidFill>
                <a:latin typeface="Calibri"/>
              </a:rPr>
              <a:t>Validates form inputs, AI JSON structure, and protects API keys safely.</a:t>
            </a:r>
          </a:p>
        </p:txBody>
      </p:sp>
      <p:sp>
        <p:nvSpPr>
          <p:cNvPr id="20" name="Rounded Rectangle 19"/>
          <p:cNvSpPr/>
          <p:nvPr/>
        </p:nvSpPr>
        <p:spPr>
          <a:xfrm>
            <a:off x="8101583" y="1225296"/>
            <a:ext cx="3529584" cy="1938528"/>
          </a:xfrm>
          <a:prstGeom prst="roundRect">
            <a:avLst>
              <a:gd name="adj" fmla="val 4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01583" y="1225296"/>
            <a:ext cx="3529584" cy="82296"/>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02752" y="1426464"/>
            <a:ext cx="3127248" cy="256032"/>
          </a:xfrm>
          <a:prstGeom prst="rect">
            <a:avLst/>
          </a:prstGeom>
          <a:noFill/>
        </p:spPr>
        <p:txBody>
          <a:bodyPr wrap="square" anchor="t" lIns="36576" rIns="36576" tIns="18288" bIns="18288">
            <a:spAutoFit/>
          </a:bodyPr>
          <a:lstStyle/>
          <a:p>
            <a:pPr algn="l"/>
            <a:r>
              <a:rPr sz="1100" b="1">
                <a:solidFill>
                  <a:srgbClr val="4F46E5"/>
                </a:solidFill>
                <a:latin typeface="Calibri"/>
              </a:rPr>
              <a:t>AI STORY</a:t>
            </a:r>
          </a:p>
        </p:txBody>
      </p:sp>
      <p:sp>
        <p:nvSpPr>
          <p:cNvPr id="23" name="TextBox 22"/>
          <p:cNvSpPr txBox="1"/>
          <p:nvPr/>
        </p:nvSpPr>
        <p:spPr>
          <a:xfrm>
            <a:off x="8302752" y="1700784"/>
            <a:ext cx="3127248" cy="329184"/>
          </a:xfrm>
          <a:prstGeom prst="rect">
            <a:avLst/>
          </a:prstGeom>
          <a:noFill/>
        </p:spPr>
        <p:txBody>
          <a:bodyPr wrap="square" anchor="t" lIns="36576" rIns="36576" tIns="18288" bIns="18288">
            <a:spAutoFit/>
          </a:bodyPr>
          <a:lstStyle/>
          <a:p>
            <a:pPr algn="l"/>
            <a:r>
              <a:rPr sz="1250" b="1">
                <a:solidFill>
                  <a:srgbClr val="0F172A"/>
                </a:solidFill>
                <a:latin typeface="Calibri"/>
              </a:rPr>
              <a:t>Google Gemini API (google-genai)</a:t>
            </a:r>
          </a:p>
        </p:txBody>
      </p:sp>
      <p:sp>
        <p:nvSpPr>
          <p:cNvPr id="24" name="TextBox 23"/>
          <p:cNvSpPr txBox="1"/>
          <p:nvPr/>
        </p:nvSpPr>
        <p:spPr>
          <a:xfrm>
            <a:off x="8302752" y="2084832"/>
            <a:ext cx="3127248" cy="914400"/>
          </a:xfrm>
          <a:prstGeom prst="rect">
            <a:avLst/>
          </a:prstGeom>
          <a:noFill/>
        </p:spPr>
        <p:txBody>
          <a:bodyPr wrap="square" anchor="t" lIns="36576" rIns="36576" tIns="18288" bIns="18288">
            <a:spAutoFit/>
          </a:bodyPr>
          <a:lstStyle/>
          <a:p>
            <a:pPr algn="l"/>
            <a:r>
              <a:rPr sz="1200" b="0">
                <a:solidFill>
                  <a:srgbClr val="334155"/>
                </a:solidFill>
                <a:latin typeface="Calibri"/>
              </a:rPr>
              <a:t>Generates structured JSON story outlines and full panel scripts in two stages.</a:t>
            </a:r>
          </a:p>
        </p:txBody>
      </p:sp>
      <p:sp>
        <p:nvSpPr>
          <p:cNvPr id="25" name="Rounded Rectangle 24"/>
          <p:cNvSpPr/>
          <p:nvPr/>
        </p:nvSpPr>
        <p:spPr>
          <a:xfrm>
            <a:off x="548640" y="3401568"/>
            <a:ext cx="3529584" cy="1938528"/>
          </a:xfrm>
          <a:prstGeom prst="roundRect">
            <a:avLst>
              <a:gd name="adj" fmla="val 4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3401568"/>
            <a:ext cx="3529584" cy="82296"/>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3602736"/>
            <a:ext cx="3127248" cy="256032"/>
          </a:xfrm>
          <a:prstGeom prst="rect">
            <a:avLst/>
          </a:prstGeom>
          <a:noFill/>
        </p:spPr>
        <p:txBody>
          <a:bodyPr wrap="square" anchor="t" lIns="36576" rIns="36576" tIns="18288" bIns="18288">
            <a:spAutoFit/>
          </a:bodyPr>
          <a:lstStyle/>
          <a:p>
            <a:pPr algn="l"/>
            <a:r>
              <a:rPr sz="1100" b="1">
                <a:solidFill>
                  <a:srgbClr val="F59E0B"/>
                </a:solidFill>
                <a:latin typeface="Calibri"/>
              </a:rPr>
              <a:t>PANEL ARTWORK</a:t>
            </a:r>
          </a:p>
        </p:txBody>
      </p:sp>
      <p:sp>
        <p:nvSpPr>
          <p:cNvPr id="28" name="TextBox 27"/>
          <p:cNvSpPr txBox="1"/>
          <p:nvPr/>
        </p:nvSpPr>
        <p:spPr>
          <a:xfrm>
            <a:off x="749808" y="3877056"/>
            <a:ext cx="3127248" cy="329184"/>
          </a:xfrm>
          <a:prstGeom prst="rect">
            <a:avLst/>
          </a:prstGeom>
          <a:noFill/>
        </p:spPr>
        <p:txBody>
          <a:bodyPr wrap="square" anchor="t" lIns="36576" rIns="36576" tIns="18288" bIns="18288">
            <a:spAutoFit/>
          </a:bodyPr>
          <a:lstStyle/>
          <a:p>
            <a:pPr algn="l"/>
            <a:r>
              <a:rPr sz="1250" b="1">
                <a:solidFill>
                  <a:srgbClr val="0F172A"/>
                </a:solidFill>
                <a:latin typeface="Calibri"/>
              </a:rPr>
              <a:t>Pillow · Hugging Face · Diffusers</a:t>
            </a:r>
          </a:p>
        </p:txBody>
      </p:sp>
      <p:sp>
        <p:nvSpPr>
          <p:cNvPr id="29" name="TextBox 28"/>
          <p:cNvSpPr txBox="1"/>
          <p:nvPr/>
        </p:nvSpPr>
        <p:spPr>
          <a:xfrm>
            <a:off x="749808" y="4261104"/>
            <a:ext cx="3127248" cy="914400"/>
          </a:xfrm>
          <a:prstGeom prst="rect">
            <a:avLst/>
          </a:prstGeom>
          <a:noFill/>
        </p:spPr>
        <p:txBody>
          <a:bodyPr wrap="square" anchor="t" lIns="36576" rIns="36576" tIns="18288" bIns="18288">
            <a:spAutoFit/>
          </a:bodyPr>
          <a:lstStyle/>
          <a:p>
            <a:pPr algn="l"/>
            <a:r>
              <a:rPr sz="1200" b="0">
                <a:solidFill>
                  <a:srgbClr val="334155"/>
                </a:solidFill>
                <a:latin typeface="Calibri"/>
              </a:rPr>
              <a:t>Creates local Placeholder PNGs, Cloud SDXL images, or Local Stable Diffusion art.</a:t>
            </a:r>
          </a:p>
        </p:txBody>
      </p:sp>
      <p:sp>
        <p:nvSpPr>
          <p:cNvPr id="30" name="Rounded Rectangle 29"/>
          <p:cNvSpPr/>
          <p:nvPr/>
        </p:nvSpPr>
        <p:spPr>
          <a:xfrm>
            <a:off x="4325112" y="3401568"/>
            <a:ext cx="3529584" cy="1938528"/>
          </a:xfrm>
          <a:prstGeom prst="roundRect">
            <a:avLst>
              <a:gd name="adj" fmla="val 4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25112" y="3401568"/>
            <a:ext cx="3529584" cy="82296"/>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26279" y="3602736"/>
            <a:ext cx="3127248" cy="256032"/>
          </a:xfrm>
          <a:prstGeom prst="rect">
            <a:avLst/>
          </a:prstGeom>
          <a:noFill/>
        </p:spPr>
        <p:txBody>
          <a:bodyPr wrap="square" anchor="t" lIns="36576" rIns="36576" tIns="18288" bIns="18288">
            <a:spAutoFit/>
          </a:bodyPr>
          <a:lstStyle/>
          <a:p>
            <a:pPr algn="l"/>
            <a:r>
              <a:rPr sz="1100" b="1">
                <a:solidFill>
                  <a:srgbClr val="E11D48"/>
                </a:solidFill>
                <a:latin typeface="Calibri"/>
              </a:rPr>
              <a:t>FRONTEND UI</a:t>
            </a:r>
          </a:p>
        </p:txBody>
      </p:sp>
      <p:sp>
        <p:nvSpPr>
          <p:cNvPr id="33" name="TextBox 32"/>
          <p:cNvSpPr txBox="1"/>
          <p:nvPr/>
        </p:nvSpPr>
        <p:spPr>
          <a:xfrm>
            <a:off x="4526279" y="3877056"/>
            <a:ext cx="3127248" cy="329184"/>
          </a:xfrm>
          <a:prstGeom prst="rect">
            <a:avLst/>
          </a:prstGeom>
          <a:noFill/>
        </p:spPr>
        <p:txBody>
          <a:bodyPr wrap="square" anchor="t" lIns="36576" rIns="36576" tIns="18288" bIns="18288">
            <a:spAutoFit/>
          </a:bodyPr>
          <a:lstStyle/>
          <a:p>
            <a:pPr algn="l"/>
            <a:r>
              <a:rPr sz="1250" b="1">
                <a:solidFill>
                  <a:srgbClr val="0F172A"/>
                </a:solidFill>
                <a:latin typeface="Calibri"/>
              </a:rPr>
              <a:t>HTML5 · CSS3 · JS · Jinja2</a:t>
            </a:r>
          </a:p>
        </p:txBody>
      </p:sp>
      <p:sp>
        <p:nvSpPr>
          <p:cNvPr id="34" name="TextBox 33"/>
          <p:cNvSpPr txBox="1"/>
          <p:nvPr/>
        </p:nvSpPr>
        <p:spPr>
          <a:xfrm>
            <a:off x="4526279" y="4261104"/>
            <a:ext cx="3127248" cy="914400"/>
          </a:xfrm>
          <a:prstGeom prst="rect">
            <a:avLst/>
          </a:prstGeom>
          <a:noFill/>
        </p:spPr>
        <p:txBody>
          <a:bodyPr wrap="square" anchor="t" lIns="36576" rIns="36576" tIns="18288" bIns="18288">
            <a:spAutoFit/>
          </a:bodyPr>
          <a:lstStyle/>
          <a:p>
            <a:pPr algn="l"/>
            <a:r>
              <a:rPr sz="1200" b="0">
                <a:solidFill>
                  <a:srgbClr val="334155"/>
                </a:solidFill>
                <a:latin typeface="Calibri"/>
              </a:rPr>
              <a:t>Clean responsive creation form, loading overlay, and comic panel preview.</a:t>
            </a:r>
          </a:p>
        </p:txBody>
      </p:sp>
      <p:sp>
        <p:nvSpPr>
          <p:cNvPr id="35" name="Rounded Rectangle 34"/>
          <p:cNvSpPr/>
          <p:nvPr/>
        </p:nvSpPr>
        <p:spPr>
          <a:xfrm>
            <a:off x="8101583" y="3401568"/>
            <a:ext cx="3529584" cy="1938528"/>
          </a:xfrm>
          <a:prstGeom prst="roundRect">
            <a:avLst>
              <a:gd name="adj" fmla="val 4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01583" y="3401568"/>
            <a:ext cx="3529584" cy="82296"/>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02752" y="3602736"/>
            <a:ext cx="3127248" cy="256032"/>
          </a:xfrm>
          <a:prstGeom prst="rect">
            <a:avLst/>
          </a:prstGeom>
          <a:noFill/>
        </p:spPr>
        <p:txBody>
          <a:bodyPr wrap="square" anchor="t" lIns="36576" rIns="36576" tIns="18288" bIns="18288">
            <a:spAutoFit/>
          </a:bodyPr>
          <a:lstStyle/>
          <a:p>
            <a:pPr algn="l"/>
            <a:r>
              <a:rPr sz="1100" b="1">
                <a:solidFill>
                  <a:srgbClr val="0F172A"/>
                </a:solidFill>
                <a:latin typeface="Calibri"/>
              </a:rPr>
              <a:t>PDF &amp; STORAGE</a:t>
            </a:r>
          </a:p>
        </p:txBody>
      </p:sp>
      <p:sp>
        <p:nvSpPr>
          <p:cNvPr id="38" name="TextBox 37"/>
          <p:cNvSpPr txBox="1"/>
          <p:nvPr/>
        </p:nvSpPr>
        <p:spPr>
          <a:xfrm>
            <a:off x="8302752" y="3877056"/>
            <a:ext cx="3127248" cy="329184"/>
          </a:xfrm>
          <a:prstGeom prst="rect">
            <a:avLst/>
          </a:prstGeom>
          <a:noFill/>
        </p:spPr>
        <p:txBody>
          <a:bodyPr wrap="square" anchor="t" lIns="36576" rIns="36576" tIns="18288" bIns="18288">
            <a:spAutoFit/>
          </a:bodyPr>
          <a:lstStyle/>
          <a:p>
            <a:pPr algn="l"/>
            <a:r>
              <a:rPr sz="1250" b="1">
                <a:solidFill>
                  <a:srgbClr val="0F172A"/>
                </a:solidFill>
                <a:latin typeface="Calibri"/>
              </a:rPr>
              <a:t>fpdf2 · DejaVu Fonts · UUID Storage</a:t>
            </a:r>
          </a:p>
        </p:txBody>
      </p:sp>
      <p:sp>
        <p:nvSpPr>
          <p:cNvPr id="39" name="TextBox 38"/>
          <p:cNvSpPr txBox="1"/>
          <p:nvPr/>
        </p:nvSpPr>
        <p:spPr>
          <a:xfrm>
            <a:off x="8302752" y="4261104"/>
            <a:ext cx="3127248" cy="914400"/>
          </a:xfrm>
          <a:prstGeom prst="rect">
            <a:avLst/>
          </a:prstGeom>
          <a:noFill/>
        </p:spPr>
        <p:txBody>
          <a:bodyPr wrap="square" anchor="t" lIns="36576" rIns="36576" tIns="18288" bIns="18288">
            <a:spAutoFit/>
          </a:bodyPr>
          <a:lstStyle/>
          <a:p>
            <a:pPr algn="l"/>
            <a:r>
              <a:rPr sz="1200" b="0">
                <a:solidFill>
                  <a:srgbClr val="334155"/>
                </a:solidFill>
                <a:latin typeface="Calibri"/>
              </a:rPr>
              <a:t>Exports Unicode A4 PDFs and saves each comic in its own local UUID folder.</a:t>
            </a:r>
          </a:p>
        </p:txBody>
      </p:sp>
      <p:sp>
        <p:nvSpPr>
          <p:cNvPr id="40" name="Rounded Rectangle 39"/>
          <p:cNvSpPr/>
          <p:nvPr/>
        </p:nvSpPr>
        <p:spPr>
          <a:xfrm>
            <a:off x="548640" y="5559552"/>
            <a:ext cx="11091672" cy="731520"/>
          </a:xfrm>
          <a:prstGeom prst="roundRect">
            <a:avLst>
              <a:gd name="adj" fmla="val 4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4672" y="5632704"/>
            <a:ext cx="10607040" cy="256032"/>
          </a:xfrm>
          <a:prstGeom prst="rect">
            <a:avLst/>
          </a:prstGeom>
          <a:noFill/>
        </p:spPr>
        <p:txBody>
          <a:bodyPr wrap="square" anchor="t" lIns="36576" rIns="36576" tIns="18288" bIns="18288">
            <a:spAutoFit/>
          </a:bodyPr>
          <a:lstStyle/>
          <a:p>
            <a:pPr algn="l"/>
            <a:r>
              <a:rPr sz="1100" b="1">
                <a:solidFill>
                  <a:srgbClr val="F59E0B"/>
                </a:solidFill>
                <a:latin typeface="Calibri"/>
              </a:rPr>
              <a:t>MINIMUM SYSTEM REQUIREMENTS</a:t>
            </a:r>
          </a:p>
        </p:txBody>
      </p:sp>
      <p:sp>
        <p:nvSpPr>
          <p:cNvPr id="42" name="TextBox 41"/>
          <p:cNvSpPr txBox="1"/>
          <p:nvPr/>
        </p:nvSpPr>
        <p:spPr>
          <a:xfrm>
            <a:off x="804672" y="5897880"/>
            <a:ext cx="10607040" cy="292608"/>
          </a:xfrm>
          <a:prstGeom prst="rect">
            <a:avLst/>
          </a:prstGeom>
          <a:noFill/>
        </p:spPr>
        <p:txBody>
          <a:bodyPr wrap="square" anchor="t" lIns="36576" rIns="36576" tIns="18288" bIns="18288">
            <a:spAutoFit/>
          </a:bodyPr>
          <a:lstStyle/>
          <a:p>
            <a:pPr algn="l"/>
            <a:r>
              <a:rPr sz="1200" b="0">
                <a:solidFill>
                  <a:srgbClr val="FFFFFF"/>
                </a:solidFill>
                <a:latin typeface="Calibri"/>
              </a:rPr>
              <a:t>Python 3.11+   •   Modern Web Browser   •   4 GB RAM   •   250 MB Disk Space   •   No GPU or External Database Required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0" cy="7315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744200" y="274320"/>
            <a:ext cx="896112" cy="329184"/>
          </a:xfrm>
          <a:prstGeom prst="roundRect">
            <a:avLst>
              <a:gd name="adj" fmla="val 4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274320"/>
            <a:ext cx="896112" cy="329184"/>
          </a:xfrm>
          <a:prstGeom prst="rect">
            <a:avLst/>
          </a:prstGeom>
          <a:noFill/>
        </p:spPr>
        <p:txBody>
          <a:bodyPr wrap="square" anchor="ctr" lIns="36576" rIns="36576" tIns="18288" bIns="18288">
            <a:spAutoFit/>
          </a:bodyPr>
          <a:lstStyle/>
          <a:p>
            <a:pPr algn="ctr"/>
            <a:r>
              <a:rPr sz="1100" b="1">
                <a:solidFill>
                  <a:srgbClr val="F59E0B"/>
                </a:solidFill>
                <a:latin typeface="Calibri"/>
              </a:rPr>
              <a:t>06 / 10</a:t>
            </a:r>
          </a:p>
        </p:txBody>
      </p:sp>
      <p:sp>
        <p:nvSpPr>
          <p:cNvPr id="6" name="TextBox 5"/>
          <p:cNvSpPr txBox="1"/>
          <p:nvPr/>
        </p:nvSpPr>
        <p:spPr>
          <a:xfrm>
            <a:off x="548640" y="219456"/>
            <a:ext cx="9966960" cy="438912"/>
          </a:xfrm>
          <a:prstGeom prst="rect">
            <a:avLst/>
          </a:prstGeom>
          <a:noFill/>
        </p:spPr>
        <p:txBody>
          <a:bodyPr wrap="square" anchor="t" lIns="36576" rIns="36576" tIns="18288" bIns="18288">
            <a:spAutoFit/>
          </a:bodyPr>
          <a:lstStyle/>
          <a:p>
            <a:pPr algn="l"/>
            <a:r>
              <a:rPr sz="2500" b="1">
                <a:solidFill>
                  <a:srgbClr val="0F172A"/>
                </a:solidFill>
                <a:latin typeface="Calibri"/>
              </a:rPr>
              <a:t>System Architecture</a:t>
            </a:r>
          </a:p>
        </p:txBody>
      </p:sp>
      <p:sp>
        <p:nvSpPr>
          <p:cNvPr id="7" name="TextBox 6"/>
          <p:cNvSpPr txBox="1"/>
          <p:nvPr/>
        </p:nvSpPr>
        <p:spPr>
          <a:xfrm>
            <a:off x="548640" y="658368"/>
            <a:ext cx="10058400" cy="292608"/>
          </a:xfrm>
          <a:prstGeom prst="rect">
            <a:avLst/>
          </a:prstGeom>
          <a:noFill/>
        </p:spPr>
        <p:txBody>
          <a:bodyPr wrap="square" anchor="t" lIns="36576" rIns="36576" tIns="18288" bIns="18288">
            <a:spAutoFit/>
          </a:bodyPr>
          <a:lstStyle/>
          <a:p>
            <a:pPr algn="l"/>
            <a:r>
              <a:rPr sz="1300" b="0">
                <a:solidFill>
                  <a:srgbClr val="64748B"/>
                </a:solidFill>
                <a:latin typeface="Calibri"/>
              </a:rPr>
              <a:t>Clean modular flow from user input to web preview and A4 PDF file</a:t>
            </a:r>
          </a:p>
        </p:txBody>
      </p:sp>
      <p:sp>
        <p:nvSpPr>
          <p:cNvPr id="8" name="Rectangle 7"/>
          <p:cNvSpPr/>
          <p:nvPr/>
        </p:nvSpPr>
        <p:spPr>
          <a:xfrm>
            <a:off x="548640" y="987552"/>
            <a:ext cx="11094415" cy="16459"/>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510528"/>
            <a:ext cx="7315200" cy="228600"/>
          </a:xfrm>
          <a:prstGeom prst="rect">
            <a:avLst/>
          </a:prstGeom>
          <a:noFill/>
        </p:spPr>
        <p:txBody>
          <a:bodyPr wrap="square" anchor="t" lIns="36576" rIns="36576" tIns="18288" bIns="18288">
            <a:spAutoFit/>
          </a:bodyPr>
          <a:lstStyle/>
          <a:p>
            <a:pPr algn="l"/>
            <a:r>
              <a:rPr sz="950" b="0">
                <a:solidFill>
                  <a:srgbClr val="64748B"/>
                </a:solidFill>
                <a:latin typeface="Calibri"/>
              </a:rPr>
              <a:t>ComicCraft — AI Comic Story Creator</a:t>
            </a:r>
          </a:p>
        </p:txBody>
      </p:sp>
      <p:sp>
        <p:nvSpPr>
          <p:cNvPr id="10" name="Rounded Rectangle 9"/>
          <p:cNvSpPr/>
          <p:nvPr/>
        </p:nvSpPr>
        <p:spPr>
          <a:xfrm>
            <a:off x="548640" y="1207008"/>
            <a:ext cx="3547872" cy="749808"/>
          </a:xfrm>
          <a:prstGeom prst="roundRect">
            <a:avLst>
              <a:gd name="adj" fmla="val 4000"/>
            </a:avLst>
          </a:prstGeom>
          <a:solidFill>
            <a:srgbClr val="EFF6FF"/>
          </a:solidFill>
          <a:ln w="1397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1280160"/>
            <a:ext cx="3291840" cy="292608"/>
          </a:xfrm>
          <a:prstGeom prst="rect">
            <a:avLst/>
          </a:prstGeom>
          <a:noFill/>
        </p:spPr>
        <p:txBody>
          <a:bodyPr wrap="square" anchor="t" lIns="36576" rIns="36576" tIns="18288" bIns="18288">
            <a:spAutoFit/>
          </a:bodyPr>
          <a:lstStyle/>
          <a:p>
            <a:pPr algn="ctr"/>
            <a:r>
              <a:rPr sz="1300" b="1">
                <a:solidFill>
                  <a:srgbClr val="2563EB"/>
                </a:solidFill>
                <a:latin typeface="Calibri"/>
              </a:rPr>
              <a:t>Web Browser UI</a:t>
            </a:r>
          </a:p>
        </p:txBody>
      </p:sp>
      <p:sp>
        <p:nvSpPr>
          <p:cNvPr id="12" name="TextBox 11"/>
          <p:cNvSpPr txBox="1"/>
          <p:nvPr/>
        </p:nvSpPr>
        <p:spPr>
          <a:xfrm>
            <a:off x="676656" y="1572768"/>
            <a:ext cx="3291840" cy="292608"/>
          </a:xfrm>
          <a:prstGeom prst="rect">
            <a:avLst/>
          </a:prstGeom>
          <a:noFill/>
        </p:spPr>
        <p:txBody>
          <a:bodyPr wrap="square" anchor="t" lIns="36576" rIns="36576" tIns="18288" bIns="18288">
            <a:spAutoFit/>
          </a:bodyPr>
          <a:lstStyle/>
          <a:p>
            <a:pPr algn="ctr"/>
            <a:r>
              <a:rPr sz="1100" b="0">
                <a:solidFill>
                  <a:srgbClr val="334155"/>
                </a:solidFill>
                <a:latin typeface="Calibri"/>
              </a:rPr>
              <a:t>Story Form &amp; Comic Preview</a:t>
            </a:r>
          </a:p>
        </p:txBody>
      </p:sp>
      <p:sp>
        <p:nvSpPr>
          <p:cNvPr id="13" name="TextBox 12"/>
          <p:cNvSpPr txBox="1"/>
          <p:nvPr/>
        </p:nvSpPr>
        <p:spPr>
          <a:xfrm>
            <a:off x="2139696" y="1947672"/>
            <a:ext cx="365760" cy="256032"/>
          </a:xfrm>
          <a:prstGeom prst="rect">
            <a:avLst/>
          </a:prstGeom>
          <a:noFill/>
        </p:spPr>
        <p:txBody>
          <a:bodyPr wrap="square" anchor="t" lIns="36576" rIns="36576" tIns="18288" bIns="18288">
            <a:spAutoFit/>
          </a:bodyPr>
          <a:lstStyle/>
          <a:p>
            <a:pPr algn="ctr"/>
            <a:r>
              <a:rPr sz="1200" b="1">
                <a:solidFill>
                  <a:srgbClr val="0F172A"/>
                </a:solidFill>
                <a:latin typeface="Calibri"/>
              </a:rPr>
              <a:t>▼</a:t>
            </a:r>
          </a:p>
        </p:txBody>
      </p:sp>
      <p:sp>
        <p:nvSpPr>
          <p:cNvPr id="14" name="Rounded Rectangle 13"/>
          <p:cNvSpPr/>
          <p:nvPr/>
        </p:nvSpPr>
        <p:spPr>
          <a:xfrm>
            <a:off x="4320540" y="1207008"/>
            <a:ext cx="3547872" cy="749808"/>
          </a:xfrm>
          <a:prstGeom prst="roundRect">
            <a:avLst>
              <a:gd name="adj" fmla="val 4000"/>
            </a:avLst>
          </a:prstGeom>
          <a:solidFill>
            <a:srgbClr val="EFF6FF"/>
          </a:solidFill>
          <a:ln w="1397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8555" y="1280160"/>
            <a:ext cx="3291840" cy="292608"/>
          </a:xfrm>
          <a:prstGeom prst="rect">
            <a:avLst/>
          </a:prstGeom>
          <a:noFill/>
        </p:spPr>
        <p:txBody>
          <a:bodyPr wrap="square" anchor="t" lIns="36576" rIns="36576" tIns="18288" bIns="18288">
            <a:spAutoFit/>
          </a:bodyPr>
          <a:lstStyle/>
          <a:p>
            <a:pPr algn="ctr"/>
            <a:r>
              <a:rPr sz="1300" b="1">
                <a:solidFill>
                  <a:srgbClr val="2563EB"/>
                </a:solidFill>
                <a:latin typeface="Calibri"/>
              </a:rPr>
              <a:t>REST JSON API</a:t>
            </a:r>
          </a:p>
        </p:txBody>
      </p:sp>
      <p:sp>
        <p:nvSpPr>
          <p:cNvPr id="16" name="TextBox 15"/>
          <p:cNvSpPr txBox="1"/>
          <p:nvPr/>
        </p:nvSpPr>
        <p:spPr>
          <a:xfrm>
            <a:off x="4448555" y="1572768"/>
            <a:ext cx="3291840" cy="292608"/>
          </a:xfrm>
          <a:prstGeom prst="rect">
            <a:avLst/>
          </a:prstGeom>
          <a:noFill/>
        </p:spPr>
        <p:txBody>
          <a:bodyPr wrap="square" anchor="t" lIns="36576" rIns="36576" tIns="18288" bIns="18288">
            <a:spAutoFit/>
          </a:bodyPr>
          <a:lstStyle/>
          <a:p>
            <a:pPr algn="ctr"/>
            <a:r>
              <a:rPr sz="1100" b="0">
                <a:solidFill>
                  <a:srgbClr val="334155"/>
                </a:solidFill>
                <a:latin typeface="Calibri"/>
              </a:rPr>
              <a:t>POST /api/v1/comics</a:t>
            </a:r>
          </a:p>
        </p:txBody>
      </p:sp>
      <p:sp>
        <p:nvSpPr>
          <p:cNvPr id="17" name="TextBox 16"/>
          <p:cNvSpPr txBox="1"/>
          <p:nvPr/>
        </p:nvSpPr>
        <p:spPr>
          <a:xfrm>
            <a:off x="5911596" y="1947672"/>
            <a:ext cx="365760" cy="256032"/>
          </a:xfrm>
          <a:prstGeom prst="rect">
            <a:avLst/>
          </a:prstGeom>
          <a:noFill/>
        </p:spPr>
        <p:txBody>
          <a:bodyPr wrap="square" anchor="t" lIns="36576" rIns="36576" tIns="18288" bIns="18288">
            <a:spAutoFit/>
          </a:bodyPr>
          <a:lstStyle/>
          <a:p>
            <a:pPr algn="ctr"/>
            <a:r>
              <a:rPr sz="1200" b="1">
                <a:solidFill>
                  <a:srgbClr val="0F172A"/>
                </a:solidFill>
                <a:latin typeface="Calibri"/>
              </a:rPr>
              <a:t>▼</a:t>
            </a:r>
          </a:p>
        </p:txBody>
      </p:sp>
      <p:sp>
        <p:nvSpPr>
          <p:cNvPr id="18" name="Rounded Rectangle 17"/>
          <p:cNvSpPr/>
          <p:nvPr/>
        </p:nvSpPr>
        <p:spPr>
          <a:xfrm>
            <a:off x="8092440" y="1207008"/>
            <a:ext cx="3547872" cy="749808"/>
          </a:xfrm>
          <a:prstGeom prst="roundRect">
            <a:avLst>
              <a:gd name="adj" fmla="val 4000"/>
            </a:avLst>
          </a:prstGeom>
          <a:solidFill>
            <a:srgbClr val="EFF6FF"/>
          </a:solidFill>
          <a:ln w="1397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0456" y="1280160"/>
            <a:ext cx="3291840" cy="292608"/>
          </a:xfrm>
          <a:prstGeom prst="rect">
            <a:avLst/>
          </a:prstGeom>
          <a:noFill/>
        </p:spPr>
        <p:txBody>
          <a:bodyPr wrap="square" anchor="t" lIns="36576" rIns="36576" tIns="18288" bIns="18288">
            <a:spAutoFit/>
          </a:bodyPr>
          <a:lstStyle/>
          <a:p>
            <a:pPr algn="ctr"/>
            <a:r>
              <a:rPr sz="1300" b="1">
                <a:solidFill>
                  <a:srgbClr val="2563EB"/>
                </a:solidFill>
                <a:latin typeface="Calibri"/>
              </a:rPr>
              <a:t>Health &amp; Docs</a:t>
            </a:r>
          </a:p>
        </p:txBody>
      </p:sp>
      <p:sp>
        <p:nvSpPr>
          <p:cNvPr id="20" name="TextBox 19"/>
          <p:cNvSpPr txBox="1"/>
          <p:nvPr/>
        </p:nvSpPr>
        <p:spPr>
          <a:xfrm>
            <a:off x="8220456" y="1572768"/>
            <a:ext cx="3291840" cy="292608"/>
          </a:xfrm>
          <a:prstGeom prst="rect">
            <a:avLst/>
          </a:prstGeom>
          <a:noFill/>
        </p:spPr>
        <p:txBody>
          <a:bodyPr wrap="square" anchor="t" lIns="36576" rIns="36576" tIns="18288" bIns="18288">
            <a:spAutoFit/>
          </a:bodyPr>
          <a:lstStyle/>
          <a:p>
            <a:pPr algn="ctr"/>
            <a:r>
              <a:rPr sz="1100" b="0">
                <a:solidFill>
                  <a:srgbClr val="334155"/>
                </a:solidFill>
                <a:latin typeface="Calibri"/>
              </a:rPr>
              <a:t>GET /health  •  Swagger /docs</a:t>
            </a:r>
          </a:p>
        </p:txBody>
      </p:sp>
      <p:sp>
        <p:nvSpPr>
          <p:cNvPr id="21" name="TextBox 20"/>
          <p:cNvSpPr txBox="1"/>
          <p:nvPr/>
        </p:nvSpPr>
        <p:spPr>
          <a:xfrm>
            <a:off x="9683496" y="1947672"/>
            <a:ext cx="365760" cy="256032"/>
          </a:xfrm>
          <a:prstGeom prst="rect">
            <a:avLst/>
          </a:prstGeom>
          <a:noFill/>
        </p:spPr>
        <p:txBody>
          <a:bodyPr wrap="square" anchor="t" lIns="36576" rIns="36576" tIns="18288" bIns="18288">
            <a:spAutoFit/>
          </a:bodyPr>
          <a:lstStyle/>
          <a:p>
            <a:pPr algn="ctr"/>
            <a:r>
              <a:rPr sz="1200" b="1">
                <a:solidFill>
                  <a:srgbClr val="0F172A"/>
                </a:solidFill>
                <a:latin typeface="Calibri"/>
              </a:rPr>
              <a:t>▼</a:t>
            </a:r>
          </a:p>
        </p:txBody>
      </p:sp>
      <p:sp>
        <p:nvSpPr>
          <p:cNvPr id="22" name="Rounded Rectangle 21"/>
          <p:cNvSpPr/>
          <p:nvPr/>
        </p:nvSpPr>
        <p:spPr>
          <a:xfrm>
            <a:off x="548640" y="2194560"/>
            <a:ext cx="11091672" cy="713232"/>
          </a:xfrm>
          <a:prstGeom prst="roundRect">
            <a:avLst>
              <a:gd name="adj" fmla="val 4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2267712"/>
            <a:ext cx="10725912" cy="292608"/>
          </a:xfrm>
          <a:prstGeom prst="rect">
            <a:avLst/>
          </a:prstGeom>
          <a:noFill/>
        </p:spPr>
        <p:txBody>
          <a:bodyPr wrap="square" anchor="t" lIns="36576" rIns="36576" tIns="18288" bIns="18288">
            <a:spAutoFit/>
          </a:bodyPr>
          <a:lstStyle/>
          <a:p>
            <a:pPr algn="ctr"/>
            <a:r>
              <a:rPr sz="1350" b="1">
                <a:solidFill>
                  <a:srgbClr val="F59E0B"/>
                </a:solidFill>
                <a:latin typeface="Calibri"/>
              </a:rPr>
              <a:t>FASTAPI BACKEND &amp; PYDANTIC INPUT VALIDATION</a:t>
            </a:r>
          </a:p>
        </p:txBody>
      </p:sp>
      <p:sp>
        <p:nvSpPr>
          <p:cNvPr id="24" name="TextBox 23"/>
          <p:cNvSpPr txBox="1"/>
          <p:nvPr/>
        </p:nvSpPr>
        <p:spPr>
          <a:xfrm>
            <a:off x="731520" y="2560320"/>
            <a:ext cx="10725912" cy="256032"/>
          </a:xfrm>
          <a:prstGeom prst="rect">
            <a:avLst/>
          </a:prstGeom>
          <a:noFill/>
        </p:spPr>
        <p:txBody>
          <a:bodyPr wrap="square" anchor="t" lIns="36576" rIns="36576" tIns="18288" bIns="18288">
            <a:spAutoFit/>
          </a:bodyPr>
          <a:lstStyle/>
          <a:p>
            <a:pPr algn="ctr"/>
            <a:r>
              <a:rPr sz="1150" b="0">
                <a:solidFill>
                  <a:srgbClr val="E2E8F0"/>
                </a:solidFill>
                <a:latin typeface="Calibri"/>
              </a:rPr>
              <a:t>Validates Story Brief (3–8 Panels), Routes Requests &amp; Handles Errors Cleanly</a:t>
            </a:r>
          </a:p>
        </p:txBody>
      </p:sp>
      <p:sp>
        <p:nvSpPr>
          <p:cNvPr id="25" name="TextBox 24"/>
          <p:cNvSpPr txBox="1"/>
          <p:nvPr/>
        </p:nvSpPr>
        <p:spPr>
          <a:xfrm>
            <a:off x="5907024" y="2907792"/>
            <a:ext cx="365760" cy="256032"/>
          </a:xfrm>
          <a:prstGeom prst="rect">
            <a:avLst/>
          </a:prstGeom>
          <a:noFill/>
        </p:spPr>
        <p:txBody>
          <a:bodyPr wrap="square" anchor="t" lIns="36576" rIns="36576" tIns="18288" bIns="18288">
            <a:spAutoFit/>
          </a:bodyPr>
          <a:lstStyle/>
          <a:p>
            <a:pPr algn="ctr"/>
            <a:r>
              <a:rPr sz="1200" b="1">
                <a:solidFill>
                  <a:srgbClr val="0F172A"/>
                </a:solidFill>
                <a:latin typeface="Calibri"/>
              </a:rPr>
              <a:t>▼</a:t>
            </a:r>
          </a:p>
        </p:txBody>
      </p:sp>
      <p:sp>
        <p:nvSpPr>
          <p:cNvPr id="26" name="Rounded Rectangle 25"/>
          <p:cNvSpPr/>
          <p:nvPr/>
        </p:nvSpPr>
        <p:spPr>
          <a:xfrm>
            <a:off x="2423160" y="3154680"/>
            <a:ext cx="7342631" cy="713232"/>
          </a:xfrm>
          <a:prstGeom prst="roundRect">
            <a:avLst>
              <a:gd name="adj" fmla="val 4000"/>
            </a:avLst>
          </a:prstGeom>
          <a:solidFill>
            <a:srgbClr val="FFFBEB"/>
          </a:solidFill>
          <a:ln w="1778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06040" y="3218688"/>
            <a:ext cx="6976872" cy="292608"/>
          </a:xfrm>
          <a:prstGeom prst="rect">
            <a:avLst/>
          </a:prstGeom>
          <a:noFill/>
        </p:spPr>
        <p:txBody>
          <a:bodyPr wrap="square" anchor="t" lIns="36576" rIns="36576" tIns="18288" bIns="18288">
            <a:spAutoFit/>
          </a:bodyPr>
          <a:lstStyle/>
          <a:p>
            <a:pPr algn="ctr"/>
            <a:r>
              <a:rPr sz="1350" b="1">
                <a:solidFill>
                  <a:srgbClr val="B45309"/>
                </a:solidFill>
                <a:latin typeface="Calibri"/>
              </a:rPr>
              <a:t>COMIC SERVICE (MAIN PIPELINE CONTROLLER)</a:t>
            </a:r>
          </a:p>
        </p:txBody>
      </p:sp>
      <p:sp>
        <p:nvSpPr>
          <p:cNvPr id="28" name="TextBox 27"/>
          <p:cNvSpPr txBox="1"/>
          <p:nvPr/>
        </p:nvSpPr>
        <p:spPr>
          <a:xfrm>
            <a:off x="2606040" y="3511296"/>
            <a:ext cx="6976872" cy="256032"/>
          </a:xfrm>
          <a:prstGeom prst="rect">
            <a:avLst/>
          </a:prstGeom>
          <a:noFill/>
        </p:spPr>
        <p:txBody>
          <a:bodyPr wrap="square" anchor="t" lIns="36576" rIns="36576" tIns="18288" bIns="18288">
            <a:spAutoFit/>
          </a:bodyPr>
          <a:lstStyle/>
          <a:p>
            <a:pPr algn="ctr"/>
            <a:r>
              <a:rPr sz="1150" b="1">
                <a:solidFill>
                  <a:srgbClr val="0F172A"/>
                </a:solidFill>
                <a:latin typeface="Calibri"/>
              </a:rPr>
              <a:t>Coordinates Story  -&gt;  Panel Artwork  -&gt;  PDF Export  -&gt;  Local Storage</a:t>
            </a:r>
          </a:p>
        </p:txBody>
      </p:sp>
      <p:sp>
        <p:nvSpPr>
          <p:cNvPr id="29" name="TextBox 28"/>
          <p:cNvSpPr txBox="1"/>
          <p:nvPr/>
        </p:nvSpPr>
        <p:spPr>
          <a:xfrm>
            <a:off x="1673352" y="3877056"/>
            <a:ext cx="365760" cy="256032"/>
          </a:xfrm>
          <a:prstGeom prst="rect">
            <a:avLst/>
          </a:prstGeom>
          <a:noFill/>
        </p:spPr>
        <p:txBody>
          <a:bodyPr wrap="square" anchor="t" lIns="36576" rIns="36576" tIns="18288" bIns="18288">
            <a:spAutoFit/>
          </a:bodyPr>
          <a:lstStyle/>
          <a:p>
            <a:pPr algn="ctr"/>
            <a:r>
              <a:rPr sz="1200" b="1">
                <a:solidFill>
                  <a:srgbClr val="0F172A"/>
                </a:solidFill>
                <a:latin typeface="Calibri"/>
              </a:rPr>
              <a:t>▼</a:t>
            </a:r>
          </a:p>
        </p:txBody>
      </p:sp>
      <p:sp>
        <p:nvSpPr>
          <p:cNvPr id="30" name="Rounded Rectangle 29"/>
          <p:cNvSpPr/>
          <p:nvPr/>
        </p:nvSpPr>
        <p:spPr>
          <a:xfrm>
            <a:off x="548640" y="4133087"/>
            <a:ext cx="2615184" cy="2103120"/>
          </a:xfrm>
          <a:prstGeom prst="roundRect">
            <a:avLst>
              <a:gd name="adj" fmla="val 4000"/>
            </a:avLst>
          </a:prstGeom>
          <a:solidFill>
            <a:srgbClr val="EFF6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4133087"/>
            <a:ext cx="2615184" cy="8229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3232" y="4297680"/>
            <a:ext cx="2286000" cy="292608"/>
          </a:xfrm>
          <a:prstGeom prst="rect">
            <a:avLst/>
          </a:prstGeom>
          <a:noFill/>
        </p:spPr>
        <p:txBody>
          <a:bodyPr wrap="square" anchor="t" lIns="36576" rIns="36576" tIns="18288" bIns="18288">
            <a:spAutoFit/>
          </a:bodyPr>
          <a:lstStyle/>
          <a:p>
            <a:pPr algn="l"/>
            <a:r>
              <a:rPr sz="1350" b="1">
                <a:solidFill>
                  <a:srgbClr val="2563EB"/>
                </a:solidFill>
                <a:latin typeface="Calibri"/>
              </a:rPr>
              <a:t>Story Service</a:t>
            </a:r>
          </a:p>
        </p:txBody>
      </p:sp>
      <p:sp>
        <p:nvSpPr>
          <p:cNvPr id="33" name="TextBox 32"/>
          <p:cNvSpPr txBox="1"/>
          <p:nvPr/>
        </p:nvSpPr>
        <p:spPr>
          <a:xfrm>
            <a:off x="713232" y="4590288"/>
            <a:ext cx="2286000" cy="237744"/>
          </a:xfrm>
          <a:prstGeom prst="rect">
            <a:avLst/>
          </a:prstGeom>
          <a:noFill/>
        </p:spPr>
        <p:txBody>
          <a:bodyPr wrap="square" anchor="t" lIns="36576" rIns="36576" tIns="18288" bIns="18288">
            <a:spAutoFit/>
          </a:bodyPr>
          <a:lstStyle/>
          <a:p>
            <a:pPr algn="l"/>
            <a:r>
              <a:rPr sz="1050" b="1">
                <a:solidFill>
                  <a:srgbClr val="64748B"/>
                </a:solidFill>
                <a:latin typeface="Calibri"/>
              </a:rPr>
              <a:t>llm.py</a:t>
            </a:r>
          </a:p>
        </p:txBody>
      </p:sp>
      <p:sp>
        <p:nvSpPr>
          <p:cNvPr id="34" name="TextBox 33"/>
          <p:cNvSpPr txBox="1"/>
          <p:nvPr/>
        </p:nvSpPr>
        <p:spPr>
          <a:xfrm>
            <a:off x="713232" y="4901184"/>
            <a:ext cx="2286000" cy="1188720"/>
          </a:xfrm>
          <a:prstGeom prst="rect">
            <a:avLst/>
          </a:prstGeom>
          <a:noFill/>
        </p:spPr>
        <p:txBody>
          <a:bodyPr wrap="square" anchor="t" lIns="36576" rIns="36576" tIns="18288" bIns="18288">
            <a:spAutoFit/>
          </a:bodyPr>
          <a:lstStyle/>
          <a:p>
            <a:pPr algn="l"/>
            <a:r>
              <a:rPr sz="1200" b="0">
                <a:solidFill>
                  <a:srgbClr val="0F172A"/>
                </a:solidFill>
                <a:latin typeface="Calibri"/>
              </a:rPr>
              <a:t>• 2-Stage Gemini AI
• Outline + Script JSON
• Offline Demo Writer</a:t>
            </a:r>
          </a:p>
        </p:txBody>
      </p:sp>
      <p:sp>
        <p:nvSpPr>
          <p:cNvPr id="35" name="TextBox 34"/>
          <p:cNvSpPr txBox="1"/>
          <p:nvPr/>
        </p:nvSpPr>
        <p:spPr>
          <a:xfrm>
            <a:off x="4498848" y="3877056"/>
            <a:ext cx="365760" cy="256032"/>
          </a:xfrm>
          <a:prstGeom prst="rect">
            <a:avLst/>
          </a:prstGeom>
          <a:noFill/>
        </p:spPr>
        <p:txBody>
          <a:bodyPr wrap="square" anchor="t" lIns="36576" rIns="36576" tIns="18288" bIns="18288">
            <a:spAutoFit/>
          </a:bodyPr>
          <a:lstStyle/>
          <a:p>
            <a:pPr algn="ctr"/>
            <a:r>
              <a:rPr sz="1200" b="1">
                <a:solidFill>
                  <a:srgbClr val="0F172A"/>
                </a:solidFill>
                <a:latin typeface="Calibri"/>
              </a:rPr>
              <a:t>▼</a:t>
            </a:r>
          </a:p>
        </p:txBody>
      </p:sp>
      <p:sp>
        <p:nvSpPr>
          <p:cNvPr id="36" name="Rounded Rectangle 35"/>
          <p:cNvSpPr/>
          <p:nvPr/>
        </p:nvSpPr>
        <p:spPr>
          <a:xfrm>
            <a:off x="3374136" y="4133087"/>
            <a:ext cx="2615184" cy="2103120"/>
          </a:xfrm>
          <a:prstGeom prst="roundRect">
            <a:avLst>
              <a:gd name="adj" fmla="val 4000"/>
            </a:avLst>
          </a:prstGeom>
          <a:solidFill>
            <a:srgbClr val="F0FDFA"/>
          </a:solidFill>
          <a:ln w="1524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374136" y="4133087"/>
            <a:ext cx="2615184" cy="822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38728" y="4297680"/>
            <a:ext cx="2286000" cy="292608"/>
          </a:xfrm>
          <a:prstGeom prst="rect">
            <a:avLst/>
          </a:prstGeom>
          <a:noFill/>
        </p:spPr>
        <p:txBody>
          <a:bodyPr wrap="square" anchor="t" lIns="36576" rIns="36576" tIns="18288" bIns="18288">
            <a:spAutoFit/>
          </a:bodyPr>
          <a:lstStyle/>
          <a:p>
            <a:pPr algn="l"/>
            <a:r>
              <a:rPr sz="1350" b="1">
                <a:solidFill>
                  <a:srgbClr val="0D9488"/>
                </a:solidFill>
                <a:latin typeface="Calibri"/>
              </a:rPr>
              <a:t>Image Service</a:t>
            </a:r>
          </a:p>
        </p:txBody>
      </p:sp>
      <p:sp>
        <p:nvSpPr>
          <p:cNvPr id="39" name="TextBox 38"/>
          <p:cNvSpPr txBox="1"/>
          <p:nvPr/>
        </p:nvSpPr>
        <p:spPr>
          <a:xfrm>
            <a:off x="3538728" y="4590288"/>
            <a:ext cx="2286000" cy="237744"/>
          </a:xfrm>
          <a:prstGeom prst="rect">
            <a:avLst/>
          </a:prstGeom>
          <a:noFill/>
        </p:spPr>
        <p:txBody>
          <a:bodyPr wrap="square" anchor="t" lIns="36576" rIns="36576" tIns="18288" bIns="18288">
            <a:spAutoFit/>
          </a:bodyPr>
          <a:lstStyle/>
          <a:p>
            <a:pPr algn="l"/>
            <a:r>
              <a:rPr sz="1050" b="1">
                <a:solidFill>
                  <a:srgbClr val="64748B"/>
                </a:solidFill>
                <a:latin typeface="Calibri"/>
              </a:rPr>
              <a:t>images.py</a:t>
            </a:r>
          </a:p>
        </p:txBody>
      </p:sp>
      <p:sp>
        <p:nvSpPr>
          <p:cNvPr id="40" name="TextBox 39"/>
          <p:cNvSpPr txBox="1"/>
          <p:nvPr/>
        </p:nvSpPr>
        <p:spPr>
          <a:xfrm>
            <a:off x="3538728" y="4901184"/>
            <a:ext cx="2286000" cy="1188720"/>
          </a:xfrm>
          <a:prstGeom prst="rect">
            <a:avLst/>
          </a:prstGeom>
          <a:noFill/>
        </p:spPr>
        <p:txBody>
          <a:bodyPr wrap="square" anchor="t" lIns="36576" rIns="36576" tIns="18288" bIns="18288">
            <a:spAutoFit/>
          </a:bodyPr>
          <a:lstStyle/>
          <a:p>
            <a:pPr algn="l"/>
            <a:r>
              <a:rPr sz="1200" b="0">
                <a:solidFill>
                  <a:srgbClr val="0F172A"/>
                </a:solidFill>
                <a:latin typeface="Calibri"/>
              </a:rPr>
              <a:t>• Pillow Placeholder
• Hugging Face SDXL
• Local Stable Diffusion</a:t>
            </a:r>
          </a:p>
        </p:txBody>
      </p:sp>
      <p:sp>
        <p:nvSpPr>
          <p:cNvPr id="41" name="TextBox 40"/>
          <p:cNvSpPr txBox="1"/>
          <p:nvPr/>
        </p:nvSpPr>
        <p:spPr>
          <a:xfrm>
            <a:off x="7324344" y="3877056"/>
            <a:ext cx="365760" cy="256032"/>
          </a:xfrm>
          <a:prstGeom prst="rect">
            <a:avLst/>
          </a:prstGeom>
          <a:noFill/>
        </p:spPr>
        <p:txBody>
          <a:bodyPr wrap="square" anchor="t" lIns="36576" rIns="36576" tIns="18288" bIns="18288">
            <a:spAutoFit/>
          </a:bodyPr>
          <a:lstStyle/>
          <a:p>
            <a:pPr algn="ctr"/>
            <a:r>
              <a:rPr sz="1200" b="1">
                <a:solidFill>
                  <a:srgbClr val="0F172A"/>
                </a:solidFill>
                <a:latin typeface="Calibri"/>
              </a:rPr>
              <a:t>▼</a:t>
            </a:r>
          </a:p>
        </p:txBody>
      </p:sp>
      <p:sp>
        <p:nvSpPr>
          <p:cNvPr id="42" name="Rounded Rectangle 41"/>
          <p:cNvSpPr/>
          <p:nvPr/>
        </p:nvSpPr>
        <p:spPr>
          <a:xfrm>
            <a:off x="6199631" y="4133087"/>
            <a:ext cx="2615184" cy="2103120"/>
          </a:xfrm>
          <a:prstGeom prst="roundRect">
            <a:avLst>
              <a:gd name="adj" fmla="val 4000"/>
            </a:avLst>
          </a:prstGeom>
          <a:solidFill>
            <a:srgbClr val="EEF2FF"/>
          </a:solidFill>
          <a:ln w="1524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199631" y="4133087"/>
            <a:ext cx="2615184" cy="82296"/>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64223" y="4297680"/>
            <a:ext cx="2286000" cy="292608"/>
          </a:xfrm>
          <a:prstGeom prst="rect">
            <a:avLst/>
          </a:prstGeom>
          <a:noFill/>
        </p:spPr>
        <p:txBody>
          <a:bodyPr wrap="square" anchor="t" lIns="36576" rIns="36576" tIns="18288" bIns="18288">
            <a:spAutoFit/>
          </a:bodyPr>
          <a:lstStyle/>
          <a:p>
            <a:pPr algn="l"/>
            <a:r>
              <a:rPr sz="1350" b="1">
                <a:solidFill>
                  <a:srgbClr val="4F46E5"/>
                </a:solidFill>
                <a:latin typeface="Calibri"/>
              </a:rPr>
              <a:t>PDF Service</a:t>
            </a:r>
          </a:p>
        </p:txBody>
      </p:sp>
      <p:sp>
        <p:nvSpPr>
          <p:cNvPr id="45" name="TextBox 44"/>
          <p:cNvSpPr txBox="1"/>
          <p:nvPr/>
        </p:nvSpPr>
        <p:spPr>
          <a:xfrm>
            <a:off x="6364223" y="4590288"/>
            <a:ext cx="2286000" cy="237744"/>
          </a:xfrm>
          <a:prstGeom prst="rect">
            <a:avLst/>
          </a:prstGeom>
          <a:noFill/>
        </p:spPr>
        <p:txBody>
          <a:bodyPr wrap="square" anchor="t" lIns="36576" rIns="36576" tIns="18288" bIns="18288">
            <a:spAutoFit/>
          </a:bodyPr>
          <a:lstStyle/>
          <a:p>
            <a:pPr algn="l"/>
            <a:r>
              <a:rPr sz="1050" b="1">
                <a:solidFill>
                  <a:srgbClr val="64748B"/>
                </a:solidFill>
                <a:latin typeface="Calibri"/>
              </a:rPr>
              <a:t>pdf_service.py</a:t>
            </a:r>
          </a:p>
        </p:txBody>
      </p:sp>
      <p:sp>
        <p:nvSpPr>
          <p:cNvPr id="46" name="TextBox 45"/>
          <p:cNvSpPr txBox="1"/>
          <p:nvPr/>
        </p:nvSpPr>
        <p:spPr>
          <a:xfrm>
            <a:off x="6364223" y="4901184"/>
            <a:ext cx="2286000" cy="1188720"/>
          </a:xfrm>
          <a:prstGeom prst="rect">
            <a:avLst/>
          </a:prstGeom>
          <a:noFill/>
        </p:spPr>
        <p:txBody>
          <a:bodyPr wrap="square" anchor="t" lIns="36576" rIns="36576" tIns="18288" bIns="18288">
            <a:spAutoFit/>
          </a:bodyPr>
          <a:lstStyle/>
          <a:p>
            <a:pPr algn="l"/>
            <a:r>
              <a:rPr sz="1200" b="0">
                <a:solidFill>
                  <a:srgbClr val="0F172A"/>
                </a:solidFill>
                <a:latin typeface="Calibri"/>
              </a:rPr>
              <a:t>• fpdf2 A4 Builder
• Styled Cover Page
• One Page per Panel</a:t>
            </a:r>
          </a:p>
        </p:txBody>
      </p:sp>
      <p:sp>
        <p:nvSpPr>
          <p:cNvPr id="47" name="TextBox 46"/>
          <p:cNvSpPr txBox="1"/>
          <p:nvPr/>
        </p:nvSpPr>
        <p:spPr>
          <a:xfrm>
            <a:off x="10149840" y="3877056"/>
            <a:ext cx="365760" cy="256032"/>
          </a:xfrm>
          <a:prstGeom prst="rect">
            <a:avLst/>
          </a:prstGeom>
          <a:noFill/>
        </p:spPr>
        <p:txBody>
          <a:bodyPr wrap="square" anchor="t" lIns="36576" rIns="36576" tIns="18288" bIns="18288">
            <a:spAutoFit/>
          </a:bodyPr>
          <a:lstStyle/>
          <a:p>
            <a:pPr algn="ctr"/>
            <a:r>
              <a:rPr sz="1200" b="1">
                <a:solidFill>
                  <a:srgbClr val="0F172A"/>
                </a:solidFill>
                <a:latin typeface="Calibri"/>
              </a:rPr>
              <a:t>▼</a:t>
            </a:r>
          </a:p>
        </p:txBody>
      </p:sp>
      <p:sp>
        <p:nvSpPr>
          <p:cNvPr id="48" name="Rounded Rectangle 47"/>
          <p:cNvSpPr/>
          <p:nvPr/>
        </p:nvSpPr>
        <p:spPr>
          <a:xfrm>
            <a:off x="9025128" y="4133087"/>
            <a:ext cx="2615184" cy="2103120"/>
          </a:xfrm>
          <a:prstGeom prst="roundRect">
            <a:avLst>
              <a:gd name="adj" fmla="val 4000"/>
            </a:avLst>
          </a:prstGeom>
          <a:solidFill>
            <a:srgbClr val="FFFFFF"/>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025128" y="4133087"/>
            <a:ext cx="2615184" cy="82296"/>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89719" y="4297680"/>
            <a:ext cx="2286000" cy="292608"/>
          </a:xfrm>
          <a:prstGeom prst="rect">
            <a:avLst/>
          </a:prstGeom>
          <a:noFill/>
        </p:spPr>
        <p:txBody>
          <a:bodyPr wrap="square" anchor="t" lIns="36576" rIns="36576" tIns="18288" bIns="18288">
            <a:spAutoFit/>
          </a:bodyPr>
          <a:lstStyle/>
          <a:p>
            <a:pPr algn="l"/>
            <a:r>
              <a:rPr sz="1350" b="1">
                <a:solidFill>
                  <a:srgbClr val="0F172A"/>
                </a:solidFill>
                <a:latin typeface="Calibri"/>
              </a:rPr>
              <a:t>Storage Service</a:t>
            </a:r>
          </a:p>
        </p:txBody>
      </p:sp>
      <p:sp>
        <p:nvSpPr>
          <p:cNvPr id="51" name="TextBox 50"/>
          <p:cNvSpPr txBox="1"/>
          <p:nvPr/>
        </p:nvSpPr>
        <p:spPr>
          <a:xfrm>
            <a:off x="9189719" y="4590288"/>
            <a:ext cx="2286000" cy="237744"/>
          </a:xfrm>
          <a:prstGeom prst="rect">
            <a:avLst/>
          </a:prstGeom>
          <a:noFill/>
        </p:spPr>
        <p:txBody>
          <a:bodyPr wrap="square" anchor="t" lIns="36576" rIns="36576" tIns="18288" bIns="18288">
            <a:spAutoFit/>
          </a:bodyPr>
          <a:lstStyle/>
          <a:p>
            <a:pPr algn="l"/>
            <a:r>
              <a:rPr sz="1050" b="1">
                <a:solidFill>
                  <a:srgbClr val="64748B"/>
                </a:solidFill>
                <a:latin typeface="Calibri"/>
              </a:rPr>
              <a:t>repository.py</a:t>
            </a:r>
          </a:p>
        </p:txBody>
      </p:sp>
      <p:sp>
        <p:nvSpPr>
          <p:cNvPr id="52" name="TextBox 51"/>
          <p:cNvSpPr txBox="1"/>
          <p:nvPr/>
        </p:nvSpPr>
        <p:spPr>
          <a:xfrm>
            <a:off x="9189719" y="4901184"/>
            <a:ext cx="2286000" cy="1188720"/>
          </a:xfrm>
          <a:prstGeom prst="rect">
            <a:avLst/>
          </a:prstGeom>
          <a:noFill/>
        </p:spPr>
        <p:txBody>
          <a:bodyPr wrap="square" anchor="t" lIns="36576" rIns="36576" tIns="18288" bIns="18288">
            <a:spAutoFit/>
          </a:bodyPr>
          <a:lstStyle/>
          <a:p>
            <a:pPr algn="l"/>
            <a:r>
              <a:rPr sz="1200" b="0">
                <a:solidFill>
                  <a:srgbClr val="0F172A"/>
                </a:solidFill>
                <a:latin typeface="Calibri"/>
              </a:rPr>
              <a:t>• Unique UUID Folder
• Panel PNG Images
• comic.pdf &amp; comic.json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0"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744200" y="274320"/>
            <a:ext cx="896112" cy="329184"/>
          </a:xfrm>
          <a:prstGeom prst="roundRect">
            <a:avLst>
              <a:gd name="adj" fmla="val 4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274320"/>
            <a:ext cx="896112" cy="329184"/>
          </a:xfrm>
          <a:prstGeom prst="rect">
            <a:avLst/>
          </a:prstGeom>
          <a:noFill/>
        </p:spPr>
        <p:txBody>
          <a:bodyPr wrap="square" anchor="ctr" lIns="36576" rIns="36576" tIns="18288" bIns="18288">
            <a:spAutoFit/>
          </a:bodyPr>
          <a:lstStyle/>
          <a:p>
            <a:pPr algn="ctr"/>
            <a:r>
              <a:rPr sz="1100" b="1">
                <a:solidFill>
                  <a:srgbClr val="F59E0B"/>
                </a:solidFill>
                <a:latin typeface="Calibri"/>
              </a:rPr>
              <a:t>07 / 10</a:t>
            </a:r>
          </a:p>
        </p:txBody>
      </p:sp>
      <p:sp>
        <p:nvSpPr>
          <p:cNvPr id="6" name="TextBox 5"/>
          <p:cNvSpPr txBox="1"/>
          <p:nvPr/>
        </p:nvSpPr>
        <p:spPr>
          <a:xfrm>
            <a:off x="548640" y="219456"/>
            <a:ext cx="9966960" cy="438912"/>
          </a:xfrm>
          <a:prstGeom prst="rect">
            <a:avLst/>
          </a:prstGeom>
          <a:noFill/>
        </p:spPr>
        <p:txBody>
          <a:bodyPr wrap="square" anchor="t" lIns="36576" rIns="36576" tIns="18288" bIns="18288">
            <a:spAutoFit/>
          </a:bodyPr>
          <a:lstStyle/>
          <a:p>
            <a:pPr algn="l"/>
            <a:r>
              <a:rPr sz="2500" b="1">
                <a:solidFill>
                  <a:srgbClr val="0F172A"/>
                </a:solidFill>
                <a:latin typeface="Calibri"/>
              </a:rPr>
              <a:t>Two-Stage Gemini AI Workflow</a:t>
            </a:r>
          </a:p>
        </p:txBody>
      </p:sp>
      <p:sp>
        <p:nvSpPr>
          <p:cNvPr id="7" name="TextBox 6"/>
          <p:cNvSpPr txBox="1"/>
          <p:nvPr/>
        </p:nvSpPr>
        <p:spPr>
          <a:xfrm>
            <a:off x="548640" y="658368"/>
            <a:ext cx="10058400" cy="292608"/>
          </a:xfrm>
          <a:prstGeom prst="rect">
            <a:avLst/>
          </a:prstGeom>
          <a:noFill/>
        </p:spPr>
        <p:txBody>
          <a:bodyPr wrap="square" anchor="t" lIns="36576" rIns="36576" tIns="18288" bIns="18288">
            <a:spAutoFit/>
          </a:bodyPr>
          <a:lstStyle/>
          <a:p>
            <a:pPr algn="l"/>
            <a:r>
              <a:rPr sz="1300" b="0">
                <a:solidFill>
                  <a:srgbClr val="64748B"/>
                </a:solidFill>
                <a:latin typeface="Calibri"/>
              </a:rPr>
              <a:t>How ComicCraft plans the story first and keeps characters visually consistent</a:t>
            </a:r>
          </a:p>
        </p:txBody>
      </p:sp>
      <p:sp>
        <p:nvSpPr>
          <p:cNvPr id="8" name="Rectangle 7"/>
          <p:cNvSpPr/>
          <p:nvPr/>
        </p:nvSpPr>
        <p:spPr>
          <a:xfrm>
            <a:off x="548640" y="987552"/>
            <a:ext cx="11094415" cy="16459"/>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510528"/>
            <a:ext cx="7315200" cy="228600"/>
          </a:xfrm>
          <a:prstGeom prst="rect">
            <a:avLst/>
          </a:prstGeom>
          <a:noFill/>
        </p:spPr>
        <p:txBody>
          <a:bodyPr wrap="square" anchor="t" lIns="36576" rIns="36576" tIns="18288" bIns="18288">
            <a:spAutoFit/>
          </a:bodyPr>
          <a:lstStyle/>
          <a:p>
            <a:pPr algn="l"/>
            <a:r>
              <a:rPr sz="950" b="0">
                <a:solidFill>
                  <a:srgbClr val="64748B"/>
                </a:solidFill>
                <a:latin typeface="Calibri"/>
              </a:rPr>
              <a:t>ComicCraft — AI Comic Story Creator</a:t>
            </a:r>
          </a:p>
        </p:txBody>
      </p:sp>
      <p:sp>
        <p:nvSpPr>
          <p:cNvPr id="10" name="Rounded Rectangle 9"/>
          <p:cNvSpPr/>
          <p:nvPr/>
        </p:nvSpPr>
        <p:spPr>
          <a:xfrm>
            <a:off x="548640" y="1243584"/>
            <a:ext cx="2542032" cy="3200400"/>
          </a:xfrm>
          <a:prstGeom prst="roundRect">
            <a:avLst>
              <a:gd name="adj" fmla="val 4000"/>
            </a:avLst>
          </a:prstGeom>
          <a:solidFill>
            <a:srgbClr val="FFFFFF"/>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243584"/>
            <a:ext cx="2542032" cy="38404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243584"/>
            <a:ext cx="2286000" cy="384048"/>
          </a:xfrm>
          <a:prstGeom prst="rect">
            <a:avLst/>
          </a:prstGeom>
          <a:noFill/>
        </p:spPr>
        <p:txBody>
          <a:bodyPr wrap="square" anchor="ctr" lIns="36576" rIns="36576" tIns="18288" bIns="18288">
            <a:spAutoFit/>
          </a:bodyPr>
          <a:lstStyle/>
          <a:p>
            <a:pPr algn="ctr"/>
            <a:r>
              <a:rPr sz="1150" b="1">
                <a:solidFill>
                  <a:srgbClr val="FFFFFF"/>
                </a:solidFill>
                <a:latin typeface="Calibri"/>
              </a:rPr>
              <a:t>STEP 1</a:t>
            </a:r>
          </a:p>
        </p:txBody>
      </p:sp>
      <p:sp>
        <p:nvSpPr>
          <p:cNvPr id="13" name="TextBox 12"/>
          <p:cNvSpPr txBox="1"/>
          <p:nvPr/>
        </p:nvSpPr>
        <p:spPr>
          <a:xfrm>
            <a:off x="713232" y="1737360"/>
            <a:ext cx="2212848" cy="329184"/>
          </a:xfrm>
          <a:prstGeom prst="rect">
            <a:avLst/>
          </a:prstGeom>
          <a:noFill/>
        </p:spPr>
        <p:txBody>
          <a:bodyPr wrap="square" anchor="t" lIns="36576" rIns="36576" tIns="18288" bIns="18288">
            <a:spAutoFit/>
          </a:bodyPr>
          <a:lstStyle/>
          <a:p>
            <a:pPr algn="l"/>
            <a:r>
              <a:rPr sz="1450" b="1">
                <a:solidFill>
                  <a:srgbClr val="0F172A"/>
                </a:solidFill>
                <a:latin typeface="Calibri"/>
              </a:rPr>
              <a:t>Story Brief</a:t>
            </a:r>
          </a:p>
        </p:txBody>
      </p:sp>
      <p:sp>
        <p:nvSpPr>
          <p:cNvPr id="14" name="TextBox 13"/>
          <p:cNvSpPr txBox="1"/>
          <p:nvPr/>
        </p:nvSpPr>
        <p:spPr>
          <a:xfrm>
            <a:off x="713232" y="2066543"/>
            <a:ext cx="2212848" cy="256032"/>
          </a:xfrm>
          <a:prstGeom prst="rect">
            <a:avLst/>
          </a:prstGeom>
          <a:noFill/>
        </p:spPr>
        <p:txBody>
          <a:bodyPr wrap="square" anchor="t" lIns="36576" rIns="36576" tIns="18288" bIns="18288">
            <a:spAutoFit/>
          </a:bodyPr>
          <a:lstStyle/>
          <a:p>
            <a:pPr algn="l"/>
            <a:r>
              <a:rPr sz="1100" b="1">
                <a:solidFill>
                  <a:srgbClr val="0F172A"/>
                </a:solidFill>
                <a:latin typeface="Calibri"/>
              </a:rPr>
              <a:t>User Input</a:t>
            </a:r>
          </a:p>
        </p:txBody>
      </p:sp>
      <p:sp>
        <p:nvSpPr>
          <p:cNvPr id="15" name="TextBox 14"/>
          <p:cNvSpPr txBox="1"/>
          <p:nvPr/>
        </p:nvSpPr>
        <p:spPr>
          <a:xfrm>
            <a:off x="713232" y="2395728"/>
            <a:ext cx="2212848" cy="1920240"/>
          </a:xfrm>
          <a:prstGeom prst="rect">
            <a:avLst/>
          </a:prstGeom>
          <a:noFill/>
        </p:spPr>
        <p:txBody>
          <a:bodyPr wrap="square" anchor="t" lIns="36576" rIns="36576" tIns="18288" bIns="18288">
            <a:spAutoFit/>
          </a:bodyPr>
          <a:lstStyle/>
          <a:p>
            <a:pPr algn="l"/>
            <a:r>
              <a:rPr sz="1200" b="0">
                <a:solidFill>
                  <a:srgbClr val="0F172A"/>
                </a:solidFill>
                <a:latin typeface="Calibri"/>
              </a:rPr>
              <a:t>• Story idea
• Main character
• Setting &amp; tone
• Art style
• 3 to 8 panels</a:t>
            </a:r>
          </a:p>
        </p:txBody>
      </p:sp>
      <p:sp>
        <p:nvSpPr>
          <p:cNvPr id="16" name="TextBox 15"/>
          <p:cNvSpPr txBox="1"/>
          <p:nvPr/>
        </p:nvSpPr>
        <p:spPr>
          <a:xfrm>
            <a:off x="3108960" y="2606040"/>
            <a:ext cx="274320" cy="411480"/>
          </a:xfrm>
          <a:prstGeom prst="rect">
            <a:avLst/>
          </a:prstGeom>
          <a:noFill/>
        </p:spPr>
        <p:txBody>
          <a:bodyPr wrap="square" anchor="t" lIns="36576" rIns="36576" tIns="18288" bIns="18288">
            <a:spAutoFit/>
          </a:bodyPr>
          <a:lstStyle/>
          <a:p>
            <a:pPr algn="ctr"/>
            <a:r>
              <a:rPr sz="1800" b="1">
                <a:solidFill>
                  <a:srgbClr val="0F172A"/>
                </a:solidFill>
                <a:latin typeface="Calibri"/>
              </a:rPr>
              <a:t>➔</a:t>
            </a:r>
          </a:p>
        </p:txBody>
      </p:sp>
      <p:sp>
        <p:nvSpPr>
          <p:cNvPr id="17" name="Rounded Rectangle 16"/>
          <p:cNvSpPr/>
          <p:nvPr/>
        </p:nvSpPr>
        <p:spPr>
          <a:xfrm>
            <a:off x="3396996" y="1243584"/>
            <a:ext cx="2542032" cy="3200400"/>
          </a:xfrm>
          <a:prstGeom prst="roundRect">
            <a:avLst>
              <a:gd name="adj" fmla="val 4000"/>
            </a:avLst>
          </a:prstGeom>
          <a:solidFill>
            <a:srgbClr val="EFF6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96996" y="1243584"/>
            <a:ext cx="2542032" cy="3840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25012" y="1243584"/>
            <a:ext cx="2286000" cy="384048"/>
          </a:xfrm>
          <a:prstGeom prst="rect">
            <a:avLst/>
          </a:prstGeom>
          <a:noFill/>
        </p:spPr>
        <p:txBody>
          <a:bodyPr wrap="square" anchor="ctr" lIns="36576" rIns="36576" tIns="18288" bIns="18288">
            <a:spAutoFit/>
          </a:bodyPr>
          <a:lstStyle/>
          <a:p>
            <a:pPr algn="ctr"/>
            <a:r>
              <a:rPr sz="1150" b="1">
                <a:solidFill>
                  <a:srgbClr val="FFFFFF"/>
                </a:solidFill>
                <a:latin typeface="Calibri"/>
              </a:rPr>
              <a:t>STEP 2</a:t>
            </a:r>
          </a:p>
        </p:txBody>
      </p:sp>
      <p:sp>
        <p:nvSpPr>
          <p:cNvPr id="20" name="TextBox 19"/>
          <p:cNvSpPr txBox="1"/>
          <p:nvPr/>
        </p:nvSpPr>
        <p:spPr>
          <a:xfrm>
            <a:off x="3561588" y="1737360"/>
            <a:ext cx="2212848" cy="329184"/>
          </a:xfrm>
          <a:prstGeom prst="rect">
            <a:avLst/>
          </a:prstGeom>
          <a:noFill/>
        </p:spPr>
        <p:txBody>
          <a:bodyPr wrap="square" anchor="t" lIns="36576" rIns="36576" tIns="18288" bIns="18288">
            <a:spAutoFit/>
          </a:bodyPr>
          <a:lstStyle/>
          <a:p>
            <a:pPr algn="l"/>
            <a:r>
              <a:rPr sz="1450" b="1">
                <a:solidFill>
                  <a:srgbClr val="0F172A"/>
                </a:solidFill>
                <a:latin typeface="Calibri"/>
              </a:rPr>
              <a:t>Stage 1: Outline</a:t>
            </a:r>
          </a:p>
        </p:txBody>
      </p:sp>
      <p:sp>
        <p:nvSpPr>
          <p:cNvPr id="21" name="TextBox 20"/>
          <p:cNvSpPr txBox="1"/>
          <p:nvPr/>
        </p:nvSpPr>
        <p:spPr>
          <a:xfrm>
            <a:off x="3561588" y="2066543"/>
            <a:ext cx="2212848" cy="256032"/>
          </a:xfrm>
          <a:prstGeom prst="rect">
            <a:avLst/>
          </a:prstGeom>
          <a:noFill/>
        </p:spPr>
        <p:txBody>
          <a:bodyPr wrap="square" anchor="t" lIns="36576" rIns="36576" tIns="18288" bIns="18288">
            <a:spAutoFit/>
          </a:bodyPr>
          <a:lstStyle/>
          <a:p>
            <a:pPr algn="l"/>
            <a:r>
              <a:rPr sz="1100" b="1">
                <a:solidFill>
                  <a:srgbClr val="2563EB"/>
                </a:solidFill>
                <a:latin typeface="Calibri"/>
              </a:rPr>
              <a:t>Gemini Outline Model</a:t>
            </a:r>
          </a:p>
        </p:txBody>
      </p:sp>
      <p:sp>
        <p:nvSpPr>
          <p:cNvPr id="22" name="TextBox 21"/>
          <p:cNvSpPr txBox="1"/>
          <p:nvPr/>
        </p:nvSpPr>
        <p:spPr>
          <a:xfrm>
            <a:off x="3561588" y="2395728"/>
            <a:ext cx="2212848" cy="1920240"/>
          </a:xfrm>
          <a:prstGeom prst="rect">
            <a:avLst/>
          </a:prstGeom>
          <a:noFill/>
        </p:spPr>
        <p:txBody>
          <a:bodyPr wrap="square" anchor="t" lIns="36576" rIns="36576" tIns="18288" bIns="18288">
            <a:spAutoFit/>
          </a:bodyPr>
          <a:lstStyle/>
          <a:p>
            <a:pPr algn="l"/>
            <a:r>
              <a:rPr sz="1200" b="0">
                <a:solidFill>
                  <a:srgbClr val="0F172A"/>
                </a:solidFill>
                <a:latin typeface="Calibri"/>
              </a:rPr>
              <a:t>• Returns strict JSON
• Creates Comic Title
• Builds Character Bible
• Plans N panel scenes</a:t>
            </a:r>
          </a:p>
        </p:txBody>
      </p:sp>
      <p:sp>
        <p:nvSpPr>
          <p:cNvPr id="23" name="TextBox 22"/>
          <p:cNvSpPr txBox="1"/>
          <p:nvPr/>
        </p:nvSpPr>
        <p:spPr>
          <a:xfrm>
            <a:off x="5957315" y="2606040"/>
            <a:ext cx="274320" cy="411480"/>
          </a:xfrm>
          <a:prstGeom prst="rect">
            <a:avLst/>
          </a:prstGeom>
          <a:noFill/>
        </p:spPr>
        <p:txBody>
          <a:bodyPr wrap="square" anchor="t" lIns="36576" rIns="36576" tIns="18288" bIns="18288">
            <a:spAutoFit/>
          </a:bodyPr>
          <a:lstStyle/>
          <a:p>
            <a:pPr algn="ctr"/>
            <a:r>
              <a:rPr sz="1800" b="1">
                <a:solidFill>
                  <a:srgbClr val="0F172A"/>
                </a:solidFill>
                <a:latin typeface="Calibri"/>
              </a:rPr>
              <a:t>➔</a:t>
            </a:r>
          </a:p>
        </p:txBody>
      </p:sp>
      <p:sp>
        <p:nvSpPr>
          <p:cNvPr id="24" name="Rounded Rectangle 23"/>
          <p:cNvSpPr/>
          <p:nvPr/>
        </p:nvSpPr>
        <p:spPr>
          <a:xfrm>
            <a:off x="6245351" y="1243584"/>
            <a:ext cx="2542032" cy="3200400"/>
          </a:xfrm>
          <a:prstGeom prst="roundRect">
            <a:avLst>
              <a:gd name="adj" fmla="val 4000"/>
            </a:avLst>
          </a:prstGeom>
          <a:solidFill>
            <a:srgbClr val="F0FDFA"/>
          </a:solidFill>
          <a:ln w="1524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45351" y="1243584"/>
            <a:ext cx="2542032" cy="38404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367" y="1243584"/>
            <a:ext cx="2286000" cy="384048"/>
          </a:xfrm>
          <a:prstGeom prst="rect">
            <a:avLst/>
          </a:prstGeom>
          <a:noFill/>
        </p:spPr>
        <p:txBody>
          <a:bodyPr wrap="square" anchor="ctr" lIns="36576" rIns="36576" tIns="18288" bIns="18288">
            <a:spAutoFit/>
          </a:bodyPr>
          <a:lstStyle/>
          <a:p>
            <a:pPr algn="ctr"/>
            <a:r>
              <a:rPr sz="1150" b="1">
                <a:solidFill>
                  <a:srgbClr val="FFFFFF"/>
                </a:solidFill>
                <a:latin typeface="Calibri"/>
              </a:rPr>
              <a:t>STEP 3</a:t>
            </a:r>
          </a:p>
        </p:txBody>
      </p:sp>
      <p:sp>
        <p:nvSpPr>
          <p:cNvPr id="27" name="TextBox 26"/>
          <p:cNvSpPr txBox="1"/>
          <p:nvPr/>
        </p:nvSpPr>
        <p:spPr>
          <a:xfrm>
            <a:off x="6409943" y="1737360"/>
            <a:ext cx="2212848" cy="329184"/>
          </a:xfrm>
          <a:prstGeom prst="rect">
            <a:avLst/>
          </a:prstGeom>
          <a:noFill/>
        </p:spPr>
        <p:txBody>
          <a:bodyPr wrap="square" anchor="t" lIns="36576" rIns="36576" tIns="18288" bIns="18288">
            <a:spAutoFit/>
          </a:bodyPr>
          <a:lstStyle/>
          <a:p>
            <a:pPr algn="l"/>
            <a:r>
              <a:rPr sz="1450" b="1">
                <a:solidFill>
                  <a:srgbClr val="0F172A"/>
                </a:solidFill>
                <a:latin typeface="Calibri"/>
              </a:rPr>
              <a:t>Stage 2: Script</a:t>
            </a:r>
          </a:p>
        </p:txBody>
      </p:sp>
      <p:sp>
        <p:nvSpPr>
          <p:cNvPr id="28" name="TextBox 27"/>
          <p:cNvSpPr txBox="1"/>
          <p:nvPr/>
        </p:nvSpPr>
        <p:spPr>
          <a:xfrm>
            <a:off x="6409943" y="2066543"/>
            <a:ext cx="2212848" cy="256032"/>
          </a:xfrm>
          <a:prstGeom prst="rect">
            <a:avLst/>
          </a:prstGeom>
          <a:noFill/>
        </p:spPr>
        <p:txBody>
          <a:bodyPr wrap="square" anchor="t" lIns="36576" rIns="36576" tIns="18288" bIns="18288">
            <a:spAutoFit/>
          </a:bodyPr>
          <a:lstStyle/>
          <a:p>
            <a:pPr algn="l"/>
            <a:r>
              <a:rPr sz="1100" b="1">
                <a:solidFill>
                  <a:srgbClr val="0D9488"/>
                </a:solidFill>
                <a:latin typeface="Calibri"/>
              </a:rPr>
              <a:t>Gemini Story Model</a:t>
            </a:r>
          </a:p>
        </p:txBody>
      </p:sp>
      <p:sp>
        <p:nvSpPr>
          <p:cNvPr id="29" name="TextBox 28"/>
          <p:cNvSpPr txBox="1"/>
          <p:nvPr/>
        </p:nvSpPr>
        <p:spPr>
          <a:xfrm>
            <a:off x="6409943" y="2395728"/>
            <a:ext cx="2212848" cy="1920240"/>
          </a:xfrm>
          <a:prstGeom prst="rect">
            <a:avLst/>
          </a:prstGeom>
          <a:noFill/>
        </p:spPr>
        <p:txBody>
          <a:bodyPr wrap="square" anchor="t" lIns="36576" rIns="36576" tIns="18288" bIns="18288">
            <a:spAutoFit/>
          </a:bodyPr>
          <a:lstStyle/>
          <a:p>
            <a:pPr algn="l"/>
            <a:r>
              <a:rPr sz="1200" b="0">
                <a:solidFill>
                  <a:srgbClr val="0F172A"/>
                </a:solidFill>
                <a:latin typeface="Calibri"/>
              </a:rPr>
              <a:t>• Uses approved outline
• Writes panel captions
• Adds narration &amp; dialogue
• Builds image prompts</a:t>
            </a:r>
          </a:p>
        </p:txBody>
      </p:sp>
      <p:sp>
        <p:nvSpPr>
          <p:cNvPr id="30" name="TextBox 29"/>
          <p:cNvSpPr txBox="1"/>
          <p:nvPr/>
        </p:nvSpPr>
        <p:spPr>
          <a:xfrm>
            <a:off x="8805672" y="2606040"/>
            <a:ext cx="274320" cy="411480"/>
          </a:xfrm>
          <a:prstGeom prst="rect">
            <a:avLst/>
          </a:prstGeom>
          <a:noFill/>
        </p:spPr>
        <p:txBody>
          <a:bodyPr wrap="square" anchor="t" lIns="36576" rIns="36576" tIns="18288" bIns="18288">
            <a:spAutoFit/>
          </a:bodyPr>
          <a:lstStyle/>
          <a:p>
            <a:pPr algn="ctr"/>
            <a:r>
              <a:rPr sz="1800" b="1">
                <a:solidFill>
                  <a:srgbClr val="0F172A"/>
                </a:solidFill>
                <a:latin typeface="Calibri"/>
              </a:rPr>
              <a:t>➔</a:t>
            </a:r>
          </a:p>
        </p:txBody>
      </p:sp>
      <p:sp>
        <p:nvSpPr>
          <p:cNvPr id="31" name="Rounded Rectangle 30"/>
          <p:cNvSpPr/>
          <p:nvPr/>
        </p:nvSpPr>
        <p:spPr>
          <a:xfrm>
            <a:off x="9093707" y="1243584"/>
            <a:ext cx="2542032" cy="3200400"/>
          </a:xfrm>
          <a:prstGeom prst="roundRect">
            <a:avLst>
              <a:gd name="adj" fmla="val 4000"/>
            </a:avLst>
          </a:prstGeom>
          <a:solidFill>
            <a:srgbClr val="FFFBEB"/>
          </a:solidFill>
          <a:ln w="1524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93707" y="1243584"/>
            <a:ext cx="2542032" cy="384048"/>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21724" y="1243584"/>
            <a:ext cx="2286000" cy="384048"/>
          </a:xfrm>
          <a:prstGeom prst="rect">
            <a:avLst/>
          </a:prstGeom>
          <a:noFill/>
        </p:spPr>
        <p:txBody>
          <a:bodyPr wrap="square" anchor="ctr" lIns="36576" rIns="36576" tIns="18288" bIns="18288">
            <a:spAutoFit/>
          </a:bodyPr>
          <a:lstStyle/>
          <a:p>
            <a:pPr algn="ctr"/>
            <a:r>
              <a:rPr sz="1150" b="1">
                <a:solidFill>
                  <a:srgbClr val="FFFFFF"/>
                </a:solidFill>
                <a:latin typeface="Calibri"/>
              </a:rPr>
              <a:t>STEP 4</a:t>
            </a:r>
          </a:p>
        </p:txBody>
      </p:sp>
      <p:sp>
        <p:nvSpPr>
          <p:cNvPr id="34" name="TextBox 33"/>
          <p:cNvSpPr txBox="1"/>
          <p:nvPr/>
        </p:nvSpPr>
        <p:spPr>
          <a:xfrm>
            <a:off x="9258299" y="1737360"/>
            <a:ext cx="2212848" cy="329184"/>
          </a:xfrm>
          <a:prstGeom prst="rect">
            <a:avLst/>
          </a:prstGeom>
          <a:noFill/>
        </p:spPr>
        <p:txBody>
          <a:bodyPr wrap="square" anchor="t" lIns="36576" rIns="36576" tIns="18288" bIns="18288">
            <a:spAutoFit/>
          </a:bodyPr>
          <a:lstStyle/>
          <a:p>
            <a:pPr algn="l"/>
            <a:r>
              <a:rPr sz="1450" b="1">
                <a:solidFill>
                  <a:srgbClr val="0F172A"/>
                </a:solidFill>
                <a:latin typeface="Calibri"/>
              </a:rPr>
              <a:t>Panel Artwork</a:t>
            </a:r>
          </a:p>
        </p:txBody>
      </p:sp>
      <p:sp>
        <p:nvSpPr>
          <p:cNvPr id="35" name="TextBox 34"/>
          <p:cNvSpPr txBox="1"/>
          <p:nvPr/>
        </p:nvSpPr>
        <p:spPr>
          <a:xfrm>
            <a:off x="9258299" y="2066543"/>
            <a:ext cx="2212848" cy="256032"/>
          </a:xfrm>
          <a:prstGeom prst="rect">
            <a:avLst/>
          </a:prstGeom>
          <a:noFill/>
        </p:spPr>
        <p:txBody>
          <a:bodyPr wrap="square" anchor="t" lIns="36576" rIns="36576" tIns="18288" bIns="18288">
            <a:spAutoFit/>
          </a:bodyPr>
          <a:lstStyle/>
          <a:p>
            <a:pPr algn="l"/>
            <a:r>
              <a:rPr sz="1100" b="1">
                <a:solidFill>
                  <a:srgbClr val="B45309"/>
                </a:solidFill>
                <a:latin typeface="Calibri"/>
              </a:rPr>
              <a:t>Image Provider</a:t>
            </a:r>
          </a:p>
        </p:txBody>
      </p:sp>
      <p:sp>
        <p:nvSpPr>
          <p:cNvPr id="36" name="TextBox 35"/>
          <p:cNvSpPr txBox="1"/>
          <p:nvPr/>
        </p:nvSpPr>
        <p:spPr>
          <a:xfrm>
            <a:off x="9258299" y="2395728"/>
            <a:ext cx="2212848" cy="1920240"/>
          </a:xfrm>
          <a:prstGeom prst="rect">
            <a:avLst/>
          </a:prstGeom>
          <a:noFill/>
        </p:spPr>
        <p:txBody>
          <a:bodyPr wrap="square" anchor="t" lIns="36576" rIns="36576" tIns="18288" bIns="18288">
            <a:spAutoFit/>
          </a:bodyPr>
          <a:lstStyle/>
          <a:p>
            <a:pPr algn="l"/>
            <a:r>
              <a:rPr sz="1200" b="0">
                <a:solidFill>
                  <a:srgbClr val="0F172A"/>
                </a:solidFill>
                <a:latin typeface="Calibri"/>
              </a:rPr>
              <a:t>• Repeats hero traits
• Deterministic seed
• 1 PNG per panel
• Sent to Preview &amp; PDF</a:t>
            </a:r>
          </a:p>
        </p:txBody>
      </p:sp>
      <p:sp>
        <p:nvSpPr>
          <p:cNvPr id="37" name="Rounded Rectangle 36"/>
          <p:cNvSpPr/>
          <p:nvPr/>
        </p:nvSpPr>
        <p:spPr>
          <a:xfrm>
            <a:off x="548640" y="4718304"/>
            <a:ext cx="5413248" cy="1536192"/>
          </a:xfrm>
          <a:prstGeom prst="roundRect">
            <a:avLst>
              <a:gd name="adj" fmla="val 4000"/>
            </a:avLst>
          </a:prstGeom>
          <a:solidFill>
            <a:srgbClr val="FFFFFF"/>
          </a:solidFill>
          <a:ln w="1524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48640" y="4718304"/>
            <a:ext cx="91440" cy="153619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4846320"/>
            <a:ext cx="4983480" cy="310896"/>
          </a:xfrm>
          <a:prstGeom prst="rect">
            <a:avLst/>
          </a:prstGeom>
          <a:noFill/>
        </p:spPr>
        <p:txBody>
          <a:bodyPr wrap="square" anchor="t" lIns="36576" rIns="36576" tIns="18288" bIns="18288">
            <a:spAutoFit/>
          </a:bodyPr>
          <a:lstStyle/>
          <a:p>
            <a:pPr algn="l"/>
            <a:r>
              <a:rPr sz="1300" b="1">
                <a:solidFill>
                  <a:srgbClr val="0D9488"/>
                </a:solidFill>
                <a:latin typeface="Calibri"/>
              </a:rPr>
              <a:t>WHY TWO STAGES?</a:t>
            </a:r>
          </a:p>
        </p:txBody>
      </p:sp>
      <p:sp>
        <p:nvSpPr>
          <p:cNvPr id="40" name="TextBox 39"/>
          <p:cNvSpPr txBox="1"/>
          <p:nvPr/>
        </p:nvSpPr>
        <p:spPr>
          <a:xfrm>
            <a:off x="804672" y="5193792"/>
            <a:ext cx="4983480" cy="914400"/>
          </a:xfrm>
          <a:prstGeom prst="rect">
            <a:avLst/>
          </a:prstGeom>
          <a:noFill/>
        </p:spPr>
        <p:txBody>
          <a:bodyPr wrap="square" anchor="t" lIns="36576" rIns="36576" tIns="18288" bIns="18288">
            <a:spAutoFit/>
          </a:bodyPr>
          <a:lstStyle/>
          <a:p>
            <a:pPr algn="l"/>
            <a:r>
              <a:rPr sz="1200" b="0">
                <a:solidFill>
                  <a:srgbClr val="334155"/>
                </a:solidFill>
                <a:latin typeface="Calibri"/>
              </a:rPr>
              <a:t>Planning the outline in Stage 1 and writing dialogue in Stage 2 gives better story pacing and guarantees the exact number of panels.</a:t>
            </a:r>
          </a:p>
        </p:txBody>
      </p:sp>
      <p:sp>
        <p:nvSpPr>
          <p:cNvPr id="41" name="Rounded Rectangle 40"/>
          <p:cNvSpPr/>
          <p:nvPr/>
        </p:nvSpPr>
        <p:spPr>
          <a:xfrm>
            <a:off x="6227064" y="4718304"/>
            <a:ext cx="5413248" cy="1536192"/>
          </a:xfrm>
          <a:prstGeom prst="roundRect">
            <a:avLst>
              <a:gd name="adj" fmla="val 4000"/>
            </a:avLst>
          </a:prstGeom>
          <a:solidFill>
            <a:srgbClr val="FFFF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227064" y="4718304"/>
            <a:ext cx="91440" cy="153619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83096" y="4846320"/>
            <a:ext cx="4983480" cy="310896"/>
          </a:xfrm>
          <a:prstGeom prst="rect">
            <a:avLst/>
          </a:prstGeom>
          <a:noFill/>
        </p:spPr>
        <p:txBody>
          <a:bodyPr wrap="square" anchor="t" lIns="36576" rIns="36576" tIns="18288" bIns="18288">
            <a:spAutoFit/>
          </a:bodyPr>
          <a:lstStyle/>
          <a:p>
            <a:pPr algn="l"/>
            <a:r>
              <a:rPr sz="1300" b="1">
                <a:solidFill>
                  <a:srgbClr val="2563EB"/>
                </a:solidFill>
                <a:latin typeface="Calibri"/>
              </a:rPr>
              <a:t>WHAT IS THE CHARACTER BIBLE?</a:t>
            </a:r>
          </a:p>
        </p:txBody>
      </p:sp>
      <p:sp>
        <p:nvSpPr>
          <p:cNvPr id="44" name="TextBox 43"/>
          <p:cNvSpPr txBox="1"/>
          <p:nvPr/>
        </p:nvSpPr>
        <p:spPr>
          <a:xfrm>
            <a:off x="6483096" y="5193792"/>
            <a:ext cx="4983480" cy="914400"/>
          </a:xfrm>
          <a:prstGeom prst="rect">
            <a:avLst/>
          </a:prstGeom>
          <a:noFill/>
        </p:spPr>
        <p:txBody>
          <a:bodyPr wrap="square" anchor="t" lIns="36576" rIns="36576" tIns="18288" bIns="18288">
            <a:spAutoFit/>
          </a:bodyPr>
          <a:lstStyle/>
          <a:p>
            <a:pPr algn="l"/>
            <a:r>
              <a:rPr sz="1200" b="0">
                <a:solidFill>
                  <a:srgbClr val="334155"/>
                </a:solidFill>
                <a:latin typeface="Calibri"/>
              </a:rPr>
              <a:t>A fixed visual description of the hero's face, hairstyle, and outfit created in Stage 1 and repeated in every panel's image prompt.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0" cy="73152"/>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744200" y="274320"/>
            <a:ext cx="896112" cy="329184"/>
          </a:xfrm>
          <a:prstGeom prst="roundRect">
            <a:avLst>
              <a:gd name="adj" fmla="val 4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274320"/>
            <a:ext cx="896112" cy="329184"/>
          </a:xfrm>
          <a:prstGeom prst="rect">
            <a:avLst/>
          </a:prstGeom>
          <a:noFill/>
        </p:spPr>
        <p:txBody>
          <a:bodyPr wrap="square" anchor="ctr" lIns="36576" rIns="36576" tIns="18288" bIns="18288">
            <a:spAutoFit/>
          </a:bodyPr>
          <a:lstStyle/>
          <a:p>
            <a:pPr algn="ctr"/>
            <a:r>
              <a:rPr sz="1100" b="1">
                <a:solidFill>
                  <a:srgbClr val="F59E0B"/>
                </a:solidFill>
                <a:latin typeface="Calibri"/>
              </a:rPr>
              <a:t>08 / 10</a:t>
            </a:r>
          </a:p>
        </p:txBody>
      </p:sp>
      <p:sp>
        <p:nvSpPr>
          <p:cNvPr id="6" name="TextBox 5"/>
          <p:cNvSpPr txBox="1"/>
          <p:nvPr/>
        </p:nvSpPr>
        <p:spPr>
          <a:xfrm>
            <a:off x="548640" y="219456"/>
            <a:ext cx="9966960" cy="438912"/>
          </a:xfrm>
          <a:prstGeom prst="rect">
            <a:avLst/>
          </a:prstGeom>
          <a:noFill/>
        </p:spPr>
        <p:txBody>
          <a:bodyPr wrap="square" anchor="t" lIns="36576" rIns="36576" tIns="18288" bIns="18288">
            <a:spAutoFit/>
          </a:bodyPr>
          <a:lstStyle/>
          <a:p>
            <a:pPr algn="l"/>
            <a:r>
              <a:rPr sz="2500" b="1">
                <a:solidFill>
                  <a:srgbClr val="0F172A"/>
                </a:solidFill>
                <a:latin typeface="Calibri"/>
              </a:rPr>
              <a:t>Key Features &amp; Smart Fallback Design</a:t>
            </a:r>
          </a:p>
        </p:txBody>
      </p:sp>
      <p:sp>
        <p:nvSpPr>
          <p:cNvPr id="7" name="TextBox 6"/>
          <p:cNvSpPr txBox="1"/>
          <p:nvPr/>
        </p:nvSpPr>
        <p:spPr>
          <a:xfrm>
            <a:off x="548640" y="658368"/>
            <a:ext cx="10058400" cy="292608"/>
          </a:xfrm>
          <a:prstGeom prst="rect">
            <a:avLst/>
          </a:prstGeom>
          <a:noFill/>
        </p:spPr>
        <p:txBody>
          <a:bodyPr wrap="square" anchor="t" lIns="36576" rIns="36576" tIns="18288" bIns="18288">
            <a:spAutoFit/>
          </a:bodyPr>
          <a:lstStyle/>
          <a:p>
            <a:pPr algn="l"/>
            <a:r>
              <a:rPr sz="1300" b="0">
                <a:solidFill>
                  <a:srgbClr val="64748B"/>
                </a:solidFill>
                <a:latin typeface="Calibri"/>
              </a:rPr>
              <a:t>Built for reliable execution both online with AI models and offline in Demo Mode</a:t>
            </a:r>
          </a:p>
        </p:txBody>
      </p:sp>
      <p:sp>
        <p:nvSpPr>
          <p:cNvPr id="8" name="Rectangle 7"/>
          <p:cNvSpPr/>
          <p:nvPr/>
        </p:nvSpPr>
        <p:spPr>
          <a:xfrm>
            <a:off x="548640" y="987552"/>
            <a:ext cx="11094415" cy="16459"/>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510528"/>
            <a:ext cx="7315200" cy="228600"/>
          </a:xfrm>
          <a:prstGeom prst="rect">
            <a:avLst/>
          </a:prstGeom>
          <a:noFill/>
        </p:spPr>
        <p:txBody>
          <a:bodyPr wrap="square" anchor="t" lIns="36576" rIns="36576" tIns="18288" bIns="18288">
            <a:spAutoFit/>
          </a:bodyPr>
          <a:lstStyle/>
          <a:p>
            <a:pPr algn="l"/>
            <a:r>
              <a:rPr sz="950" b="0">
                <a:solidFill>
                  <a:srgbClr val="64748B"/>
                </a:solidFill>
                <a:latin typeface="Calibri"/>
              </a:rPr>
              <a:t>ComicCraft — AI Comic Story Creator</a:t>
            </a:r>
          </a:p>
        </p:txBody>
      </p:sp>
      <p:sp>
        <p:nvSpPr>
          <p:cNvPr id="10" name="Rounded Rectangle 9"/>
          <p:cNvSpPr/>
          <p:nvPr/>
        </p:nvSpPr>
        <p:spPr>
          <a:xfrm>
            <a:off x="548640" y="1225296"/>
            <a:ext cx="3529584" cy="5010912"/>
          </a:xfrm>
          <a:prstGeom prst="roundRect">
            <a:avLst>
              <a:gd name="adj" fmla="val 4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225296"/>
            <a:ext cx="3529584" cy="457200"/>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225296"/>
            <a:ext cx="3273552" cy="457200"/>
          </a:xfrm>
          <a:prstGeom prst="rect">
            <a:avLst/>
          </a:prstGeom>
          <a:noFill/>
        </p:spPr>
        <p:txBody>
          <a:bodyPr wrap="square" anchor="ctr" lIns="36576" rIns="36576" tIns="18288" bIns="18288">
            <a:spAutoFit/>
          </a:bodyPr>
          <a:lstStyle/>
          <a:p>
            <a:pPr algn="ctr"/>
            <a:r>
              <a:rPr sz="1200" b="1">
                <a:solidFill>
                  <a:srgbClr val="FFFFFF"/>
                </a:solidFill>
                <a:latin typeface="Calibri"/>
              </a:rPr>
              <a:t>1. SMART AI FALLBACKS</a:t>
            </a:r>
          </a:p>
        </p:txBody>
      </p:sp>
      <p:sp>
        <p:nvSpPr>
          <p:cNvPr id="13" name="TextBox 12"/>
          <p:cNvSpPr txBox="1"/>
          <p:nvPr/>
        </p:nvSpPr>
        <p:spPr>
          <a:xfrm>
            <a:off x="731520" y="1865376"/>
            <a:ext cx="3163824" cy="4206240"/>
          </a:xfrm>
          <a:prstGeom prst="rect">
            <a:avLst/>
          </a:prstGeom>
          <a:noFill/>
        </p:spPr>
        <p:txBody>
          <a:bodyPr wrap="square" lIns="45720" rIns="45720" tIns="27432" bIns="27432">
            <a:spAutoFit/>
          </a:bodyPr>
          <a:lstStyle/>
          <a:p>
            <a:pPr>
              <a:lnSpc>
                <a:spcPct val="122000"/>
              </a:lnSpc>
              <a:spcAft>
                <a:spcPts val="1400"/>
              </a:spcAft>
            </a:pPr>
            <a:r>
              <a:rPr sz="1230" b="1">
                <a:solidFill>
                  <a:srgbClr val="B45309"/>
                </a:solidFill>
                <a:latin typeface="Calibri"/>
              </a:rPr>
              <a:t>▪  </a:t>
            </a:r>
            <a:r>
              <a:rPr sz="1230" b="1">
                <a:solidFill>
                  <a:srgbClr val="0F172A"/>
                </a:solidFill>
                <a:latin typeface="Calibri"/>
              </a:rPr>
              <a:t>Auto Retry: </a:t>
            </a:r>
            <a:r>
              <a:rPr sz="1230">
                <a:solidFill>
                  <a:srgbClr val="334155"/>
                </a:solidFill>
                <a:latin typeface="Calibri"/>
              </a:rPr>
              <a:t>Automatically retries temporary API errors (429 / 503) using exponential backoff.</a:t>
            </a:r>
          </a:p>
          <a:p>
            <a:pPr>
              <a:lnSpc>
                <a:spcPct val="122000"/>
              </a:lnSpc>
              <a:spcAft>
                <a:spcPts val="1400"/>
              </a:spcAft>
            </a:pPr>
            <a:r>
              <a:rPr sz="1230" b="1">
                <a:solidFill>
                  <a:srgbClr val="B45309"/>
                </a:solidFill>
                <a:latin typeface="Calibri"/>
              </a:rPr>
              <a:t>▪  </a:t>
            </a:r>
            <a:r>
              <a:rPr sz="1230" b="1">
                <a:solidFill>
                  <a:srgbClr val="0F172A"/>
                </a:solidFill>
                <a:latin typeface="Calibri"/>
              </a:rPr>
              <a:t>Backup Models: </a:t>
            </a:r>
            <a:r>
              <a:rPr sz="1230">
                <a:solidFill>
                  <a:srgbClr val="334155"/>
                </a:solidFill>
                <a:latin typeface="Calibri"/>
              </a:rPr>
              <a:t>Switches immediately to fallback Gemini models if a primary model is unavailable.</a:t>
            </a:r>
          </a:p>
          <a:p>
            <a:pPr>
              <a:lnSpc>
                <a:spcPct val="122000"/>
              </a:lnSpc>
              <a:spcAft>
                <a:spcPts val="1400"/>
              </a:spcAft>
            </a:pPr>
            <a:r>
              <a:rPr sz="1230" b="1">
                <a:solidFill>
                  <a:srgbClr val="B45309"/>
                </a:solidFill>
                <a:latin typeface="Calibri"/>
              </a:rPr>
              <a:t>▪  </a:t>
            </a:r>
            <a:r>
              <a:rPr sz="1230" b="1">
                <a:solidFill>
                  <a:srgbClr val="0F172A"/>
                </a:solidFill>
                <a:latin typeface="Calibri"/>
              </a:rPr>
              <a:t>Offline Demo Mode: </a:t>
            </a:r>
            <a:r>
              <a:rPr sz="1230">
                <a:solidFill>
                  <a:srgbClr val="334155"/>
                </a:solidFill>
                <a:latin typeface="Calibri"/>
              </a:rPr>
              <a:t>Generates complete demo stories offline when no Gemini API key is configured.</a:t>
            </a:r>
          </a:p>
        </p:txBody>
      </p:sp>
      <p:sp>
        <p:nvSpPr>
          <p:cNvPr id="14" name="Rounded Rectangle 13"/>
          <p:cNvSpPr/>
          <p:nvPr/>
        </p:nvSpPr>
        <p:spPr>
          <a:xfrm>
            <a:off x="4329683" y="1225296"/>
            <a:ext cx="3529584" cy="5010912"/>
          </a:xfrm>
          <a:prstGeom prst="roundRect">
            <a:avLst>
              <a:gd name="adj" fmla="val 4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9683" y="1225296"/>
            <a:ext cx="3529584" cy="457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57699" y="1225296"/>
            <a:ext cx="3273552" cy="457200"/>
          </a:xfrm>
          <a:prstGeom prst="rect">
            <a:avLst/>
          </a:prstGeom>
          <a:noFill/>
        </p:spPr>
        <p:txBody>
          <a:bodyPr wrap="square" anchor="ctr" lIns="36576" rIns="36576" tIns="18288" bIns="18288">
            <a:spAutoFit/>
          </a:bodyPr>
          <a:lstStyle/>
          <a:p>
            <a:pPr algn="ctr"/>
            <a:r>
              <a:rPr sz="1200" b="1">
                <a:solidFill>
                  <a:srgbClr val="FFFFFF"/>
                </a:solidFill>
                <a:latin typeface="Calibri"/>
              </a:rPr>
              <a:t>2. FLEXIBLE IMAGE MODES</a:t>
            </a:r>
          </a:p>
        </p:txBody>
      </p:sp>
      <p:sp>
        <p:nvSpPr>
          <p:cNvPr id="17" name="TextBox 16"/>
          <p:cNvSpPr txBox="1"/>
          <p:nvPr/>
        </p:nvSpPr>
        <p:spPr>
          <a:xfrm>
            <a:off x="4512564" y="1865376"/>
            <a:ext cx="3163824" cy="4206240"/>
          </a:xfrm>
          <a:prstGeom prst="rect">
            <a:avLst/>
          </a:prstGeom>
          <a:noFill/>
        </p:spPr>
        <p:txBody>
          <a:bodyPr wrap="square" lIns="45720" rIns="45720" tIns="27432" bIns="27432">
            <a:spAutoFit/>
          </a:bodyPr>
          <a:lstStyle/>
          <a:p>
            <a:pPr>
              <a:lnSpc>
                <a:spcPct val="122000"/>
              </a:lnSpc>
              <a:spcAft>
                <a:spcPts val="1400"/>
              </a:spcAft>
            </a:pPr>
            <a:r>
              <a:rPr sz="1230" b="1">
                <a:solidFill>
                  <a:srgbClr val="0D9488"/>
                </a:solidFill>
                <a:latin typeface="Calibri"/>
              </a:rPr>
              <a:t>▪  </a:t>
            </a:r>
            <a:r>
              <a:rPr sz="1230" b="1">
                <a:solidFill>
                  <a:srgbClr val="0F172A"/>
                </a:solidFill>
                <a:latin typeface="Calibri"/>
              </a:rPr>
              <a:t>Three Providers: </a:t>
            </a:r>
            <a:r>
              <a:rPr sz="1230">
                <a:solidFill>
                  <a:srgbClr val="334155"/>
                </a:solidFill>
                <a:latin typeface="Calibri"/>
              </a:rPr>
              <a:t>Supports Pillow Placeholder, Hugging Face Cloud SDXL, and Local Stable Diffusion.</a:t>
            </a:r>
          </a:p>
          <a:p>
            <a:pPr>
              <a:lnSpc>
                <a:spcPct val="122000"/>
              </a:lnSpc>
              <a:spcAft>
                <a:spcPts val="1400"/>
              </a:spcAft>
            </a:pPr>
            <a:r>
              <a:rPr sz="1230" b="1">
                <a:solidFill>
                  <a:srgbClr val="0D9488"/>
                </a:solidFill>
                <a:latin typeface="Calibri"/>
              </a:rPr>
              <a:t>▪  </a:t>
            </a:r>
            <a:r>
              <a:rPr sz="1230" b="1">
                <a:solidFill>
                  <a:srgbClr val="0F172A"/>
                </a:solidFill>
                <a:latin typeface="Calibri"/>
              </a:rPr>
              <a:t>Per-Panel Protection: </a:t>
            </a:r>
            <a:r>
              <a:rPr sz="1230">
                <a:solidFill>
                  <a:srgbClr val="334155"/>
                </a:solidFill>
                <a:latin typeface="Calibri"/>
              </a:rPr>
              <a:t>If one panel image fails, only that panel uses a placeholder—the comic still finishes.</a:t>
            </a:r>
          </a:p>
          <a:p>
            <a:pPr>
              <a:lnSpc>
                <a:spcPct val="122000"/>
              </a:lnSpc>
              <a:spcAft>
                <a:spcPts val="1400"/>
              </a:spcAft>
            </a:pPr>
            <a:r>
              <a:rPr sz="1230" b="1">
                <a:solidFill>
                  <a:srgbClr val="0D9488"/>
                </a:solidFill>
                <a:latin typeface="Calibri"/>
              </a:rPr>
              <a:t>▪  </a:t>
            </a:r>
            <a:r>
              <a:rPr sz="1230" b="1">
                <a:solidFill>
                  <a:srgbClr val="0F172A"/>
                </a:solidFill>
                <a:latin typeface="Calibri"/>
              </a:rPr>
              <a:t>Clear Badges: </a:t>
            </a:r>
            <a:r>
              <a:rPr sz="1230">
                <a:solidFill>
                  <a:srgbClr val="334155"/>
                </a:solidFill>
                <a:latin typeface="Calibri"/>
              </a:rPr>
              <a:t>Shows honest provider labels and fallback warnings right on the preview page.</a:t>
            </a:r>
          </a:p>
        </p:txBody>
      </p:sp>
      <p:sp>
        <p:nvSpPr>
          <p:cNvPr id="18" name="Rounded Rectangle 17"/>
          <p:cNvSpPr/>
          <p:nvPr/>
        </p:nvSpPr>
        <p:spPr>
          <a:xfrm>
            <a:off x="8110727" y="1225296"/>
            <a:ext cx="3529584" cy="5010912"/>
          </a:xfrm>
          <a:prstGeom prst="roundRect">
            <a:avLst>
              <a:gd name="adj" fmla="val 4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10727" y="1225296"/>
            <a:ext cx="3529584" cy="4572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38744" y="1225296"/>
            <a:ext cx="3273552" cy="457200"/>
          </a:xfrm>
          <a:prstGeom prst="rect">
            <a:avLst/>
          </a:prstGeom>
          <a:noFill/>
        </p:spPr>
        <p:txBody>
          <a:bodyPr wrap="square" anchor="ctr" lIns="36576" rIns="36576" tIns="18288" bIns="18288">
            <a:spAutoFit/>
          </a:bodyPr>
          <a:lstStyle/>
          <a:p>
            <a:pPr algn="ctr"/>
            <a:r>
              <a:rPr sz="1200" b="1">
                <a:solidFill>
                  <a:srgbClr val="FFFFFF"/>
                </a:solidFill>
                <a:latin typeface="Calibri"/>
              </a:rPr>
              <a:t>3. PDF &amp; SAFE STORAGE</a:t>
            </a:r>
          </a:p>
        </p:txBody>
      </p:sp>
      <p:sp>
        <p:nvSpPr>
          <p:cNvPr id="21" name="TextBox 20"/>
          <p:cNvSpPr txBox="1"/>
          <p:nvPr/>
        </p:nvSpPr>
        <p:spPr>
          <a:xfrm>
            <a:off x="8293607" y="1865376"/>
            <a:ext cx="3163824" cy="4206240"/>
          </a:xfrm>
          <a:prstGeom prst="rect">
            <a:avLst/>
          </a:prstGeom>
          <a:noFill/>
        </p:spPr>
        <p:txBody>
          <a:bodyPr wrap="square" lIns="45720" rIns="45720" tIns="27432" bIns="27432">
            <a:spAutoFit/>
          </a:bodyPr>
          <a:lstStyle/>
          <a:p>
            <a:pPr>
              <a:lnSpc>
                <a:spcPct val="122000"/>
              </a:lnSpc>
              <a:spcAft>
                <a:spcPts val="1400"/>
              </a:spcAft>
            </a:pPr>
            <a:r>
              <a:rPr sz="1230" b="1">
                <a:solidFill>
                  <a:srgbClr val="2563EB"/>
                </a:solidFill>
                <a:latin typeface="Calibri"/>
              </a:rPr>
              <a:t>▪  </a:t>
            </a:r>
            <a:r>
              <a:rPr sz="1230" b="1">
                <a:solidFill>
                  <a:srgbClr val="0F172A"/>
                </a:solidFill>
                <a:latin typeface="Calibri"/>
              </a:rPr>
              <a:t>A4 PDF Export: </a:t>
            </a:r>
            <a:r>
              <a:rPr sz="1230">
                <a:solidFill>
                  <a:srgbClr val="334155"/>
                </a:solidFill>
                <a:latin typeface="Calibri"/>
              </a:rPr>
              <a:t>Builds a styled cover page and per-panel pages with Unicode DejaVu fonts.</a:t>
            </a:r>
          </a:p>
          <a:p>
            <a:pPr>
              <a:lnSpc>
                <a:spcPct val="122000"/>
              </a:lnSpc>
              <a:spcAft>
                <a:spcPts val="1400"/>
              </a:spcAft>
            </a:pPr>
            <a:r>
              <a:rPr sz="1230" b="1">
                <a:solidFill>
                  <a:srgbClr val="2563EB"/>
                </a:solidFill>
                <a:latin typeface="Calibri"/>
              </a:rPr>
              <a:t>▪  </a:t>
            </a:r>
            <a:r>
              <a:rPr sz="1230" b="1">
                <a:solidFill>
                  <a:srgbClr val="0F172A"/>
                </a:solidFill>
                <a:latin typeface="Calibri"/>
              </a:rPr>
              <a:t>UUID Workspaces: </a:t>
            </a:r>
            <a:r>
              <a:rPr sz="1230">
                <a:solidFill>
                  <a:srgbClr val="334155"/>
                </a:solidFill>
                <a:latin typeface="Calibri"/>
              </a:rPr>
              <a:t>Stores every comic safely in its own isolated folder (PNGs, PDF, and JSON).</a:t>
            </a:r>
          </a:p>
          <a:p>
            <a:pPr>
              <a:lnSpc>
                <a:spcPct val="122000"/>
              </a:lnSpc>
              <a:spcAft>
                <a:spcPts val="1400"/>
              </a:spcAft>
            </a:pPr>
            <a:r>
              <a:rPr sz="1230" b="1">
                <a:solidFill>
                  <a:srgbClr val="2563EB"/>
                </a:solidFill>
                <a:latin typeface="Calibri"/>
              </a:rPr>
              <a:t>▪  </a:t>
            </a:r>
            <a:r>
              <a:rPr sz="1230" b="1">
                <a:solidFill>
                  <a:srgbClr val="0F172A"/>
                </a:solidFill>
                <a:latin typeface="Calibri"/>
              </a:rPr>
              <a:t>Reopen Anytime: </a:t>
            </a:r>
            <a:r>
              <a:rPr sz="1230">
                <a:solidFill>
                  <a:srgbClr val="334155"/>
                </a:solidFill>
                <a:latin typeface="Calibri"/>
              </a:rPr>
              <a:t>Saved comics can be viewed at /comics/{id} or downloaded at /download/{id}.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0" cy="7315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744200" y="274320"/>
            <a:ext cx="896112" cy="329184"/>
          </a:xfrm>
          <a:prstGeom prst="roundRect">
            <a:avLst>
              <a:gd name="adj" fmla="val 4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274320"/>
            <a:ext cx="896112" cy="329184"/>
          </a:xfrm>
          <a:prstGeom prst="rect">
            <a:avLst/>
          </a:prstGeom>
          <a:noFill/>
        </p:spPr>
        <p:txBody>
          <a:bodyPr wrap="square" anchor="ctr" lIns="36576" rIns="36576" tIns="18288" bIns="18288">
            <a:spAutoFit/>
          </a:bodyPr>
          <a:lstStyle/>
          <a:p>
            <a:pPr algn="ctr"/>
            <a:r>
              <a:rPr sz="1100" b="1">
                <a:solidFill>
                  <a:srgbClr val="F59E0B"/>
                </a:solidFill>
                <a:latin typeface="Calibri"/>
              </a:rPr>
              <a:t>09 / 10</a:t>
            </a:r>
          </a:p>
        </p:txBody>
      </p:sp>
      <p:sp>
        <p:nvSpPr>
          <p:cNvPr id="6" name="TextBox 5"/>
          <p:cNvSpPr txBox="1"/>
          <p:nvPr/>
        </p:nvSpPr>
        <p:spPr>
          <a:xfrm>
            <a:off x="548640" y="219456"/>
            <a:ext cx="9966960" cy="438912"/>
          </a:xfrm>
          <a:prstGeom prst="rect">
            <a:avLst/>
          </a:prstGeom>
          <a:noFill/>
        </p:spPr>
        <p:txBody>
          <a:bodyPr wrap="square" anchor="t" lIns="36576" rIns="36576" tIns="18288" bIns="18288">
            <a:spAutoFit/>
          </a:bodyPr>
          <a:lstStyle/>
          <a:p>
            <a:pPr algn="l"/>
            <a:r>
              <a:rPr sz="2500" b="1">
                <a:solidFill>
                  <a:srgbClr val="0F172A"/>
                </a:solidFill>
                <a:latin typeface="Calibri"/>
              </a:rPr>
              <a:t>Application Output &amp; Screenshots</a:t>
            </a:r>
          </a:p>
        </p:txBody>
      </p:sp>
      <p:sp>
        <p:nvSpPr>
          <p:cNvPr id="7" name="TextBox 6"/>
          <p:cNvSpPr txBox="1"/>
          <p:nvPr/>
        </p:nvSpPr>
        <p:spPr>
          <a:xfrm>
            <a:off x="548640" y="658368"/>
            <a:ext cx="10058400" cy="292608"/>
          </a:xfrm>
          <a:prstGeom prst="rect">
            <a:avLst/>
          </a:prstGeom>
          <a:noFill/>
        </p:spPr>
        <p:txBody>
          <a:bodyPr wrap="square" anchor="t" lIns="36576" rIns="36576" tIns="18288" bIns="18288">
            <a:spAutoFit/>
          </a:bodyPr>
          <a:lstStyle/>
          <a:p>
            <a:pPr algn="l"/>
            <a:r>
              <a:rPr sz="1300" b="0">
                <a:solidFill>
                  <a:srgbClr val="64748B"/>
                </a:solidFill>
                <a:latin typeface="Calibri"/>
              </a:rPr>
              <a:t>Real screens from the ComicCraft web studio and exported A4 PDF</a:t>
            </a:r>
          </a:p>
        </p:txBody>
      </p:sp>
      <p:sp>
        <p:nvSpPr>
          <p:cNvPr id="8" name="Rectangle 7"/>
          <p:cNvSpPr/>
          <p:nvPr/>
        </p:nvSpPr>
        <p:spPr>
          <a:xfrm>
            <a:off x="548640" y="987552"/>
            <a:ext cx="11094415" cy="16459"/>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510528"/>
            <a:ext cx="7315200" cy="228600"/>
          </a:xfrm>
          <a:prstGeom prst="rect">
            <a:avLst/>
          </a:prstGeom>
          <a:noFill/>
        </p:spPr>
        <p:txBody>
          <a:bodyPr wrap="square" anchor="t" lIns="36576" rIns="36576" tIns="18288" bIns="18288">
            <a:spAutoFit/>
          </a:bodyPr>
          <a:lstStyle/>
          <a:p>
            <a:pPr algn="l"/>
            <a:r>
              <a:rPr sz="950" b="0">
                <a:solidFill>
                  <a:srgbClr val="64748B"/>
                </a:solidFill>
                <a:latin typeface="Calibri"/>
              </a:rPr>
              <a:t>ComicCraft — AI Comic Story Creator</a:t>
            </a:r>
          </a:p>
        </p:txBody>
      </p:sp>
      <p:sp>
        <p:nvSpPr>
          <p:cNvPr id="10" name="Rounded Rectangle 9"/>
          <p:cNvSpPr/>
          <p:nvPr/>
        </p:nvSpPr>
        <p:spPr>
          <a:xfrm>
            <a:off x="548640" y="1225296"/>
            <a:ext cx="3529584" cy="5010912"/>
          </a:xfrm>
          <a:prstGeom prst="roundRect">
            <a:avLst>
              <a:gd name="adj" fmla="val 4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225296"/>
            <a:ext cx="3529584" cy="8229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1371600"/>
            <a:ext cx="3200400" cy="329184"/>
          </a:xfrm>
          <a:prstGeom prst="rect">
            <a:avLst/>
          </a:prstGeom>
          <a:noFill/>
        </p:spPr>
        <p:txBody>
          <a:bodyPr wrap="square" anchor="t" lIns="36576" rIns="36576" tIns="18288" bIns="18288">
            <a:spAutoFit/>
          </a:bodyPr>
          <a:lstStyle/>
          <a:p>
            <a:pPr algn="l"/>
            <a:r>
              <a:rPr sz="1350" b="1">
                <a:solidFill>
                  <a:srgbClr val="0F172A"/>
                </a:solidFill>
                <a:latin typeface="Calibri"/>
              </a:rPr>
              <a:t>1. Comic Creation Form</a:t>
            </a:r>
          </a:p>
        </p:txBody>
      </p:sp>
      <p:sp>
        <p:nvSpPr>
          <p:cNvPr id="13" name="Rectangle 12"/>
          <p:cNvSpPr/>
          <p:nvPr/>
        </p:nvSpPr>
        <p:spPr>
          <a:xfrm>
            <a:off x="694944" y="1773936"/>
            <a:ext cx="3236976" cy="3127248"/>
          </a:xfrm>
          <a:prstGeom prst="rect">
            <a:avLst/>
          </a:prstGeom>
          <a:solidFill>
            <a:srgbClr val="F8FAFC"/>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omiccraft-input-form.png"/>
          <p:cNvPicPr>
            <a:picLocks noChangeAspect="1"/>
          </p:cNvPicPr>
          <p:nvPr/>
        </p:nvPicPr>
        <p:blipFill>
          <a:blip r:embed="rId2"/>
          <a:stretch>
            <a:fillRect/>
          </a:stretch>
        </p:blipFill>
        <p:spPr>
          <a:xfrm>
            <a:off x="731520" y="2293937"/>
            <a:ext cx="3163824" cy="2087244"/>
          </a:xfrm>
          <a:prstGeom prst="rect">
            <a:avLst/>
          </a:prstGeom>
        </p:spPr>
      </p:pic>
      <p:sp>
        <p:nvSpPr>
          <p:cNvPr id="15" name="TextBox 14"/>
          <p:cNvSpPr txBox="1"/>
          <p:nvPr/>
        </p:nvSpPr>
        <p:spPr>
          <a:xfrm>
            <a:off x="713232" y="5029200"/>
            <a:ext cx="3200400" cy="1051560"/>
          </a:xfrm>
          <a:prstGeom prst="rect">
            <a:avLst/>
          </a:prstGeom>
          <a:noFill/>
        </p:spPr>
        <p:txBody>
          <a:bodyPr wrap="square" anchor="t" lIns="36576" rIns="36576" tIns="18288" bIns="18288">
            <a:spAutoFit/>
          </a:bodyPr>
          <a:lstStyle/>
          <a:p>
            <a:pPr algn="l"/>
            <a:r>
              <a:rPr sz="1180" b="0">
                <a:solidFill>
                  <a:srgbClr val="334155"/>
                </a:solidFill>
                <a:latin typeface="Calibri"/>
              </a:rPr>
              <a:t>Clean web form to enter story idea, character, setting, tone, art style, and panel count.</a:t>
            </a:r>
          </a:p>
        </p:txBody>
      </p:sp>
      <p:sp>
        <p:nvSpPr>
          <p:cNvPr id="16" name="Rounded Rectangle 15"/>
          <p:cNvSpPr/>
          <p:nvPr/>
        </p:nvSpPr>
        <p:spPr>
          <a:xfrm>
            <a:off x="4329683" y="1225296"/>
            <a:ext cx="3529584" cy="5010912"/>
          </a:xfrm>
          <a:prstGeom prst="roundRect">
            <a:avLst>
              <a:gd name="adj" fmla="val 4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683" y="1225296"/>
            <a:ext cx="3529584" cy="822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94275" y="1371600"/>
            <a:ext cx="3200400" cy="329184"/>
          </a:xfrm>
          <a:prstGeom prst="rect">
            <a:avLst/>
          </a:prstGeom>
          <a:noFill/>
        </p:spPr>
        <p:txBody>
          <a:bodyPr wrap="square" anchor="t" lIns="36576" rIns="36576" tIns="18288" bIns="18288">
            <a:spAutoFit/>
          </a:bodyPr>
          <a:lstStyle/>
          <a:p>
            <a:pPr algn="l"/>
            <a:r>
              <a:rPr sz="1350" b="1">
                <a:solidFill>
                  <a:srgbClr val="0F172A"/>
                </a:solidFill>
                <a:latin typeface="Calibri"/>
              </a:rPr>
              <a:t>2. Generated Panels Preview</a:t>
            </a:r>
          </a:p>
        </p:txBody>
      </p:sp>
      <p:sp>
        <p:nvSpPr>
          <p:cNvPr id="19" name="Rectangle 18"/>
          <p:cNvSpPr/>
          <p:nvPr/>
        </p:nvSpPr>
        <p:spPr>
          <a:xfrm>
            <a:off x="4475988" y="1773936"/>
            <a:ext cx="3236976" cy="3127248"/>
          </a:xfrm>
          <a:prstGeom prst="rect">
            <a:avLst/>
          </a:prstGeom>
          <a:solidFill>
            <a:srgbClr val="F8FAFC"/>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iccraft-comic-panels.png"/>
          <p:cNvPicPr>
            <a:picLocks noChangeAspect="1"/>
          </p:cNvPicPr>
          <p:nvPr/>
        </p:nvPicPr>
        <p:blipFill>
          <a:blip r:embed="rId3"/>
          <a:stretch>
            <a:fillRect/>
          </a:stretch>
        </p:blipFill>
        <p:spPr>
          <a:xfrm>
            <a:off x="4512564" y="2293937"/>
            <a:ext cx="3163824" cy="2087244"/>
          </a:xfrm>
          <a:prstGeom prst="rect">
            <a:avLst/>
          </a:prstGeom>
        </p:spPr>
      </p:pic>
      <p:sp>
        <p:nvSpPr>
          <p:cNvPr id="21" name="TextBox 20"/>
          <p:cNvSpPr txBox="1"/>
          <p:nvPr/>
        </p:nvSpPr>
        <p:spPr>
          <a:xfrm>
            <a:off x="4494275" y="5029200"/>
            <a:ext cx="3200400" cy="1051560"/>
          </a:xfrm>
          <a:prstGeom prst="rect">
            <a:avLst/>
          </a:prstGeom>
          <a:noFill/>
        </p:spPr>
        <p:txBody>
          <a:bodyPr wrap="square" anchor="t" lIns="36576" rIns="36576" tIns="18288" bIns="18288">
            <a:spAutoFit/>
          </a:bodyPr>
          <a:lstStyle/>
          <a:p>
            <a:pPr algn="l"/>
            <a:r>
              <a:rPr sz="1180" b="0">
                <a:solidFill>
                  <a:srgbClr val="334155"/>
                </a:solidFill>
                <a:latin typeface="Calibri"/>
              </a:rPr>
              <a:t>Responsive preview pairing each panel's artwork with its caption, narration, and dialogue.</a:t>
            </a:r>
          </a:p>
        </p:txBody>
      </p:sp>
      <p:sp>
        <p:nvSpPr>
          <p:cNvPr id="22" name="Rounded Rectangle 21"/>
          <p:cNvSpPr/>
          <p:nvPr/>
        </p:nvSpPr>
        <p:spPr>
          <a:xfrm>
            <a:off x="8110727" y="1225296"/>
            <a:ext cx="3529584" cy="5010912"/>
          </a:xfrm>
          <a:prstGeom prst="roundRect">
            <a:avLst>
              <a:gd name="adj" fmla="val 4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10727" y="1225296"/>
            <a:ext cx="3529584" cy="82296"/>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75319" y="1371600"/>
            <a:ext cx="3200400" cy="329184"/>
          </a:xfrm>
          <a:prstGeom prst="rect">
            <a:avLst/>
          </a:prstGeom>
          <a:noFill/>
        </p:spPr>
        <p:txBody>
          <a:bodyPr wrap="square" anchor="t" lIns="36576" rIns="36576" tIns="18288" bIns="18288">
            <a:spAutoFit/>
          </a:bodyPr>
          <a:lstStyle/>
          <a:p>
            <a:pPr algn="l"/>
            <a:r>
              <a:rPr sz="1350" b="1">
                <a:solidFill>
                  <a:srgbClr val="0F172A"/>
                </a:solidFill>
                <a:latin typeface="Calibri"/>
              </a:rPr>
              <a:t>3. Exported A4 Comic PDF</a:t>
            </a:r>
          </a:p>
        </p:txBody>
      </p:sp>
      <p:sp>
        <p:nvSpPr>
          <p:cNvPr id="25" name="Rectangle 24"/>
          <p:cNvSpPr/>
          <p:nvPr/>
        </p:nvSpPr>
        <p:spPr>
          <a:xfrm>
            <a:off x="8257031" y="1773936"/>
            <a:ext cx="3236976" cy="3127248"/>
          </a:xfrm>
          <a:prstGeom prst="rect">
            <a:avLst/>
          </a:prstGeom>
          <a:solidFill>
            <a:srgbClr val="F8FAFC"/>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miccraft-pdf-output.png"/>
          <p:cNvPicPr>
            <a:picLocks noChangeAspect="1"/>
          </p:cNvPicPr>
          <p:nvPr/>
        </p:nvPicPr>
        <p:blipFill>
          <a:blip r:embed="rId4"/>
          <a:stretch>
            <a:fillRect/>
          </a:stretch>
        </p:blipFill>
        <p:spPr>
          <a:xfrm>
            <a:off x="8293607" y="2222537"/>
            <a:ext cx="3163824" cy="2230044"/>
          </a:xfrm>
          <a:prstGeom prst="rect">
            <a:avLst/>
          </a:prstGeom>
        </p:spPr>
      </p:pic>
      <p:sp>
        <p:nvSpPr>
          <p:cNvPr id="27" name="TextBox 26"/>
          <p:cNvSpPr txBox="1"/>
          <p:nvPr/>
        </p:nvSpPr>
        <p:spPr>
          <a:xfrm>
            <a:off x="8275319" y="5029200"/>
            <a:ext cx="3200400" cy="1051560"/>
          </a:xfrm>
          <a:prstGeom prst="rect">
            <a:avLst/>
          </a:prstGeom>
          <a:noFill/>
        </p:spPr>
        <p:txBody>
          <a:bodyPr wrap="square" anchor="t" lIns="36576" rIns="36576" tIns="18288" bIns="18288">
            <a:spAutoFit/>
          </a:bodyPr>
          <a:lstStyle/>
          <a:p>
            <a:pPr algn="l"/>
            <a:r>
              <a:rPr sz="1180" b="0">
                <a:solidFill>
                  <a:srgbClr val="334155"/>
                </a:solidFill>
                <a:latin typeface="Calibri"/>
              </a:rPr>
              <a:t>Downloadable A4 PDF book featuring a styled dark cover page and one page per panel.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0" cy="7315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744200" y="274320"/>
            <a:ext cx="896112" cy="329184"/>
          </a:xfrm>
          <a:prstGeom prst="roundRect">
            <a:avLst>
              <a:gd name="adj" fmla="val 4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274320"/>
            <a:ext cx="896112" cy="329184"/>
          </a:xfrm>
          <a:prstGeom prst="rect">
            <a:avLst/>
          </a:prstGeom>
          <a:noFill/>
        </p:spPr>
        <p:txBody>
          <a:bodyPr wrap="square" anchor="ctr" lIns="36576" rIns="36576" tIns="18288" bIns="18288">
            <a:spAutoFit/>
          </a:bodyPr>
          <a:lstStyle/>
          <a:p>
            <a:pPr algn="ctr"/>
            <a:r>
              <a:rPr sz="1100" b="1">
                <a:solidFill>
                  <a:srgbClr val="F59E0B"/>
                </a:solidFill>
                <a:latin typeface="Calibri"/>
              </a:rPr>
              <a:t>10 / 10</a:t>
            </a:r>
          </a:p>
        </p:txBody>
      </p:sp>
      <p:sp>
        <p:nvSpPr>
          <p:cNvPr id="6" name="TextBox 5"/>
          <p:cNvSpPr txBox="1"/>
          <p:nvPr/>
        </p:nvSpPr>
        <p:spPr>
          <a:xfrm>
            <a:off x="548640" y="219456"/>
            <a:ext cx="9966960" cy="438912"/>
          </a:xfrm>
          <a:prstGeom prst="rect">
            <a:avLst/>
          </a:prstGeom>
          <a:noFill/>
        </p:spPr>
        <p:txBody>
          <a:bodyPr wrap="square" anchor="t" lIns="36576" rIns="36576" tIns="18288" bIns="18288">
            <a:spAutoFit/>
          </a:bodyPr>
          <a:lstStyle/>
          <a:p>
            <a:pPr algn="l"/>
            <a:r>
              <a:rPr sz="2500" b="1">
                <a:solidFill>
                  <a:srgbClr val="0F172A"/>
                </a:solidFill>
                <a:latin typeface="Calibri"/>
              </a:rPr>
              <a:t>Testing, Future Scope &amp; Conclusion</a:t>
            </a:r>
          </a:p>
        </p:txBody>
      </p:sp>
      <p:sp>
        <p:nvSpPr>
          <p:cNvPr id="7" name="TextBox 6"/>
          <p:cNvSpPr txBox="1"/>
          <p:nvPr/>
        </p:nvSpPr>
        <p:spPr>
          <a:xfrm>
            <a:off x="548640" y="658368"/>
            <a:ext cx="10058400" cy="292608"/>
          </a:xfrm>
          <a:prstGeom prst="rect">
            <a:avLst/>
          </a:prstGeom>
          <a:noFill/>
        </p:spPr>
        <p:txBody>
          <a:bodyPr wrap="square" anchor="t" lIns="36576" rIns="36576" tIns="18288" bIns="18288">
            <a:spAutoFit/>
          </a:bodyPr>
          <a:lstStyle/>
          <a:p>
            <a:pPr algn="l"/>
            <a:r>
              <a:rPr sz="1300" b="0">
                <a:solidFill>
                  <a:srgbClr val="64748B"/>
                </a:solidFill>
                <a:latin typeface="Calibri"/>
              </a:rPr>
              <a:t>Verified quality checks, upcoming features, and project summary</a:t>
            </a:r>
          </a:p>
        </p:txBody>
      </p:sp>
      <p:sp>
        <p:nvSpPr>
          <p:cNvPr id="8" name="Rectangle 7"/>
          <p:cNvSpPr/>
          <p:nvPr/>
        </p:nvSpPr>
        <p:spPr>
          <a:xfrm>
            <a:off x="548640" y="987552"/>
            <a:ext cx="11094415" cy="16459"/>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510528"/>
            <a:ext cx="7315200" cy="228600"/>
          </a:xfrm>
          <a:prstGeom prst="rect">
            <a:avLst/>
          </a:prstGeom>
          <a:noFill/>
        </p:spPr>
        <p:txBody>
          <a:bodyPr wrap="square" anchor="t" lIns="36576" rIns="36576" tIns="18288" bIns="18288">
            <a:spAutoFit/>
          </a:bodyPr>
          <a:lstStyle/>
          <a:p>
            <a:pPr algn="l"/>
            <a:r>
              <a:rPr sz="950" b="0">
                <a:solidFill>
                  <a:srgbClr val="64748B"/>
                </a:solidFill>
                <a:latin typeface="Calibri"/>
              </a:rPr>
              <a:t>ComicCraft — AI Comic Story Creator</a:t>
            </a:r>
          </a:p>
        </p:txBody>
      </p:sp>
      <p:sp>
        <p:nvSpPr>
          <p:cNvPr id="10" name="Rounded Rectangle 9"/>
          <p:cNvSpPr/>
          <p:nvPr/>
        </p:nvSpPr>
        <p:spPr>
          <a:xfrm>
            <a:off x="548640" y="1207008"/>
            <a:ext cx="3529584" cy="4151376"/>
          </a:xfrm>
          <a:prstGeom prst="roundRect">
            <a:avLst>
              <a:gd name="adj" fmla="val 4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207008"/>
            <a:ext cx="3529584" cy="914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389888"/>
            <a:ext cx="3163824" cy="329184"/>
          </a:xfrm>
          <a:prstGeom prst="rect">
            <a:avLst/>
          </a:prstGeom>
          <a:noFill/>
        </p:spPr>
        <p:txBody>
          <a:bodyPr wrap="square" anchor="t" lIns="36576" rIns="36576" tIns="18288" bIns="18288">
            <a:spAutoFit/>
          </a:bodyPr>
          <a:lstStyle/>
          <a:p>
            <a:pPr algn="l"/>
            <a:r>
              <a:rPr sz="1350" b="1">
                <a:solidFill>
                  <a:srgbClr val="0D9488"/>
                </a:solidFill>
                <a:latin typeface="Calibri"/>
              </a:rPr>
              <a:t>TESTING &amp; QUALITY</a:t>
            </a:r>
          </a:p>
        </p:txBody>
      </p:sp>
      <p:sp>
        <p:nvSpPr>
          <p:cNvPr id="13" name="TextBox 12"/>
          <p:cNvSpPr txBox="1"/>
          <p:nvPr/>
        </p:nvSpPr>
        <p:spPr>
          <a:xfrm>
            <a:off x="731520" y="1792224"/>
            <a:ext cx="3163824" cy="3383280"/>
          </a:xfrm>
          <a:prstGeom prst="rect">
            <a:avLst/>
          </a:prstGeom>
          <a:noFill/>
        </p:spPr>
        <p:txBody>
          <a:bodyPr wrap="square" lIns="45720" rIns="45720" tIns="27432" bIns="27432">
            <a:spAutoFit/>
          </a:bodyPr>
          <a:lstStyle/>
          <a:p>
            <a:pPr>
              <a:lnSpc>
                <a:spcPct val="122000"/>
              </a:lnSpc>
              <a:spcAft>
                <a:spcPts val="1200"/>
              </a:spcAft>
            </a:pPr>
            <a:r>
              <a:rPr sz="1200" b="1">
                <a:solidFill>
                  <a:srgbClr val="0D9488"/>
                </a:solidFill>
                <a:latin typeface="Calibri"/>
              </a:rPr>
              <a:t>▪  </a:t>
            </a:r>
            <a:r>
              <a:rPr sz="1200" b="1">
                <a:solidFill>
                  <a:srgbClr val="0F172A"/>
                </a:solidFill>
                <a:latin typeface="Calibri"/>
              </a:rPr>
              <a:t>11 Automated Tests: </a:t>
            </a:r>
            <a:r>
              <a:rPr sz="1200">
                <a:solidFill>
                  <a:srgbClr val="334155"/>
                </a:solidFill>
                <a:latin typeface="Calibri"/>
              </a:rPr>
              <a:t>All 11 pytest test cases pass completely offline with ~80% code coverage.</a:t>
            </a:r>
          </a:p>
          <a:p>
            <a:pPr>
              <a:lnSpc>
                <a:spcPct val="122000"/>
              </a:lnSpc>
              <a:spcAft>
                <a:spcPts val="1200"/>
              </a:spcAft>
            </a:pPr>
            <a:r>
              <a:rPr sz="1200" b="1">
                <a:solidFill>
                  <a:srgbClr val="0D9488"/>
                </a:solidFill>
                <a:latin typeface="Calibri"/>
              </a:rPr>
              <a:t>▪  </a:t>
            </a:r>
            <a:r>
              <a:rPr sz="1200" b="1">
                <a:solidFill>
                  <a:srgbClr val="0F172A"/>
                </a:solidFill>
                <a:latin typeface="Calibri"/>
              </a:rPr>
              <a:t>Verified Routes: </a:t>
            </a:r>
            <a:r>
              <a:rPr sz="1200">
                <a:solidFill>
                  <a:srgbClr val="334155"/>
                </a:solidFill>
                <a:latin typeface="Calibri"/>
              </a:rPr>
              <a:t>Tested web creation form, REST JSON API, PDF export, and error handling.</a:t>
            </a:r>
          </a:p>
          <a:p>
            <a:pPr>
              <a:lnSpc>
                <a:spcPct val="122000"/>
              </a:lnSpc>
              <a:spcAft>
                <a:spcPts val="1200"/>
              </a:spcAft>
            </a:pPr>
            <a:r>
              <a:rPr sz="1200" b="1">
                <a:solidFill>
                  <a:srgbClr val="0D9488"/>
                </a:solidFill>
                <a:latin typeface="Calibri"/>
              </a:rPr>
              <a:t>▪  </a:t>
            </a:r>
            <a:r>
              <a:rPr sz="1200" b="1">
                <a:solidFill>
                  <a:srgbClr val="0F172A"/>
                </a:solidFill>
                <a:latin typeface="Calibri"/>
              </a:rPr>
              <a:t>OpenAPI Docs: </a:t>
            </a:r>
            <a:r>
              <a:rPr sz="1200">
                <a:solidFill>
                  <a:srgbClr val="334155"/>
                </a:solidFill>
                <a:latin typeface="Calibri"/>
              </a:rPr>
              <a:t>Interactive Swagger UI at /docs allows direct testing of JSON API routes.</a:t>
            </a:r>
          </a:p>
        </p:txBody>
      </p:sp>
      <p:sp>
        <p:nvSpPr>
          <p:cNvPr id="14" name="Rounded Rectangle 13"/>
          <p:cNvSpPr/>
          <p:nvPr/>
        </p:nvSpPr>
        <p:spPr>
          <a:xfrm>
            <a:off x="4329683" y="1207008"/>
            <a:ext cx="3529584" cy="4151376"/>
          </a:xfrm>
          <a:prstGeom prst="roundRect">
            <a:avLst>
              <a:gd name="adj" fmla="val 4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9683" y="1207008"/>
            <a:ext cx="3529584"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12564" y="1389888"/>
            <a:ext cx="3163824" cy="329184"/>
          </a:xfrm>
          <a:prstGeom prst="rect">
            <a:avLst/>
          </a:prstGeom>
          <a:noFill/>
        </p:spPr>
        <p:txBody>
          <a:bodyPr wrap="square" anchor="t" lIns="36576" rIns="36576" tIns="18288" bIns="18288">
            <a:spAutoFit/>
          </a:bodyPr>
          <a:lstStyle/>
          <a:p>
            <a:pPr algn="l"/>
            <a:r>
              <a:rPr sz="1350" b="1">
                <a:solidFill>
                  <a:srgbClr val="2563EB"/>
                </a:solidFill>
                <a:latin typeface="Calibri"/>
              </a:rPr>
              <a:t>FUTURE ENHANCEMENTS</a:t>
            </a:r>
          </a:p>
        </p:txBody>
      </p:sp>
      <p:sp>
        <p:nvSpPr>
          <p:cNvPr id="17" name="TextBox 16"/>
          <p:cNvSpPr txBox="1"/>
          <p:nvPr/>
        </p:nvSpPr>
        <p:spPr>
          <a:xfrm>
            <a:off x="4512564" y="1792224"/>
            <a:ext cx="3163824" cy="3383280"/>
          </a:xfrm>
          <a:prstGeom prst="rect">
            <a:avLst/>
          </a:prstGeom>
          <a:noFill/>
        </p:spPr>
        <p:txBody>
          <a:bodyPr wrap="square" lIns="45720" rIns="45720" tIns="27432" bIns="27432">
            <a:spAutoFit/>
          </a:bodyPr>
          <a:lstStyle/>
          <a:p>
            <a:pPr>
              <a:lnSpc>
                <a:spcPct val="122000"/>
              </a:lnSpc>
              <a:spcAft>
                <a:spcPts val="1200"/>
              </a:spcAft>
            </a:pPr>
            <a:r>
              <a:rPr sz="1200" b="1">
                <a:solidFill>
                  <a:srgbClr val="2563EB"/>
                </a:solidFill>
                <a:latin typeface="Calibri"/>
              </a:rPr>
              <a:t>▪  </a:t>
            </a:r>
            <a:r>
              <a:rPr sz="1200" b="1">
                <a:solidFill>
                  <a:srgbClr val="0F172A"/>
                </a:solidFill>
                <a:latin typeface="Calibri"/>
              </a:rPr>
              <a:t>Background Queue: </a:t>
            </a:r>
            <a:r>
              <a:rPr sz="1200">
                <a:solidFill>
                  <a:srgbClr val="334155"/>
                </a:solidFill>
                <a:latin typeface="Calibri"/>
              </a:rPr>
              <a:t>Add async job queues with live progress bars for heavy AI image models.</a:t>
            </a:r>
          </a:p>
          <a:p>
            <a:pPr>
              <a:lnSpc>
                <a:spcPct val="122000"/>
              </a:lnSpc>
              <a:spcAft>
                <a:spcPts val="1200"/>
              </a:spcAft>
            </a:pPr>
            <a:r>
              <a:rPr sz="1200" b="1">
                <a:solidFill>
                  <a:srgbClr val="2563EB"/>
                </a:solidFill>
                <a:latin typeface="Calibri"/>
              </a:rPr>
              <a:t>▪  </a:t>
            </a:r>
            <a:r>
              <a:rPr sz="1200" b="1">
                <a:solidFill>
                  <a:srgbClr val="0F172A"/>
                </a:solidFill>
                <a:latin typeface="Calibri"/>
              </a:rPr>
              <a:t>Cloud Accounts: </a:t>
            </a:r>
            <a:r>
              <a:rPr sz="1200">
                <a:solidFill>
                  <a:srgbClr val="334155"/>
                </a:solidFill>
                <a:latin typeface="Calibri"/>
              </a:rPr>
              <a:t>Add user login and cloud storage for saving personal comic libraries.</a:t>
            </a:r>
          </a:p>
          <a:p>
            <a:pPr>
              <a:lnSpc>
                <a:spcPct val="122000"/>
              </a:lnSpc>
              <a:spcAft>
                <a:spcPts val="1200"/>
              </a:spcAft>
            </a:pPr>
            <a:r>
              <a:rPr sz="1200" b="1">
                <a:solidFill>
                  <a:srgbClr val="2563EB"/>
                </a:solidFill>
                <a:latin typeface="Calibri"/>
              </a:rPr>
              <a:t>▪  </a:t>
            </a:r>
            <a:r>
              <a:rPr sz="1200" b="1">
                <a:solidFill>
                  <a:srgbClr val="0F172A"/>
                </a:solidFill>
                <a:latin typeface="Calibri"/>
              </a:rPr>
              <a:t>More Creative Control: </a:t>
            </a:r>
            <a:r>
              <a:rPr sz="1200">
                <a:solidFill>
                  <a:srgbClr val="334155"/>
                </a:solidFill>
                <a:latin typeface="Calibri"/>
              </a:rPr>
              <a:t>Single-panel regeneration, multi-panel page grids, and Tamil language support.</a:t>
            </a:r>
          </a:p>
        </p:txBody>
      </p:sp>
      <p:sp>
        <p:nvSpPr>
          <p:cNvPr id="18" name="Rounded Rectangle 17"/>
          <p:cNvSpPr/>
          <p:nvPr/>
        </p:nvSpPr>
        <p:spPr>
          <a:xfrm>
            <a:off x="8110727" y="1207008"/>
            <a:ext cx="3529584" cy="4151376"/>
          </a:xfrm>
          <a:prstGeom prst="roundRect">
            <a:avLst>
              <a:gd name="adj" fmla="val 4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10727" y="1207008"/>
            <a:ext cx="3529584" cy="91440"/>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93607" y="1389888"/>
            <a:ext cx="3163824" cy="329184"/>
          </a:xfrm>
          <a:prstGeom prst="rect">
            <a:avLst/>
          </a:prstGeom>
          <a:noFill/>
        </p:spPr>
        <p:txBody>
          <a:bodyPr wrap="square" anchor="t" lIns="36576" rIns="36576" tIns="18288" bIns="18288">
            <a:spAutoFit/>
          </a:bodyPr>
          <a:lstStyle/>
          <a:p>
            <a:pPr algn="l"/>
            <a:r>
              <a:rPr sz="1350" b="1">
                <a:solidFill>
                  <a:srgbClr val="B45309"/>
                </a:solidFill>
                <a:latin typeface="Calibri"/>
              </a:rPr>
              <a:t>CONCLUSION</a:t>
            </a:r>
          </a:p>
        </p:txBody>
      </p:sp>
      <p:sp>
        <p:nvSpPr>
          <p:cNvPr id="21" name="TextBox 20"/>
          <p:cNvSpPr txBox="1"/>
          <p:nvPr/>
        </p:nvSpPr>
        <p:spPr>
          <a:xfrm>
            <a:off x="8293607" y="1792224"/>
            <a:ext cx="3163824" cy="3383280"/>
          </a:xfrm>
          <a:prstGeom prst="rect">
            <a:avLst/>
          </a:prstGeom>
          <a:noFill/>
        </p:spPr>
        <p:txBody>
          <a:bodyPr wrap="square" lIns="45720" rIns="45720" tIns="27432" bIns="27432">
            <a:spAutoFit/>
          </a:bodyPr>
          <a:lstStyle/>
          <a:p>
            <a:pPr>
              <a:lnSpc>
                <a:spcPct val="122000"/>
              </a:lnSpc>
              <a:spcAft>
                <a:spcPts val="1200"/>
              </a:spcAft>
            </a:pPr>
            <a:r>
              <a:rPr sz="1200" b="1">
                <a:solidFill>
                  <a:srgbClr val="B45309"/>
                </a:solidFill>
                <a:latin typeface="Calibri"/>
              </a:rPr>
              <a:t>▪  </a:t>
            </a:r>
            <a:r>
              <a:rPr sz="1200" b="1">
                <a:solidFill>
                  <a:srgbClr val="0F172A"/>
                </a:solidFill>
                <a:latin typeface="Calibri"/>
              </a:rPr>
              <a:t>End-to-End Solution: </a:t>
            </a:r>
            <a:r>
              <a:rPr sz="1200">
                <a:solidFill>
                  <a:srgbClr val="334155"/>
                </a:solidFill>
                <a:latin typeface="Calibri"/>
              </a:rPr>
              <a:t>Turns a simple story idea into an illustrated web comic and A4 PDF in minutes.</a:t>
            </a:r>
          </a:p>
          <a:p>
            <a:pPr>
              <a:lnSpc>
                <a:spcPct val="122000"/>
              </a:lnSpc>
              <a:spcAft>
                <a:spcPts val="1200"/>
              </a:spcAft>
            </a:pPr>
            <a:r>
              <a:rPr sz="1200" b="1">
                <a:solidFill>
                  <a:srgbClr val="B45309"/>
                </a:solidFill>
                <a:latin typeface="Calibri"/>
              </a:rPr>
              <a:t>▪  </a:t>
            </a:r>
            <a:r>
              <a:rPr sz="1200" b="1">
                <a:solidFill>
                  <a:srgbClr val="0F172A"/>
                </a:solidFill>
                <a:latin typeface="Calibri"/>
              </a:rPr>
              <a:t>Consistent &amp; Structured: </a:t>
            </a:r>
            <a:r>
              <a:rPr sz="1200">
                <a:solidFill>
                  <a:srgbClr val="334155"/>
                </a:solidFill>
                <a:latin typeface="Calibri"/>
              </a:rPr>
              <a:t>Uses two-stage Gemini JSON, Pydantic validation, and a Character Bible.</a:t>
            </a:r>
          </a:p>
          <a:p>
            <a:pPr>
              <a:lnSpc>
                <a:spcPct val="122000"/>
              </a:lnSpc>
              <a:spcAft>
                <a:spcPts val="1200"/>
              </a:spcAft>
            </a:pPr>
            <a:r>
              <a:rPr sz="1200" b="1">
                <a:solidFill>
                  <a:srgbClr val="B45309"/>
                </a:solidFill>
                <a:latin typeface="Calibri"/>
              </a:rPr>
              <a:t>▪  </a:t>
            </a:r>
            <a:r>
              <a:rPr sz="1200" b="1">
                <a:solidFill>
                  <a:srgbClr val="0F172A"/>
                </a:solidFill>
                <a:latin typeface="Calibri"/>
              </a:rPr>
              <a:t>Reliable by Design: </a:t>
            </a:r>
            <a:r>
              <a:rPr sz="1200">
                <a:solidFill>
                  <a:srgbClr val="334155"/>
                </a:solidFill>
                <a:latin typeface="Calibri"/>
              </a:rPr>
              <a:t>Works smoothly with cloud AI models as well as 100% offline in Demo Mode.</a:t>
            </a:r>
          </a:p>
        </p:txBody>
      </p:sp>
      <p:sp>
        <p:nvSpPr>
          <p:cNvPr id="22" name="Rounded Rectangle 21"/>
          <p:cNvSpPr/>
          <p:nvPr/>
        </p:nvSpPr>
        <p:spPr>
          <a:xfrm>
            <a:off x="548640" y="5541264"/>
            <a:ext cx="11091672" cy="768096"/>
          </a:xfrm>
          <a:prstGeom prst="roundRect">
            <a:avLst>
              <a:gd name="adj" fmla="val 4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8640" y="5541264"/>
            <a:ext cx="128016" cy="768096"/>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541264"/>
            <a:ext cx="5029200" cy="768096"/>
          </a:xfrm>
          <a:prstGeom prst="rect">
            <a:avLst/>
          </a:prstGeom>
          <a:noFill/>
        </p:spPr>
        <p:txBody>
          <a:bodyPr wrap="square" anchor="ctr" lIns="36576" rIns="36576" tIns="18288" bIns="18288">
            <a:spAutoFit/>
          </a:bodyPr>
          <a:lstStyle/>
          <a:p>
            <a:pPr algn="l"/>
            <a:r>
              <a:rPr sz="2000" b="1">
                <a:solidFill>
                  <a:srgbClr val="FFFFFF"/>
                </a:solidFill>
                <a:latin typeface="Calibri"/>
              </a:rPr>
              <a:t>Thank You!</a:t>
            </a:r>
          </a:p>
        </p:txBody>
      </p:sp>
      <p:sp>
        <p:nvSpPr>
          <p:cNvPr id="25" name="TextBox 24"/>
          <p:cNvSpPr txBox="1"/>
          <p:nvPr/>
        </p:nvSpPr>
        <p:spPr>
          <a:xfrm>
            <a:off x="5852160" y="5541264"/>
            <a:ext cx="5532120" cy="768096"/>
          </a:xfrm>
          <a:prstGeom prst="rect">
            <a:avLst/>
          </a:prstGeom>
          <a:noFill/>
        </p:spPr>
        <p:txBody>
          <a:bodyPr wrap="square" anchor="ctr" lIns="36576" rIns="36576" tIns="18288" bIns="18288">
            <a:spAutoFit/>
          </a:bodyPr>
          <a:lstStyle/>
          <a:p>
            <a:pPr algn="r"/>
            <a:r>
              <a:rPr sz="1300" b="1">
                <a:solidFill>
                  <a:srgbClr val="2DD4BF"/>
                </a:solidFill>
                <a:latin typeface="Calibri"/>
              </a:rPr>
              <a:t>ComicCraft  •  AI Comic Story Creator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