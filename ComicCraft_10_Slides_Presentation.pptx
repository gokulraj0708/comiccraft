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First slide kaati Good Morning Sir/Ma'am solli project name matrum one-line summary sollunga.</a:t>
            </a:r>
          </a:p>
          <a:p/>
          <a:p>
            <a:r>
              <a:t>[What to Speak in English]</a:t>
            </a:r>
          </a:p>
          <a:p>
            <a:r>
              <a:t>Good morning respected examiners. Our Naan Mudhalvan project is ComicCraft — an AI Comic Story Creator built with Python and FastAPI. It turns a single-sentence story idea into a complete 3 to 8 panel illustrated comic book with web preview and A4 PDF export.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Abstract matrum 4 steps (Plan -&gt; Write -&gt; Illustrate -&gt; Publish) epdi nadakuthunu explain pannunga.</a:t>
            </a:r>
          </a:p>
          <a:p/>
          <a:p>
            <a:r>
              <a:t>[What to Speak in English]</a:t>
            </a:r>
          </a:p>
          <a:p>
            <a:r>
              <a:t>ComicCraft simplifies comic creation into four automated stages: Plan, Write, Illustrate, and Publish. Using a two-stage Google Gemini JSON workflow validated by Pydantic v2, it creates consistent scripts and panel illustrations, then packages them into a web preview and an A4 PDF—even working offline without API keys.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Left side-la 4 problems (text split bug, character dress change, API failure) solli, right side-la namma 4 solutions/objectives sollunga.</a:t>
            </a:r>
          </a:p>
          <a:p/>
          <a:p>
            <a:r>
              <a:t>[What to Speak in English]</a:t>
            </a:r>
          </a:p>
          <a:p>
            <a:r>
              <a:t>Manual comic creation requires three separate skills, while naive AI scripts fail due to plain-text splitting, character drift across panels, and API rate limits. Our objective with ComicCraft was to build a single unified studio using strict Pydantic JSON contracts, a Character Bible for visual consistency, and offline-ready fallbacks.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Table-la Existing-kum namma ComicCraft-kum ulla 5 mukkiyamaana vithyasangala point panni kaatunga.</a:t>
            </a:r>
          </a:p>
          <a:p/>
          <a:p>
            <a:r>
              <a:t>[What to Speak in English]</a:t>
            </a:r>
          </a:p>
          <a:p>
            <a:r>
              <a:t>Compared to manual workflows and fragile AI scripts, ComicCraft introduces five major upgrades: a single integrated FastAPI pipeline, Pydantic-validated JSON outputs, Character Bible continuity, multi-layer fallback resilience, and isolated UUID storage with atomic manifests.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FastAPI, Pydantic v2, Google Gemini SDK, Pillow/HuggingFace, matrum fpdf2 ethukku use pannom nu sollunga. Database kedaiyathu — local UUID storage!</a:t>
            </a:r>
          </a:p>
          <a:p/>
          <a:p>
            <a:r>
              <a:t>[What to Speak in English]</a:t>
            </a:r>
          </a:p>
          <a:p>
            <a:r>
              <a:t>Our stack is built on Python 3.11 and FastAPI served by Uvicorn. We use Pydantic v2 for strict validation, google-genai for two-stage story generation, Pillow, Hugging Face Hub, and Diffusers for panel illustrations, and fpdf2 with bundled DejaVu fonts for Unicode PDF export. No external database or GPU is required for default operation.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Top-to-bottom architecture explain pannunga: Clients -&gt; FastAPI -&gt; ComicService Orchestrator -&gt; 4 Services (Story, Image, PDF, Repository).</a:t>
            </a:r>
          </a:p>
          <a:p/>
          <a:p>
            <a:r>
              <a:t>[What to Speak in English]</a:t>
            </a:r>
          </a:p>
          <a:p>
            <a:r>
              <a:t>Both our browser interface and REST JSON endpoints share the same FastAPI layer and ComicService orchestrator. Blocking operations run inside FastAPI's threadpool. ComicService coordinates four modular services: ResilientStoryService, ResilientImageService, PDFService, and ComicRepository for isolated UUID storage.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Viva-la kandippa kepanga! Stage 1 Outline + Character Bible uruvakkum, Stage 2 Dialogue &amp; Prompts ezhuthum. SHA-256 seed naala reproducible images varum.</a:t>
            </a:r>
          </a:p>
          <a:p/>
          <a:p>
            <a:r>
              <a:t>[What to Speak in English]</a:t>
            </a:r>
          </a:p>
          <a:p>
            <a:r>
              <a:t>This slide shows our core AI engineering. First, ComicPrompt validates user input. Stage 1 calls Gemini Flash-Lite in JSON mode to build a validated outline and a Character Bible. Stage 2 calls Gemini Flash to expand each panel into captions, narration, dialogue, and prompts that repeat the Character Bible so our hero looks consistent across all panels.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429 error vantha retry pannum, 404 vantha udane adutha model pogum, internet illana Offline Demo mode work aagum! Path traversal regex guard pathiyum sollunga.</a:t>
            </a:r>
          </a:p>
          <a:p/>
          <a:p>
            <a:r>
              <a:t>[What to Speak in English]</a:t>
            </a:r>
          </a:p>
          <a:p>
            <a:r>
              <a:t>Reliability is a first-class feature in ComicCraft. Transient 429 or 503 errors trigger exponential backoff with jitter, while 404 errors immediately switch to fallback models. Even if one image panel fails, only that panel switches to a labeled placeholder rather than losing the whole comic. On disk, strict hex-UUID validation and atomic JSON writes keep storage safe.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Moonu real output screenshots: 1) User Input Form, 2) Generated Panels Preview, 3) Download aana A4 PDF Cover + Panel page.</a:t>
            </a:r>
          </a:p>
          <a:p/>
          <a:p>
            <a:r>
              <a:t>[What to Speak in English]</a:t>
            </a:r>
          </a:p>
          <a:p>
            <a:r>
              <a:t>Here are real screenshots captured from our running application. On the left is the browser creation form with live character counting and provider status. In the center is the responsive comic preview displaying panel artwork, captions, and dialogue. On the right is the exported A4 PDF featuring a styled dark cover page and per-panel pages.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Tip] 11 automated pytest pass aachu, ~80% coverage, future-la async queue + Tamil support add pannalam nu solli Thank You sollunga!</a:t>
            </a:r>
          </a:p>
          <a:p/>
          <a:p>
            <a:r>
              <a:t>[What to Speak in English]</a:t>
            </a:r>
          </a:p>
          <a:p>
            <a:r>
              <a:t>To conclude, ComicCraft is verified by 11 automated pytest tests with 80% code coverage, proving every route, PDF export, and fallback path works offline. In the future, we plan to add background job queues, cloud storage, single-panel regeneration, and Tamil language support. Thank you, and we are happy to show the live demo and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1168" y="0"/>
            <a:ext cx="54864"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92440" y="1051560"/>
            <a:ext cx="3520440" cy="4343400"/>
          </a:xfrm>
          <a:prstGeom prst="roundRect">
            <a:avLst>
              <a:gd name="adj" fmla="val 4000"/>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66760" y="1280160"/>
            <a:ext cx="2971800" cy="320040"/>
          </a:xfrm>
          <a:prstGeom prst="rect">
            <a:avLst/>
          </a:prstGeom>
          <a:noFill/>
        </p:spPr>
        <p:txBody>
          <a:bodyPr wrap="square" anchor="t" lIns="36576" rIns="36576" tIns="18288" bIns="18288">
            <a:spAutoFit/>
          </a:bodyPr>
          <a:lstStyle/>
          <a:p>
            <a:pPr algn="l"/>
            <a:r>
              <a:rPr sz="1100" b="1">
                <a:solidFill>
                  <a:srgbClr val="F59E0B"/>
                </a:solidFill>
                <a:latin typeface="Calibri"/>
              </a:rPr>
              <a:t>END-TO-END AI PIPELINE</a:t>
            </a:r>
          </a:p>
        </p:txBody>
      </p:sp>
      <p:sp>
        <p:nvSpPr>
          <p:cNvPr id="6" name="Rounded Rectangle 5"/>
          <p:cNvSpPr/>
          <p:nvPr/>
        </p:nvSpPr>
        <p:spPr>
          <a:xfrm>
            <a:off x="8366760" y="1755648"/>
            <a:ext cx="2971800" cy="749808"/>
          </a:xfrm>
          <a:prstGeom prst="roundRect">
            <a:avLst>
              <a:gd name="adj" fmla="val 4000"/>
            </a:avLst>
          </a:prstGeom>
          <a:solidFill>
            <a:srgbClr val="0F172A"/>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85632" y="1901952"/>
            <a:ext cx="457200" cy="457200"/>
          </a:xfrm>
          <a:prstGeom prst="roundRect">
            <a:avLst>
              <a:gd name="adj" fmla="val 4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85632" y="1901952"/>
            <a:ext cx="457200" cy="457200"/>
          </a:xfrm>
          <a:prstGeom prst="rect">
            <a:avLst/>
          </a:prstGeom>
          <a:noFill/>
        </p:spPr>
        <p:txBody>
          <a:bodyPr wrap="square" anchor="ctr" lIns="36576" rIns="36576" tIns="18288" bIns="18288">
            <a:spAutoFit/>
          </a:bodyPr>
          <a:lstStyle/>
          <a:p>
            <a:pPr algn="ctr"/>
            <a:r>
              <a:rPr sz="1200" b="1">
                <a:solidFill>
                  <a:srgbClr val="FFFFFF"/>
                </a:solidFill>
                <a:latin typeface="Calibri"/>
              </a:rPr>
              <a:t>01</a:t>
            </a:r>
          </a:p>
        </p:txBody>
      </p:sp>
      <p:sp>
        <p:nvSpPr>
          <p:cNvPr id="9" name="TextBox 8"/>
          <p:cNvSpPr txBox="1"/>
          <p:nvPr/>
        </p:nvSpPr>
        <p:spPr>
          <a:xfrm>
            <a:off x="9052560" y="1874519"/>
            <a:ext cx="2194560" cy="274320"/>
          </a:xfrm>
          <a:prstGeom prst="rect">
            <a:avLst/>
          </a:prstGeom>
          <a:noFill/>
        </p:spPr>
        <p:txBody>
          <a:bodyPr wrap="square" anchor="t" lIns="36576" rIns="36576" tIns="18288" bIns="18288">
            <a:spAutoFit/>
          </a:bodyPr>
          <a:lstStyle/>
          <a:p>
            <a:pPr algn="l"/>
            <a:r>
              <a:rPr sz="1250" b="1">
                <a:solidFill>
                  <a:srgbClr val="FFFFFF"/>
                </a:solidFill>
                <a:latin typeface="Calibri"/>
              </a:rPr>
              <a:t>Story Brief Input</a:t>
            </a:r>
          </a:p>
        </p:txBody>
      </p:sp>
      <p:sp>
        <p:nvSpPr>
          <p:cNvPr id="10" name="TextBox 9"/>
          <p:cNvSpPr txBox="1"/>
          <p:nvPr/>
        </p:nvSpPr>
        <p:spPr>
          <a:xfrm>
            <a:off x="9052560" y="2148840"/>
            <a:ext cx="2194560" cy="256032"/>
          </a:xfrm>
          <a:prstGeom prst="rect">
            <a:avLst/>
          </a:prstGeom>
          <a:noFill/>
        </p:spPr>
        <p:txBody>
          <a:bodyPr wrap="square" anchor="t" lIns="36576" rIns="36576" tIns="18288" bIns="18288">
            <a:spAutoFit/>
          </a:bodyPr>
          <a:lstStyle/>
          <a:p>
            <a:pPr algn="l"/>
            <a:r>
              <a:rPr sz="1000" b="0">
                <a:solidFill>
                  <a:srgbClr val="64748B"/>
                </a:solidFill>
                <a:latin typeface="Calibri"/>
              </a:rPr>
              <a:t>Idea, Hero, Tone, 3–8 Panels</a:t>
            </a:r>
          </a:p>
        </p:txBody>
      </p:sp>
      <p:sp>
        <p:nvSpPr>
          <p:cNvPr id="11" name="Rounded Rectangle 10"/>
          <p:cNvSpPr/>
          <p:nvPr/>
        </p:nvSpPr>
        <p:spPr>
          <a:xfrm>
            <a:off x="8366760" y="2633472"/>
            <a:ext cx="2971800" cy="749808"/>
          </a:xfrm>
          <a:prstGeom prst="roundRect">
            <a:avLst>
              <a:gd name="adj" fmla="val 4000"/>
            </a:avLst>
          </a:prstGeom>
          <a:solidFill>
            <a:srgbClr val="0F172A"/>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85632" y="2779776"/>
            <a:ext cx="457200" cy="457200"/>
          </a:xfrm>
          <a:prstGeom prst="roundRect">
            <a:avLst>
              <a:gd name="adj" fmla="val 4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2779776"/>
            <a:ext cx="457200" cy="457200"/>
          </a:xfrm>
          <a:prstGeom prst="rect">
            <a:avLst/>
          </a:prstGeom>
          <a:noFill/>
        </p:spPr>
        <p:txBody>
          <a:bodyPr wrap="square" anchor="ctr" lIns="36576" rIns="36576" tIns="18288" bIns="18288">
            <a:spAutoFit/>
          </a:bodyPr>
          <a:lstStyle/>
          <a:p>
            <a:pPr algn="ctr"/>
            <a:r>
              <a:rPr sz="1200" b="1">
                <a:solidFill>
                  <a:srgbClr val="FFFFFF"/>
                </a:solidFill>
                <a:latin typeface="Calibri"/>
              </a:rPr>
              <a:t>02</a:t>
            </a:r>
          </a:p>
        </p:txBody>
      </p:sp>
      <p:sp>
        <p:nvSpPr>
          <p:cNvPr id="14" name="TextBox 13"/>
          <p:cNvSpPr txBox="1"/>
          <p:nvPr/>
        </p:nvSpPr>
        <p:spPr>
          <a:xfrm>
            <a:off x="9052560" y="2752344"/>
            <a:ext cx="2194560" cy="274320"/>
          </a:xfrm>
          <a:prstGeom prst="rect">
            <a:avLst/>
          </a:prstGeom>
          <a:noFill/>
        </p:spPr>
        <p:txBody>
          <a:bodyPr wrap="square" anchor="t" lIns="36576" rIns="36576" tIns="18288" bIns="18288">
            <a:spAutoFit/>
          </a:bodyPr>
          <a:lstStyle/>
          <a:p>
            <a:pPr algn="l"/>
            <a:r>
              <a:rPr sz="1250" b="1">
                <a:solidFill>
                  <a:srgbClr val="FFFFFF"/>
                </a:solidFill>
                <a:latin typeface="Calibri"/>
              </a:rPr>
              <a:t>2-Stage Gemini JSON</a:t>
            </a:r>
          </a:p>
        </p:txBody>
      </p:sp>
      <p:sp>
        <p:nvSpPr>
          <p:cNvPr id="15" name="TextBox 14"/>
          <p:cNvSpPr txBox="1"/>
          <p:nvPr/>
        </p:nvSpPr>
        <p:spPr>
          <a:xfrm>
            <a:off x="9052560" y="3026664"/>
            <a:ext cx="2194560" cy="256032"/>
          </a:xfrm>
          <a:prstGeom prst="rect">
            <a:avLst/>
          </a:prstGeom>
          <a:noFill/>
        </p:spPr>
        <p:txBody>
          <a:bodyPr wrap="square" anchor="t" lIns="36576" rIns="36576" tIns="18288" bIns="18288">
            <a:spAutoFit/>
          </a:bodyPr>
          <a:lstStyle/>
          <a:p>
            <a:pPr algn="l"/>
            <a:r>
              <a:rPr sz="1000" b="0">
                <a:solidFill>
                  <a:srgbClr val="64748B"/>
                </a:solidFill>
                <a:latin typeface="Calibri"/>
              </a:rPr>
              <a:t>Outline + Character Bible + Script</a:t>
            </a:r>
          </a:p>
        </p:txBody>
      </p:sp>
      <p:sp>
        <p:nvSpPr>
          <p:cNvPr id="16" name="Rounded Rectangle 15"/>
          <p:cNvSpPr/>
          <p:nvPr/>
        </p:nvSpPr>
        <p:spPr>
          <a:xfrm>
            <a:off x="8366760" y="3511296"/>
            <a:ext cx="2971800" cy="749808"/>
          </a:xfrm>
          <a:prstGeom prst="roundRect">
            <a:avLst>
              <a:gd name="adj" fmla="val 4000"/>
            </a:avLst>
          </a:prstGeom>
          <a:solidFill>
            <a:srgbClr val="0F172A"/>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85632" y="3657600"/>
            <a:ext cx="457200" cy="4572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3657600"/>
            <a:ext cx="457200" cy="457200"/>
          </a:xfrm>
          <a:prstGeom prst="rect">
            <a:avLst/>
          </a:prstGeom>
          <a:noFill/>
        </p:spPr>
        <p:txBody>
          <a:bodyPr wrap="square" anchor="ctr" lIns="36576" rIns="36576" tIns="18288" bIns="18288">
            <a:spAutoFit/>
          </a:bodyPr>
          <a:lstStyle/>
          <a:p>
            <a:pPr algn="ctr"/>
            <a:r>
              <a:rPr sz="1200" b="1">
                <a:solidFill>
                  <a:srgbClr val="0F172A"/>
                </a:solidFill>
                <a:latin typeface="Calibri"/>
              </a:rPr>
              <a:t>03</a:t>
            </a:r>
          </a:p>
        </p:txBody>
      </p:sp>
      <p:sp>
        <p:nvSpPr>
          <p:cNvPr id="19" name="TextBox 18"/>
          <p:cNvSpPr txBox="1"/>
          <p:nvPr/>
        </p:nvSpPr>
        <p:spPr>
          <a:xfrm>
            <a:off x="9052560" y="3630168"/>
            <a:ext cx="2194560" cy="274320"/>
          </a:xfrm>
          <a:prstGeom prst="rect">
            <a:avLst/>
          </a:prstGeom>
          <a:noFill/>
        </p:spPr>
        <p:txBody>
          <a:bodyPr wrap="square" anchor="t" lIns="36576" rIns="36576" tIns="18288" bIns="18288">
            <a:spAutoFit/>
          </a:bodyPr>
          <a:lstStyle/>
          <a:p>
            <a:pPr algn="l"/>
            <a:r>
              <a:rPr sz="1250" b="1">
                <a:solidFill>
                  <a:srgbClr val="FFFFFF"/>
                </a:solidFill>
                <a:latin typeface="Calibri"/>
              </a:rPr>
              <a:t>Pluggable Panel Art</a:t>
            </a:r>
          </a:p>
        </p:txBody>
      </p:sp>
      <p:sp>
        <p:nvSpPr>
          <p:cNvPr id="20" name="TextBox 19"/>
          <p:cNvSpPr txBox="1"/>
          <p:nvPr/>
        </p:nvSpPr>
        <p:spPr>
          <a:xfrm>
            <a:off x="9052560" y="3904487"/>
            <a:ext cx="2194560" cy="256032"/>
          </a:xfrm>
          <a:prstGeom prst="rect">
            <a:avLst/>
          </a:prstGeom>
          <a:noFill/>
        </p:spPr>
        <p:txBody>
          <a:bodyPr wrap="square" anchor="t" lIns="36576" rIns="36576" tIns="18288" bIns="18288">
            <a:spAutoFit/>
          </a:bodyPr>
          <a:lstStyle/>
          <a:p>
            <a:pPr algn="l"/>
            <a:r>
              <a:rPr sz="1000" b="0">
                <a:solidFill>
                  <a:srgbClr val="64748B"/>
                </a:solidFill>
                <a:latin typeface="Calibri"/>
              </a:rPr>
              <a:t>Placeholder / HF SDXL / Diffusers</a:t>
            </a:r>
          </a:p>
        </p:txBody>
      </p:sp>
      <p:sp>
        <p:nvSpPr>
          <p:cNvPr id="21" name="Rounded Rectangle 20"/>
          <p:cNvSpPr/>
          <p:nvPr/>
        </p:nvSpPr>
        <p:spPr>
          <a:xfrm>
            <a:off x="8366760" y="4389120"/>
            <a:ext cx="2971800" cy="749808"/>
          </a:xfrm>
          <a:prstGeom prst="roundRect">
            <a:avLst>
              <a:gd name="adj" fmla="val 4000"/>
            </a:avLst>
          </a:prstGeom>
          <a:solidFill>
            <a:srgbClr val="0F172A"/>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85632" y="4535424"/>
            <a:ext cx="457200" cy="457200"/>
          </a:xfrm>
          <a:prstGeom prst="roundRect">
            <a:avLst>
              <a:gd name="adj" fmla="val 4000"/>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85632" y="4535424"/>
            <a:ext cx="457200" cy="457200"/>
          </a:xfrm>
          <a:prstGeom prst="rect">
            <a:avLst/>
          </a:prstGeom>
          <a:noFill/>
        </p:spPr>
        <p:txBody>
          <a:bodyPr wrap="square" anchor="ctr" lIns="36576" rIns="36576" tIns="18288" bIns="18288">
            <a:spAutoFit/>
          </a:bodyPr>
          <a:lstStyle/>
          <a:p>
            <a:pPr algn="ctr"/>
            <a:r>
              <a:rPr sz="1200" b="1">
                <a:solidFill>
                  <a:srgbClr val="0F172A"/>
                </a:solidFill>
                <a:latin typeface="Calibri"/>
              </a:rPr>
              <a:t>04</a:t>
            </a:r>
          </a:p>
        </p:txBody>
      </p:sp>
      <p:sp>
        <p:nvSpPr>
          <p:cNvPr id="24" name="TextBox 23"/>
          <p:cNvSpPr txBox="1"/>
          <p:nvPr/>
        </p:nvSpPr>
        <p:spPr>
          <a:xfrm>
            <a:off x="9052560" y="4507992"/>
            <a:ext cx="2194560" cy="274320"/>
          </a:xfrm>
          <a:prstGeom prst="rect">
            <a:avLst/>
          </a:prstGeom>
          <a:noFill/>
        </p:spPr>
        <p:txBody>
          <a:bodyPr wrap="square" anchor="t" lIns="36576" rIns="36576" tIns="18288" bIns="18288">
            <a:spAutoFit/>
          </a:bodyPr>
          <a:lstStyle/>
          <a:p>
            <a:pPr algn="l"/>
            <a:r>
              <a:rPr sz="1250" b="1">
                <a:solidFill>
                  <a:srgbClr val="FFFFFF"/>
                </a:solidFill>
                <a:latin typeface="Calibri"/>
              </a:rPr>
              <a:t>Web &amp; A4 PDF Export</a:t>
            </a:r>
          </a:p>
        </p:txBody>
      </p:sp>
      <p:sp>
        <p:nvSpPr>
          <p:cNvPr id="25" name="TextBox 24"/>
          <p:cNvSpPr txBox="1"/>
          <p:nvPr/>
        </p:nvSpPr>
        <p:spPr>
          <a:xfrm>
            <a:off x="9052560" y="4782312"/>
            <a:ext cx="2194560" cy="256032"/>
          </a:xfrm>
          <a:prstGeom prst="rect">
            <a:avLst/>
          </a:prstGeom>
          <a:noFill/>
        </p:spPr>
        <p:txBody>
          <a:bodyPr wrap="square" anchor="t" lIns="36576" rIns="36576" tIns="18288" bIns="18288">
            <a:spAutoFit/>
          </a:bodyPr>
          <a:lstStyle/>
          <a:p>
            <a:pPr algn="l"/>
            <a:r>
              <a:rPr sz="1000" b="0">
                <a:solidFill>
                  <a:srgbClr val="64748B"/>
                </a:solidFill>
                <a:latin typeface="Calibri"/>
              </a:rPr>
              <a:t>UUID Workspace + fpdf2 Output</a:t>
            </a:r>
          </a:p>
        </p:txBody>
      </p:sp>
      <p:sp>
        <p:nvSpPr>
          <p:cNvPr id="26" name="Rounded Rectangle 25"/>
          <p:cNvSpPr/>
          <p:nvPr/>
        </p:nvSpPr>
        <p:spPr>
          <a:xfrm>
            <a:off x="777240" y="960120"/>
            <a:ext cx="4160520" cy="365760"/>
          </a:xfrm>
          <a:prstGeom prst="roundRect">
            <a:avLst>
              <a:gd name="adj" fmla="val 4000"/>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960120"/>
            <a:ext cx="4160520" cy="365760"/>
          </a:xfrm>
          <a:prstGeom prst="rect">
            <a:avLst/>
          </a:prstGeom>
          <a:noFill/>
        </p:spPr>
        <p:txBody>
          <a:bodyPr wrap="square" anchor="ctr" lIns="36576" rIns="36576" tIns="18288" bIns="18288">
            <a:spAutoFit/>
          </a:bodyPr>
          <a:lstStyle/>
          <a:p>
            <a:pPr algn="ctr"/>
            <a:r>
              <a:rPr sz="1100" b="1">
                <a:solidFill>
                  <a:srgbClr val="F59E0B"/>
                </a:solidFill>
                <a:latin typeface="Calibri"/>
              </a:rPr>
              <a:t>NAAN MUDHALVAN  •  PROJECT PRACTICAL &amp; VIVA</a:t>
            </a:r>
          </a:p>
        </p:txBody>
      </p:sp>
      <p:sp>
        <p:nvSpPr>
          <p:cNvPr id="28" name="Rounded Rectangle 27"/>
          <p:cNvSpPr/>
          <p:nvPr/>
        </p:nvSpPr>
        <p:spPr>
          <a:xfrm>
            <a:off x="777240" y="1627632"/>
            <a:ext cx="713232" cy="713232"/>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1627632"/>
            <a:ext cx="713232" cy="713232"/>
          </a:xfrm>
          <a:prstGeom prst="rect">
            <a:avLst/>
          </a:prstGeom>
          <a:noFill/>
        </p:spPr>
        <p:txBody>
          <a:bodyPr wrap="square" anchor="ctr" lIns="36576" rIns="36576" tIns="18288" bIns="18288">
            <a:spAutoFit/>
          </a:bodyPr>
          <a:lstStyle/>
          <a:p>
            <a:pPr algn="ctr"/>
            <a:r>
              <a:rPr sz="2600" b="1">
                <a:solidFill>
                  <a:srgbClr val="0F172A"/>
                </a:solidFill>
                <a:latin typeface="Calibri"/>
              </a:rPr>
              <a:t>C!</a:t>
            </a:r>
          </a:p>
        </p:txBody>
      </p:sp>
      <p:sp>
        <p:nvSpPr>
          <p:cNvPr id="30" name="TextBox 29"/>
          <p:cNvSpPr txBox="1"/>
          <p:nvPr/>
        </p:nvSpPr>
        <p:spPr>
          <a:xfrm>
            <a:off x="1645920" y="1554480"/>
            <a:ext cx="6126480" cy="822960"/>
          </a:xfrm>
          <a:prstGeom prst="rect">
            <a:avLst/>
          </a:prstGeom>
          <a:noFill/>
        </p:spPr>
        <p:txBody>
          <a:bodyPr wrap="square" anchor="t" lIns="36576" rIns="36576" tIns="18288" bIns="18288">
            <a:spAutoFit/>
          </a:bodyPr>
          <a:lstStyle/>
          <a:p>
            <a:pPr algn="l"/>
            <a:r>
              <a:rPr sz="4600" b="1">
                <a:solidFill>
                  <a:srgbClr val="FFFFFF"/>
                </a:solidFill>
                <a:latin typeface="Calibri"/>
              </a:rPr>
              <a:t>ComicCraft</a:t>
            </a:r>
          </a:p>
        </p:txBody>
      </p:sp>
      <p:sp>
        <p:nvSpPr>
          <p:cNvPr id="31" name="TextBox 30"/>
          <p:cNvSpPr txBox="1"/>
          <p:nvPr/>
        </p:nvSpPr>
        <p:spPr>
          <a:xfrm>
            <a:off x="777240" y="2450592"/>
            <a:ext cx="6949440" cy="548640"/>
          </a:xfrm>
          <a:prstGeom prst="rect">
            <a:avLst/>
          </a:prstGeom>
          <a:noFill/>
        </p:spPr>
        <p:txBody>
          <a:bodyPr wrap="square" anchor="t" lIns="36576" rIns="36576" tIns="18288" bIns="18288">
            <a:spAutoFit/>
          </a:bodyPr>
          <a:lstStyle/>
          <a:p>
            <a:pPr algn="l"/>
            <a:r>
              <a:rPr sz="2300" b="1">
                <a:solidFill>
                  <a:srgbClr val="2DD4BF"/>
                </a:solidFill>
                <a:latin typeface="Calibri"/>
              </a:rPr>
              <a:t>AI Comic Story Creator Using Gemini Models</a:t>
            </a:r>
          </a:p>
        </p:txBody>
      </p:sp>
      <p:sp>
        <p:nvSpPr>
          <p:cNvPr id="32" name="TextBox 31"/>
          <p:cNvSpPr txBox="1"/>
          <p:nvPr/>
        </p:nvSpPr>
        <p:spPr>
          <a:xfrm>
            <a:off x="777240" y="3127248"/>
            <a:ext cx="6858000" cy="868680"/>
          </a:xfrm>
          <a:prstGeom prst="rect">
            <a:avLst/>
          </a:prstGeom>
          <a:noFill/>
        </p:spPr>
        <p:txBody>
          <a:bodyPr wrap="square" anchor="t" lIns="36576" rIns="36576" tIns="18288" bIns="18288">
            <a:spAutoFit/>
          </a:bodyPr>
          <a:lstStyle/>
          <a:p>
            <a:pPr algn="l"/>
            <a:r>
              <a:rPr sz="1400" b="0">
                <a:solidFill>
                  <a:srgbClr val="E2E8F0"/>
                </a:solidFill>
                <a:latin typeface="Calibri"/>
              </a:rPr>
              <a:t>A resilient FastAPI web application that converts a short story brief into a structured, visually consistent multi-panel comic book with responsive browser preview, REST JSON API, and downloadable A4 PDF export.</a:t>
            </a:r>
          </a:p>
        </p:txBody>
      </p:sp>
      <p:sp>
        <p:nvSpPr>
          <p:cNvPr id="33" name="Rounded Rectangle 32"/>
          <p:cNvSpPr/>
          <p:nvPr/>
        </p:nvSpPr>
        <p:spPr>
          <a:xfrm>
            <a:off x="777240" y="4160520"/>
            <a:ext cx="1422806"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160520"/>
            <a:ext cx="1422806" cy="347472"/>
          </a:xfrm>
          <a:prstGeom prst="rect">
            <a:avLst/>
          </a:prstGeom>
          <a:noFill/>
        </p:spPr>
        <p:txBody>
          <a:bodyPr wrap="square" anchor="ctr" lIns="36576" rIns="36576" tIns="18288" bIns="18288">
            <a:spAutoFit/>
          </a:bodyPr>
          <a:lstStyle/>
          <a:p>
            <a:pPr algn="ctr"/>
            <a:r>
              <a:rPr sz="1050" b="1">
                <a:solidFill>
                  <a:srgbClr val="2DD4BF"/>
                </a:solidFill>
                <a:latin typeface="Calibri"/>
              </a:rPr>
              <a:t>Python 3.11+</a:t>
            </a:r>
          </a:p>
        </p:txBody>
      </p:sp>
      <p:sp>
        <p:nvSpPr>
          <p:cNvPr id="35" name="Rounded Rectangle 34"/>
          <p:cNvSpPr/>
          <p:nvPr/>
        </p:nvSpPr>
        <p:spPr>
          <a:xfrm>
            <a:off x="2346350" y="4160520"/>
            <a:ext cx="1870862"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46350" y="4160520"/>
            <a:ext cx="1870862" cy="347472"/>
          </a:xfrm>
          <a:prstGeom prst="rect">
            <a:avLst/>
          </a:prstGeom>
          <a:noFill/>
        </p:spPr>
        <p:txBody>
          <a:bodyPr wrap="square" anchor="ctr" lIns="36576" rIns="36576" tIns="18288" bIns="18288">
            <a:spAutoFit/>
          </a:bodyPr>
          <a:lstStyle/>
          <a:p>
            <a:pPr algn="ctr"/>
            <a:r>
              <a:rPr sz="1050" b="1">
                <a:solidFill>
                  <a:srgbClr val="2DD4BF"/>
                </a:solidFill>
                <a:latin typeface="Calibri"/>
              </a:rPr>
              <a:t>FastAPI + Uvicorn</a:t>
            </a:r>
          </a:p>
        </p:txBody>
      </p:sp>
      <p:sp>
        <p:nvSpPr>
          <p:cNvPr id="37" name="Rounded Rectangle 36"/>
          <p:cNvSpPr/>
          <p:nvPr/>
        </p:nvSpPr>
        <p:spPr>
          <a:xfrm>
            <a:off x="4363516" y="4160520"/>
            <a:ext cx="1960473"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63516" y="4160520"/>
            <a:ext cx="1960473" cy="347472"/>
          </a:xfrm>
          <a:prstGeom prst="rect">
            <a:avLst/>
          </a:prstGeom>
          <a:noFill/>
        </p:spPr>
        <p:txBody>
          <a:bodyPr wrap="square" anchor="ctr" lIns="36576" rIns="36576" tIns="18288" bIns="18288">
            <a:spAutoFit/>
          </a:bodyPr>
          <a:lstStyle/>
          <a:p>
            <a:pPr algn="ctr"/>
            <a:r>
              <a:rPr sz="1050" b="1">
                <a:solidFill>
                  <a:srgbClr val="2DD4BF"/>
                </a:solidFill>
                <a:latin typeface="Calibri"/>
              </a:rPr>
              <a:t>Google Gemini JSON</a:t>
            </a:r>
          </a:p>
        </p:txBody>
      </p:sp>
      <p:sp>
        <p:nvSpPr>
          <p:cNvPr id="39" name="Rounded Rectangle 38"/>
          <p:cNvSpPr/>
          <p:nvPr/>
        </p:nvSpPr>
        <p:spPr>
          <a:xfrm>
            <a:off x="777240" y="4599431"/>
            <a:ext cx="1333195"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599431"/>
            <a:ext cx="1333195" cy="347472"/>
          </a:xfrm>
          <a:prstGeom prst="rect">
            <a:avLst/>
          </a:prstGeom>
          <a:noFill/>
        </p:spPr>
        <p:txBody>
          <a:bodyPr wrap="square" anchor="ctr" lIns="36576" rIns="36576" tIns="18288" bIns="18288">
            <a:spAutoFit/>
          </a:bodyPr>
          <a:lstStyle/>
          <a:p>
            <a:pPr algn="ctr"/>
            <a:r>
              <a:rPr sz="1050" b="1">
                <a:solidFill>
                  <a:srgbClr val="2DD4BF"/>
                </a:solidFill>
                <a:latin typeface="Calibri"/>
              </a:rPr>
              <a:t>Pydantic v2</a:t>
            </a:r>
          </a:p>
        </p:txBody>
      </p:sp>
      <p:sp>
        <p:nvSpPr>
          <p:cNvPr id="41" name="Rounded Rectangle 40"/>
          <p:cNvSpPr/>
          <p:nvPr/>
        </p:nvSpPr>
        <p:spPr>
          <a:xfrm>
            <a:off x="2256739" y="4599431"/>
            <a:ext cx="1781251"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56739" y="4599431"/>
            <a:ext cx="1781251" cy="347472"/>
          </a:xfrm>
          <a:prstGeom prst="rect">
            <a:avLst/>
          </a:prstGeom>
          <a:noFill/>
        </p:spPr>
        <p:txBody>
          <a:bodyPr wrap="square" anchor="ctr" lIns="36576" rIns="36576" tIns="18288" bIns="18288">
            <a:spAutoFit/>
          </a:bodyPr>
          <a:lstStyle/>
          <a:p>
            <a:pPr algn="ctr"/>
            <a:r>
              <a:rPr sz="1050" b="1">
                <a:solidFill>
                  <a:srgbClr val="2DD4BF"/>
                </a:solidFill>
                <a:latin typeface="Calibri"/>
              </a:rPr>
              <a:t>SDXL / Diffusers</a:t>
            </a:r>
          </a:p>
        </p:txBody>
      </p:sp>
      <p:sp>
        <p:nvSpPr>
          <p:cNvPr id="43" name="Rounded Rectangle 42"/>
          <p:cNvSpPr/>
          <p:nvPr/>
        </p:nvSpPr>
        <p:spPr>
          <a:xfrm>
            <a:off x="4184294" y="4599431"/>
            <a:ext cx="1870862" cy="347472"/>
          </a:xfrm>
          <a:prstGeom prst="roundRect">
            <a:avLst>
              <a:gd name="adj" fmla="val 4000"/>
            </a:avLst>
          </a:prstGeom>
          <a:solidFill>
            <a:srgbClr val="1E293B"/>
          </a:solidFill>
          <a:ln w="1143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84294" y="4599431"/>
            <a:ext cx="1870862" cy="347472"/>
          </a:xfrm>
          <a:prstGeom prst="rect">
            <a:avLst/>
          </a:prstGeom>
          <a:noFill/>
        </p:spPr>
        <p:txBody>
          <a:bodyPr wrap="square" anchor="ctr" lIns="36576" rIns="36576" tIns="18288" bIns="18288">
            <a:spAutoFit/>
          </a:bodyPr>
          <a:lstStyle/>
          <a:p>
            <a:pPr algn="ctr"/>
            <a:r>
              <a:rPr sz="1050" b="1">
                <a:solidFill>
                  <a:srgbClr val="2DD4BF"/>
                </a:solidFill>
                <a:latin typeface="Calibri"/>
              </a:rPr>
              <a:t>fpdf2 Unicode PDF</a:t>
            </a:r>
          </a:p>
        </p:txBody>
      </p:sp>
      <p:sp>
        <p:nvSpPr>
          <p:cNvPr id="45" name="Rounded Rectangle 44"/>
          <p:cNvSpPr/>
          <p:nvPr/>
        </p:nvSpPr>
        <p:spPr>
          <a:xfrm>
            <a:off x="777240" y="5669280"/>
            <a:ext cx="10835640" cy="658368"/>
          </a:xfrm>
          <a:prstGeom prst="roundRect">
            <a:avLst>
              <a:gd name="adj" fmla="val 4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669280"/>
            <a:ext cx="5669280" cy="658368"/>
          </a:xfrm>
          <a:prstGeom prst="rect">
            <a:avLst/>
          </a:prstGeom>
          <a:noFill/>
        </p:spPr>
        <p:txBody>
          <a:bodyPr wrap="square" anchor="ctr" lIns="36576" rIns="36576" tIns="18288" bIns="18288">
            <a:spAutoFit/>
          </a:bodyPr>
          <a:lstStyle/>
          <a:p>
            <a:pPr algn="l"/>
            <a:r>
              <a:rPr sz="1200" b="1">
                <a:solidFill>
                  <a:srgbClr val="FFFFFF"/>
                </a:solidFill>
                <a:latin typeface="Calibri"/>
              </a:rPr>
              <a:t>Department of Computer Science  |  Project Demonstration &amp; Viva</a:t>
            </a:r>
          </a:p>
        </p:txBody>
      </p:sp>
      <p:sp>
        <p:nvSpPr>
          <p:cNvPr id="47" name="TextBox 46"/>
          <p:cNvSpPr txBox="1"/>
          <p:nvPr/>
        </p:nvSpPr>
        <p:spPr>
          <a:xfrm>
            <a:off x="6172200" y="5669280"/>
            <a:ext cx="5212080" cy="658368"/>
          </a:xfrm>
          <a:prstGeom prst="rect">
            <a:avLst/>
          </a:prstGeom>
          <a:noFill/>
        </p:spPr>
        <p:txBody>
          <a:bodyPr wrap="square" anchor="ctr" lIns="36576" rIns="36576" tIns="18288" bIns="18288">
            <a:spAutoFit/>
          </a:bodyPr>
          <a:lstStyle/>
          <a:p>
            <a:pPr algn="r"/>
            <a:r>
              <a:rPr sz="1150" b="1">
                <a:solidFill>
                  <a:srgbClr val="F59E0B"/>
                </a:solidFill>
                <a:latin typeface="Calibri"/>
              </a:rPr>
              <a:t>Zero-Credential Offline Demo Ready  •  11/11 Pytest 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02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Abstract &amp; Project Overview</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Turning a compact creative brief into a structured, illustrated, downloadable comic book</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207008"/>
            <a:ext cx="5806440" cy="507492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07008"/>
            <a:ext cx="5806440"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426464"/>
            <a:ext cx="5257800" cy="365760"/>
          </a:xfrm>
          <a:prstGeom prst="rect">
            <a:avLst/>
          </a:prstGeom>
          <a:noFill/>
        </p:spPr>
        <p:txBody>
          <a:bodyPr wrap="square" anchor="t" lIns="36576" rIns="36576" tIns="18288" bIns="18288">
            <a:spAutoFit/>
          </a:bodyPr>
          <a:lstStyle/>
          <a:p>
            <a:pPr algn="l"/>
            <a:r>
              <a:rPr sz="1400" b="1">
                <a:solidFill>
                  <a:srgbClr val="0D9488"/>
                </a:solidFill>
                <a:latin typeface="Calibri"/>
              </a:rPr>
              <a:t>EXECUTIVE ABSTRACT</a:t>
            </a:r>
          </a:p>
        </p:txBody>
      </p:sp>
      <p:sp>
        <p:nvSpPr>
          <p:cNvPr id="13" name="TextBox 12"/>
          <p:cNvSpPr txBox="1"/>
          <p:nvPr/>
        </p:nvSpPr>
        <p:spPr>
          <a:xfrm>
            <a:off x="804672" y="1847088"/>
            <a:ext cx="5303520" cy="4297680"/>
          </a:xfrm>
          <a:prstGeom prst="rect">
            <a:avLst/>
          </a:prstGeom>
          <a:noFill/>
        </p:spPr>
        <p:txBody>
          <a:bodyPr wrap="square" lIns="45720" rIns="45720" tIns="27432" bIns="27432">
            <a:spAutoFit/>
          </a:bodyPr>
          <a:lstStyle/>
          <a:p>
            <a:pPr>
              <a:lnSpc>
                <a:spcPct val="118000"/>
              </a:lnSpc>
              <a:spcAft>
                <a:spcPts val="1000"/>
              </a:spcAft>
            </a:pPr>
            <a:r>
              <a:rPr sz="1250" b="1">
                <a:solidFill>
                  <a:srgbClr val="0D9488"/>
                </a:solidFill>
                <a:latin typeface="Calibri"/>
              </a:rPr>
              <a:t>▪ </a:t>
            </a:r>
            <a:r>
              <a:rPr sz="1250" b="1">
                <a:solidFill>
                  <a:srgbClr val="0F172A"/>
                </a:solidFill>
                <a:latin typeface="Calibri"/>
              </a:rPr>
              <a:t>Compact Creative Brief: </a:t>
            </a:r>
            <a:r>
              <a:rPr sz="1250" b="0">
                <a:solidFill>
                  <a:srgbClr val="334155"/>
                </a:solidFill>
                <a:latin typeface="Calibri"/>
              </a:rPr>
              <a:t>Users enter a story idea, main character, setting, tone, art style, and panel count (3–8 panels) via Web UI or REST JSON API.</a:t>
            </a:r>
          </a:p>
          <a:p>
            <a:pPr>
              <a:lnSpc>
                <a:spcPct val="118000"/>
              </a:lnSpc>
              <a:spcAft>
                <a:spcPts val="1000"/>
              </a:spcAft>
            </a:pPr>
            <a:r>
              <a:rPr sz="1250" b="1">
                <a:solidFill>
                  <a:srgbClr val="0D9488"/>
                </a:solidFill>
                <a:latin typeface="Calibri"/>
              </a:rPr>
              <a:t>▪ </a:t>
            </a:r>
            <a:r>
              <a:rPr sz="1250" b="1">
                <a:solidFill>
                  <a:srgbClr val="0F172A"/>
                </a:solidFill>
                <a:latin typeface="Calibri"/>
              </a:rPr>
              <a:t>Two-Stage Gemini AI: </a:t>
            </a:r>
            <a:r>
              <a:rPr sz="1250" b="0">
                <a:solidFill>
                  <a:srgbClr val="334155"/>
                </a:solidFill>
                <a:latin typeface="Calibri"/>
              </a:rPr>
              <a:t>Stage 1 creates a JSON outline and Character Bible; Stage 2 expands it into captions, narration, dialogue, and image prompts.</a:t>
            </a:r>
          </a:p>
          <a:p>
            <a:pPr>
              <a:lnSpc>
                <a:spcPct val="118000"/>
              </a:lnSpc>
              <a:spcAft>
                <a:spcPts val="1000"/>
              </a:spcAft>
            </a:pPr>
            <a:r>
              <a:rPr sz="1250" b="1">
                <a:solidFill>
                  <a:srgbClr val="0D9488"/>
                </a:solidFill>
                <a:latin typeface="Calibri"/>
              </a:rPr>
              <a:t>▪ </a:t>
            </a:r>
            <a:r>
              <a:rPr sz="1250" b="1">
                <a:solidFill>
                  <a:srgbClr val="0F172A"/>
                </a:solidFill>
                <a:latin typeface="Calibri"/>
              </a:rPr>
              <a:t>Schema-Validated Data: </a:t>
            </a:r>
            <a:r>
              <a:rPr sz="1250" b="0">
                <a:solidFill>
                  <a:srgbClr val="334155"/>
                </a:solidFill>
                <a:latin typeface="Calibri"/>
              </a:rPr>
              <a:t>All inputs and AI JSON responses are strictly validated using Pydantic v2 models instead of fragile text splitting.</a:t>
            </a:r>
          </a:p>
          <a:p>
            <a:pPr>
              <a:lnSpc>
                <a:spcPct val="118000"/>
              </a:lnSpc>
              <a:spcAft>
                <a:spcPts val="1000"/>
              </a:spcAft>
            </a:pPr>
            <a:r>
              <a:rPr sz="1250" b="1">
                <a:solidFill>
                  <a:srgbClr val="0D9488"/>
                </a:solidFill>
                <a:latin typeface="Calibri"/>
              </a:rPr>
              <a:t>▪ </a:t>
            </a:r>
            <a:r>
              <a:rPr sz="1250" b="1">
                <a:solidFill>
                  <a:srgbClr val="0F172A"/>
                </a:solidFill>
                <a:latin typeface="Calibri"/>
              </a:rPr>
              <a:t>Pluggable Artwork &amp; PDF: </a:t>
            </a:r>
            <a:r>
              <a:rPr sz="1250" b="0">
                <a:solidFill>
                  <a:srgbClr val="334155"/>
                </a:solidFill>
                <a:latin typeface="Calibri"/>
              </a:rPr>
              <a:t>Generates per-panel PNGs (Placeholder, Hugging Face SDXL, or Local Diffusers) and compiles a Unicode A4 PDF via fpdf2.</a:t>
            </a:r>
          </a:p>
          <a:p>
            <a:pPr>
              <a:lnSpc>
                <a:spcPct val="118000"/>
              </a:lnSpc>
              <a:spcAft>
                <a:spcPts val="1000"/>
              </a:spcAft>
            </a:pPr>
            <a:r>
              <a:rPr sz="1250" b="1">
                <a:solidFill>
                  <a:srgbClr val="0D9488"/>
                </a:solidFill>
                <a:latin typeface="Calibri"/>
              </a:rPr>
              <a:t>▪ </a:t>
            </a:r>
            <a:r>
              <a:rPr sz="1250" b="1">
                <a:solidFill>
                  <a:srgbClr val="0F172A"/>
                </a:solidFill>
                <a:latin typeface="Calibri"/>
              </a:rPr>
              <a:t>100% Offline Resilience: </a:t>
            </a:r>
            <a:r>
              <a:rPr sz="1250" b="0">
                <a:solidFill>
                  <a:srgbClr val="334155"/>
                </a:solidFill>
                <a:latin typeface="Calibri"/>
              </a:rPr>
              <a:t>Includes exponential-backoff retries, fallback models, and an offline deterministic Demo Mode requiring zero API keys.</a:t>
            </a:r>
          </a:p>
        </p:txBody>
      </p:sp>
      <p:sp>
        <p:nvSpPr>
          <p:cNvPr id="14" name="TextBox 13"/>
          <p:cNvSpPr txBox="1"/>
          <p:nvPr/>
        </p:nvSpPr>
        <p:spPr>
          <a:xfrm>
            <a:off x="6629400" y="1188720"/>
            <a:ext cx="4937760" cy="329184"/>
          </a:xfrm>
          <a:prstGeom prst="rect">
            <a:avLst/>
          </a:prstGeom>
          <a:noFill/>
        </p:spPr>
        <p:txBody>
          <a:bodyPr wrap="square" anchor="t" lIns="36576" rIns="36576" tIns="18288" bIns="18288">
            <a:spAutoFit/>
          </a:bodyPr>
          <a:lstStyle/>
          <a:p>
            <a:pPr algn="l"/>
            <a:r>
              <a:rPr sz="1300" b="1">
                <a:solidFill>
                  <a:srgbClr val="0F172A"/>
                </a:solidFill>
                <a:latin typeface="Calibri"/>
              </a:rPr>
              <a:t>FOUR-STAGE GENERATION WORKFLOW</a:t>
            </a:r>
          </a:p>
        </p:txBody>
      </p:sp>
      <p:sp>
        <p:nvSpPr>
          <p:cNvPr id="15" name="Rounded Rectangle 14"/>
          <p:cNvSpPr/>
          <p:nvPr/>
        </p:nvSpPr>
        <p:spPr>
          <a:xfrm>
            <a:off x="6629400" y="1591056"/>
            <a:ext cx="5010912" cy="107899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29400" y="1591056"/>
            <a:ext cx="91440" cy="10789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76288" y="1810512"/>
            <a:ext cx="603504" cy="603504"/>
          </a:xfrm>
          <a:prstGeom prst="roundRect">
            <a:avLst>
              <a:gd name="adj" fmla="val 4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76288" y="1810512"/>
            <a:ext cx="603504" cy="603504"/>
          </a:xfrm>
          <a:prstGeom prst="rect">
            <a:avLst/>
          </a:prstGeom>
          <a:noFill/>
        </p:spPr>
        <p:txBody>
          <a:bodyPr wrap="square" anchor="ctr" lIns="36576" rIns="36576" tIns="18288" bIns="18288">
            <a:spAutoFit/>
          </a:bodyPr>
          <a:lstStyle/>
          <a:p>
            <a:pPr algn="ctr"/>
            <a:r>
              <a:rPr sz="1500" b="1">
                <a:solidFill>
                  <a:srgbClr val="2563EB"/>
                </a:solidFill>
                <a:latin typeface="Calibri"/>
              </a:rPr>
              <a:t>01</a:t>
            </a:r>
          </a:p>
        </p:txBody>
      </p:sp>
      <p:sp>
        <p:nvSpPr>
          <p:cNvPr id="19" name="TextBox 18"/>
          <p:cNvSpPr txBox="1"/>
          <p:nvPr/>
        </p:nvSpPr>
        <p:spPr>
          <a:xfrm>
            <a:off x="7626096" y="1719072"/>
            <a:ext cx="3840480" cy="310896"/>
          </a:xfrm>
          <a:prstGeom prst="rect">
            <a:avLst/>
          </a:prstGeom>
          <a:noFill/>
        </p:spPr>
        <p:txBody>
          <a:bodyPr wrap="square" anchor="t" lIns="36576" rIns="36576" tIns="18288" bIns="18288">
            <a:spAutoFit/>
          </a:bodyPr>
          <a:lstStyle/>
          <a:p>
            <a:pPr algn="l"/>
            <a:r>
              <a:rPr sz="1300" b="1">
                <a:solidFill>
                  <a:srgbClr val="0F172A"/>
                </a:solidFill>
                <a:latin typeface="Calibri"/>
              </a:rPr>
              <a:t>PLAN  •  Story Outline &amp; Character Bible</a:t>
            </a:r>
          </a:p>
        </p:txBody>
      </p:sp>
      <p:sp>
        <p:nvSpPr>
          <p:cNvPr id="20" name="TextBox 19"/>
          <p:cNvSpPr txBox="1"/>
          <p:nvPr/>
        </p:nvSpPr>
        <p:spPr>
          <a:xfrm>
            <a:off x="7626096" y="2048256"/>
            <a:ext cx="3840480" cy="530352"/>
          </a:xfrm>
          <a:prstGeom prst="rect">
            <a:avLst/>
          </a:prstGeom>
          <a:noFill/>
        </p:spPr>
        <p:txBody>
          <a:bodyPr wrap="square" anchor="t" lIns="36576" rIns="36576" tIns="18288" bIns="18288">
            <a:spAutoFit/>
          </a:bodyPr>
          <a:lstStyle/>
          <a:p>
            <a:pPr algn="l"/>
            <a:r>
              <a:rPr sz="1150" b="0">
                <a:solidFill>
                  <a:srgbClr val="334155"/>
                </a:solidFill>
                <a:latin typeface="Calibri"/>
              </a:rPr>
              <a:t>Gemini Outline model plans exact N sequential panels and locks hero visual traits in JSON.</a:t>
            </a:r>
          </a:p>
        </p:txBody>
      </p:sp>
      <p:sp>
        <p:nvSpPr>
          <p:cNvPr id="21" name="Rounded Rectangle 20"/>
          <p:cNvSpPr/>
          <p:nvPr/>
        </p:nvSpPr>
        <p:spPr>
          <a:xfrm>
            <a:off x="6629400" y="2779776"/>
            <a:ext cx="5010912" cy="107899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29400" y="2779776"/>
            <a:ext cx="91440" cy="10789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76288" y="2999232"/>
            <a:ext cx="603504" cy="603504"/>
          </a:xfrm>
          <a:prstGeom prst="roundRect">
            <a:avLst>
              <a:gd name="adj" fmla="val 4000"/>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76288" y="2999232"/>
            <a:ext cx="603504" cy="603504"/>
          </a:xfrm>
          <a:prstGeom prst="rect">
            <a:avLst/>
          </a:prstGeom>
          <a:noFill/>
        </p:spPr>
        <p:txBody>
          <a:bodyPr wrap="square" anchor="ctr" lIns="36576" rIns="36576" tIns="18288" bIns="18288">
            <a:spAutoFit/>
          </a:bodyPr>
          <a:lstStyle/>
          <a:p>
            <a:pPr algn="ctr"/>
            <a:r>
              <a:rPr sz="1500" b="1">
                <a:solidFill>
                  <a:srgbClr val="0D9488"/>
                </a:solidFill>
                <a:latin typeface="Calibri"/>
              </a:rPr>
              <a:t>02</a:t>
            </a:r>
          </a:p>
        </p:txBody>
      </p:sp>
      <p:sp>
        <p:nvSpPr>
          <p:cNvPr id="25" name="TextBox 24"/>
          <p:cNvSpPr txBox="1"/>
          <p:nvPr/>
        </p:nvSpPr>
        <p:spPr>
          <a:xfrm>
            <a:off x="7626096" y="2907792"/>
            <a:ext cx="3840480" cy="310896"/>
          </a:xfrm>
          <a:prstGeom prst="rect">
            <a:avLst/>
          </a:prstGeom>
          <a:noFill/>
        </p:spPr>
        <p:txBody>
          <a:bodyPr wrap="square" anchor="t" lIns="36576" rIns="36576" tIns="18288" bIns="18288">
            <a:spAutoFit/>
          </a:bodyPr>
          <a:lstStyle/>
          <a:p>
            <a:pPr algn="l"/>
            <a:r>
              <a:rPr sz="1300" b="1">
                <a:solidFill>
                  <a:srgbClr val="0F172A"/>
                </a:solidFill>
                <a:latin typeface="Calibri"/>
              </a:rPr>
              <a:t>WRITE  •  Full Comic Script</a:t>
            </a:r>
          </a:p>
        </p:txBody>
      </p:sp>
      <p:sp>
        <p:nvSpPr>
          <p:cNvPr id="26" name="TextBox 25"/>
          <p:cNvSpPr txBox="1"/>
          <p:nvPr/>
        </p:nvSpPr>
        <p:spPr>
          <a:xfrm>
            <a:off x="7626096" y="3236976"/>
            <a:ext cx="3840480" cy="530352"/>
          </a:xfrm>
          <a:prstGeom prst="rect">
            <a:avLst/>
          </a:prstGeom>
          <a:noFill/>
        </p:spPr>
        <p:txBody>
          <a:bodyPr wrap="square" anchor="t" lIns="36576" rIns="36576" tIns="18288" bIns="18288">
            <a:spAutoFit/>
          </a:bodyPr>
          <a:lstStyle/>
          <a:p>
            <a:pPr algn="l"/>
            <a:r>
              <a:rPr sz="1150" b="0">
                <a:solidFill>
                  <a:srgbClr val="334155"/>
                </a:solidFill>
                <a:latin typeface="Calibri"/>
              </a:rPr>
              <a:t>Gemini Story model writes panel captions, narration, 0–3 dialogue lines, and art prompts.</a:t>
            </a:r>
          </a:p>
        </p:txBody>
      </p:sp>
      <p:sp>
        <p:nvSpPr>
          <p:cNvPr id="27" name="Rounded Rectangle 26"/>
          <p:cNvSpPr/>
          <p:nvPr/>
        </p:nvSpPr>
        <p:spPr>
          <a:xfrm>
            <a:off x="6629400" y="3968496"/>
            <a:ext cx="5010912" cy="107899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29400" y="3968496"/>
            <a:ext cx="91440" cy="107899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876288" y="4187952"/>
            <a:ext cx="603504" cy="603504"/>
          </a:xfrm>
          <a:prstGeom prst="roundRect">
            <a:avLst>
              <a:gd name="adj" fmla="val 4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76288" y="4187952"/>
            <a:ext cx="603504" cy="603504"/>
          </a:xfrm>
          <a:prstGeom prst="rect">
            <a:avLst/>
          </a:prstGeom>
          <a:noFill/>
        </p:spPr>
        <p:txBody>
          <a:bodyPr wrap="square" anchor="ctr" lIns="36576" rIns="36576" tIns="18288" bIns="18288">
            <a:spAutoFit/>
          </a:bodyPr>
          <a:lstStyle/>
          <a:p>
            <a:pPr algn="ctr"/>
            <a:r>
              <a:rPr sz="1500" b="1">
                <a:solidFill>
                  <a:srgbClr val="B45309"/>
                </a:solidFill>
                <a:latin typeface="Calibri"/>
              </a:rPr>
              <a:t>03</a:t>
            </a:r>
          </a:p>
        </p:txBody>
      </p:sp>
      <p:sp>
        <p:nvSpPr>
          <p:cNvPr id="31" name="TextBox 30"/>
          <p:cNvSpPr txBox="1"/>
          <p:nvPr/>
        </p:nvSpPr>
        <p:spPr>
          <a:xfrm>
            <a:off x="7626096" y="4096511"/>
            <a:ext cx="3840480" cy="310896"/>
          </a:xfrm>
          <a:prstGeom prst="rect">
            <a:avLst/>
          </a:prstGeom>
          <a:noFill/>
        </p:spPr>
        <p:txBody>
          <a:bodyPr wrap="square" anchor="t" lIns="36576" rIns="36576" tIns="18288" bIns="18288">
            <a:spAutoFit/>
          </a:bodyPr>
          <a:lstStyle/>
          <a:p>
            <a:pPr algn="l"/>
            <a:r>
              <a:rPr sz="1300" b="1">
                <a:solidFill>
                  <a:srgbClr val="0F172A"/>
                </a:solidFill>
                <a:latin typeface="Calibri"/>
              </a:rPr>
              <a:t>ILLUSTRATE  •  Seeded Panel Artwork</a:t>
            </a:r>
          </a:p>
        </p:txBody>
      </p:sp>
      <p:sp>
        <p:nvSpPr>
          <p:cNvPr id="32" name="TextBox 31"/>
          <p:cNvSpPr txBox="1"/>
          <p:nvPr/>
        </p:nvSpPr>
        <p:spPr>
          <a:xfrm>
            <a:off x="7626096" y="4425696"/>
            <a:ext cx="3840480" cy="530352"/>
          </a:xfrm>
          <a:prstGeom prst="rect">
            <a:avLst/>
          </a:prstGeom>
          <a:noFill/>
        </p:spPr>
        <p:txBody>
          <a:bodyPr wrap="square" anchor="t" lIns="36576" rIns="36576" tIns="18288" bIns="18288">
            <a:spAutoFit/>
          </a:bodyPr>
          <a:lstStyle/>
          <a:p>
            <a:pPr algn="l"/>
            <a:r>
              <a:rPr sz="1150" b="0">
                <a:solidFill>
                  <a:srgbClr val="334155"/>
                </a:solidFill>
                <a:latin typeface="Calibri"/>
              </a:rPr>
              <a:t>SHA-256 deterministic seed produces 1 PNG per panel via Placeholder, HF SDXL, or Diffusers.</a:t>
            </a:r>
          </a:p>
        </p:txBody>
      </p:sp>
      <p:sp>
        <p:nvSpPr>
          <p:cNvPr id="33" name="Rounded Rectangle 32"/>
          <p:cNvSpPr/>
          <p:nvPr/>
        </p:nvSpPr>
        <p:spPr>
          <a:xfrm>
            <a:off x="6629400" y="5157216"/>
            <a:ext cx="5010912" cy="107899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5157216"/>
            <a:ext cx="91440"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876288" y="5376672"/>
            <a:ext cx="603504" cy="603504"/>
          </a:xfrm>
          <a:prstGeom prst="roundRect">
            <a:avLst>
              <a:gd name="adj" fmla="val 4000"/>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6288" y="5376672"/>
            <a:ext cx="603504" cy="603504"/>
          </a:xfrm>
          <a:prstGeom prst="rect">
            <a:avLst/>
          </a:prstGeom>
          <a:noFill/>
        </p:spPr>
        <p:txBody>
          <a:bodyPr wrap="square" anchor="ctr" lIns="36576" rIns="36576" tIns="18288" bIns="18288">
            <a:spAutoFit/>
          </a:bodyPr>
          <a:lstStyle/>
          <a:p>
            <a:pPr algn="ctr"/>
            <a:r>
              <a:rPr sz="1500" b="1">
                <a:solidFill>
                  <a:srgbClr val="4F46E5"/>
                </a:solidFill>
                <a:latin typeface="Calibri"/>
              </a:rPr>
              <a:t>04</a:t>
            </a:r>
          </a:p>
        </p:txBody>
      </p:sp>
      <p:sp>
        <p:nvSpPr>
          <p:cNvPr id="37" name="TextBox 36"/>
          <p:cNvSpPr txBox="1"/>
          <p:nvPr/>
        </p:nvSpPr>
        <p:spPr>
          <a:xfrm>
            <a:off x="7626096" y="5285231"/>
            <a:ext cx="3840480" cy="310896"/>
          </a:xfrm>
          <a:prstGeom prst="rect">
            <a:avLst/>
          </a:prstGeom>
          <a:noFill/>
        </p:spPr>
        <p:txBody>
          <a:bodyPr wrap="square" anchor="t" lIns="36576" rIns="36576" tIns="18288" bIns="18288">
            <a:spAutoFit/>
          </a:bodyPr>
          <a:lstStyle/>
          <a:p>
            <a:pPr algn="l"/>
            <a:r>
              <a:rPr sz="1300" b="1">
                <a:solidFill>
                  <a:srgbClr val="0F172A"/>
                </a:solidFill>
                <a:latin typeface="Calibri"/>
              </a:rPr>
              <a:t>PUBLISH  •  Web Preview &amp; A4 PDF</a:t>
            </a:r>
          </a:p>
        </p:txBody>
      </p:sp>
      <p:sp>
        <p:nvSpPr>
          <p:cNvPr id="38" name="TextBox 37"/>
          <p:cNvSpPr txBox="1"/>
          <p:nvPr/>
        </p:nvSpPr>
        <p:spPr>
          <a:xfrm>
            <a:off x="7626096" y="5614416"/>
            <a:ext cx="3840480" cy="530352"/>
          </a:xfrm>
          <a:prstGeom prst="rect">
            <a:avLst/>
          </a:prstGeom>
          <a:noFill/>
        </p:spPr>
        <p:txBody>
          <a:bodyPr wrap="square" anchor="t" lIns="36576" rIns="36576" tIns="18288" bIns="18288">
            <a:spAutoFit/>
          </a:bodyPr>
          <a:lstStyle/>
          <a:p>
            <a:pPr algn="l"/>
            <a:r>
              <a:rPr sz="1150" b="0">
                <a:solidFill>
                  <a:srgbClr val="334155"/>
                </a:solidFill>
                <a:latin typeface="Calibri"/>
              </a:rPr>
              <a:t>Builds Cover + Panel PDF (fpdf2) and saves atomic comic.json inside a UUID workspace.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03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Problem Statement &amp; Core Objectives</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Why manual or naive AI comic scripts fail — and the engineering goals ComicCraft achieves</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170432"/>
            <a:ext cx="5394960" cy="420624"/>
          </a:xfrm>
          <a:prstGeom prst="roundRect">
            <a:avLst>
              <a:gd name="adj" fmla="val 4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70432"/>
            <a:ext cx="5029200" cy="420624"/>
          </a:xfrm>
          <a:prstGeom prst="rect">
            <a:avLst/>
          </a:prstGeom>
          <a:noFill/>
        </p:spPr>
        <p:txBody>
          <a:bodyPr wrap="square" anchor="ctr" lIns="36576" rIns="36576" tIns="18288" bIns="18288">
            <a:spAutoFit/>
          </a:bodyPr>
          <a:lstStyle/>
          <a:p>
            <a:pPr algn="l"/>
            <a:r>
              <a:rPr sz="1300" b="1">
                <a:solidFill>
                  <a:srgbClr val="FFFFFF"/>
                </a:solidFill>
                <a:latin typeface="Calibri"/>
              </a:rPr>
              <a:t>PROBLEMS IN EXISTING / NAIVE APPROACHES</a:t>
            </a:r>
          </a:p>
        </p:txBody>
      </p:sp>
      <p:sp>
        <p:nvSpPr>
          <p:cNvPr id="12" name="Rounded Rectangle 11"/>
          <p:cNvSpPr/>
          <p:nvPr/>
        </p:nvSpPr>
        <p:spPr>
          <a:xfrm>
            <a:off x="548640" y="1719072"/>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19072"/>
            <a:ext cx="91440" cy="1051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810512"/>
            <a:ext cx="4983480" cy="292608"/>
          </a:xfrm>
          <a:prstGeom prst="rect">
            <a:avLst/>
          </a:prstGeom>
          <a:noFill/>
        </p:spPr>
        <p:txBody>
          <a:bodyPr wrap="square" anchor="t" lIns="36576" rIns="36576" tIns="18288" bIns="18288">
            <a:spAutoFit/>
          </a:bodyPr>
          <a:lstStyle/>
          <a:p>
            <a:pPr algn="l"/>
            <a:r>
              <a:rPr sz="1300" b="1">
                <a:solidFill>
                  <a:srgbClr val="E11D48"/>
                </a:solidFill>
                <a:latin typeface="Calibri"/>
              </a:rPr>
              <a:t>1. Multi-Skill Bottleneck</a:t>
            </a:r>
          </a:p>
        </p:txBody>
      </p:sp>
      <p:sp>
        <p:nvSpPr>
          <p:cNvPr id="15" name="TextBox 14"/>
          <p:cNvSpPr txBox="1"/>
          <p:nvPr/>
        </p:nvSpPr>
        <p:spPr>
          <a:xfrm>
            <a:off x="786384" y="2103120"/>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Creating a comic manually requires separate writing, illustration, and page-layout skills, causing beginners to abandon projects.</a:t>
            </a:r>
          </a:p>
        </p:txBody>
      </p:sp>
      <p:sp>
        <p:nvSpPr>
          <p:cNvPr id="16" name="Rounded Rectangle 15"/>
          <p:cNvSpPr/>
          <p:nvPr/>
        </p:nvSpPr>
        <p:spPr>
          <a:xfrm>
            <a:off x="548640" y="2871215"/>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71215"/>
            <a:ext cx="91440" cy="1051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962656"/>
            <a:ext cx="4983480" cy="292608"/>
          </a:xfrm>
          <a:prstGeom prst="rect">
            <a:avLst/>
          </a:prstGeom>
          <a:noFill/>
        </p:spPr>
        <p:txBody>
          <a:bodyPr wrap="square" anchor="t" lIns="36576" rIns="36576" tIns="18288" bIns="18288">
            <a:spAutoFit/>
          </a:bodyPr>
          <a:lstStyle/>
          <a:p>
            <a:pPr algn="l"/>
            <a:r>
              <a:rPr sz="1300" b="1">
                <a:solidFill>
                  <a:srgbClr val="E11D48"/>
                </a:solidFill>
                <a:latin typeface="Calibri"/>
              </a:rPr>
              <a:t>2. Brittle Plain-Text Parsing</a:t>
            </a:r>
          </a:p>
        </p:txBody>
      </p:sp>
      <p:sp>
        <p:nvSpPr>
          <p:cNvPr id="19" name="TextBox 18"/>
          <p:cNvSpPr txBox="1"/>
          <p:nvPr/>
        </p:nvSpPr>
        <p:spPr>
          <a:xfrm>
            <a:off x="786384" y="3255263"/>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Naive AI scripts split free-form chat text on markers like '**Panel' — minor formatting drift crashes the parser.</a:t>
            </a:r>
          </a:p>
        </p:txBody>
      </p:sp>
      <p:sp>
        <p:nvSpPr>
          <p:cNvPr id="20" name="Rounded Rectangle 19"/>
          <p:cNvSpPr/>
          <p:nvPr/>
        </p:nvSpPr>
        <p:spPr>
          <a:xfrm>
            <a:off x="548640" y="4023359"/>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23359"/>
            <a:ext cx="91440" cy="1051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114799"/>
            <a:ext cx="4983480" cy="292608"/>
          </a:xfrm>
          <a:prstGeom prst="rect">
            <a:avLst/>
          </a:prstGeom>
          <a:noFill/>
        </p:spPr>
        <p:txBody>
          <a:bodyPr wrap="square" anchor="t" lIns="36576" rIns="36576" tIns="18288" bIns="18288">
            <a:spAutoFit/>
          </a:bodyPr>
          <a:lstStyle/>
          <a:p>
            <a:pPr algn="l"/>
            <a:r>
              <a:rPr sz="1300" b="1">
                <a:solidFill>
                  <a:srgbClr val="E11D48"/>
                </a:solidFill>
                <a:latin typeface="Calibri"/>
              </a:rPr>
              <a:t>3. Character Visual Drift</a:t>
            </a:r>
          </a:p>
        </p:txBody>
      </p:sp>
      <p:sp>
        <p:nvSpPr>
          <p:cNvPr id="23" name="TextBox 22"/>
          <p:cNvSpPr txBox="1"/>
          <p:nvPr/>
        </p:nvSpPr>
        <p:spPr>
          <a:xfrm>
            <a:off x="786384" y="4407407"/>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Generating panel images independently causes the main character's face, clothes, and colors to change every panel.</a:t>
            </a:r>
          </a:p>
        </p:txBody>
      </p:sp>
      <p:sp>
        <p:nvSpPr>
          <p:cNvPr id="24" name="Rounded Rectangle 23"/>
          <p:cNvSpPr/>
          <p:nvPr/>
        </p:nvSpPr>
        <p:spPr>
          <a:xfrm>
            <a:off x="548640" y="5175503"/>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175503"/>
            <a:ext cx="91440" cy="1051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266943"/>
            <a:ext cx="4983480" cy="292608"/>
          </a:xfrm>
          <a:prstGeom prst="rect">
            <a:avLst/>
          </a:prstGeom>
          <a:noFill/>
        </p:spPr>
        <p:txBody>
          <a:bodyPr wrap="square" anchor="t" lIns="36576" rIns="36576" tIns="18288" bIns="18288">
            <a:spAutoFit/>
          </a:bodyPr>
          <a:lstStyle/>
          <a:p>
            <a:pPr algn="l"/>
            <a:r>
              <a:rPr sz="1300" b="1">
                <a:solidFill>
                  <a:srgbClr val="E11D48"/>
                </a:solidFill>
                <a:latin typeface="Calibri"/>
              </a:rPr>
              <a:t>4. Hard Failures &amp; Paid Key Lock-In</a:t>
            </a:r>
          </a:p>
        </p:txBody>
      </p:sp>
      <p:sp>
        <p:nvSpPr>
          <p:cNvPr id="27" name="TextBox 26"/>
          <p:cNvSpPr txBox="1"/>
          <p:nvPr/>
        </p:nvSpPr>
        <p:spPr>
          <a:xfrm>
            <a:off x="786384" y="5559551"/>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API rate-limits (429), retired model names (404), or missing paid credentials break the entire application.</a:t>
            </a:r>
          </a:p>
        </p:txBody>
      </p:sp>
      <p:sp>
        <p:nvSpPr>
          <p:cNvPr id="28" name="Rounded Rectangle 27"/>
          <p:cNvSpPr/>
          <p:nvPr/>
        </p:nvSpPr>
        <p:spPr>
          <a:xfrm>
            <a:off x="6245352" y="1170432"/>
            <a:ext cx="5394960" cy="420624"/>
          </a:xfrm>
          <a:prstGeom prst="roundRect">
            <a:avLst>
              <a:gd name="adj" fmla="val 4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1170432"/>
            <a:ext cx="5029200" cy="420624"/>
          </a:xfrm>
          <a:prstGeom prst="rect">
            <a:avLst/>
          </a:prstGeom>
          <a:noFill/>
        </p:spPr>
        <p:txBody>
          <a:bodyPr wrap="square" anchor="ctr" lIns="36576" rIns="36576" tIns="18288" bIns="18288">
            <a:spAutoFit/>
          </a:bodyPr>
          <a:lstStyle/>
          <a:p>
            <a:pPr algn="l"/>
            <a:r>
              <a:rPr sz="1300" b="1">
                <a:solidFill>
                  <a:srgbClr val="FFFFFF"/>
                </a:solidFill>
                <a:latin typeface="Calibri"/>
              </a:rPr>
              <a:t>COMICCRAFT PROJECT OBJECTIVES</a:t>
            </a:r>
          </a:p>
        </p:txBody>
      </p:sp>
      <p:sp>
        <p:nvSpPr>
          <p:cNvPr id="30" name="Rounded Rectangle 29"/>
          <p:cNvSpPr/>
          <p:nvPr/>
        </p:nvSpPr>
        <p:spPr>
          <a:xfrm>
            <a:off x="6245352" y="1719072"/>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5352" y="1719072"/>
            <a:ext cx="91440"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83096" y="1810512"/>
            <a:ext cx="4983480" cy="292608"/>
          </a:xfrm>
          <a:prstGeom prst="rect">
            <a:avLst/>
          </a:prstGeom>
          <a:noFill/>
        </p:spPr>
        <p:txBody>
          <a:bodyPr wrap="square" anchor="t" lIns="36576" rIns="36576" tIns="18288" bIns="18288">
            <a:spAutoFit/>
          </a:bodyPr>
          <a:lstStyle/>
          <a:p>
            <a:pPr algn="l"/>
            <a:r>
              <a:rPr sz="1300" b="1">
                <a:solidFill>
                  <a:srgbClr val="0D9488"/>
                </a:solidFill>
                <a:latin typeface="Calibri"/>
              </a:rPr>
              <a:t>1. Unified Single-Brief Studio</a:t>
            </a:r>
          </a:p>
        </p:txBody>
      </p:sp>
      <p:sp>
        <p:nvSpPr>
          <p:cNvPr id="33" name="TextBox 32"/>
          <p:cNvSpPr txBox="1"/>
          <p:nvPr/>
        </p:nvSpPr>
        <p:spPr>
          <a:xfrm>
            <a:off x="6483096" y="2103120"/>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Generate complete 3–8 panel comics from one browser form or versioned REST JSON API (/api/v1/comics).</a:t>
            </a:r>
          </a:p>
        </p:txBody>
      </p:sp>
      <p:sp>
        <p:nvSpPr>
          <p:cNvPr id="34" name="Rounded Rectangle 33"/>
          <p:cNvSpPr/>
          <p:nvPr/>
        </p:nvSpPr>
        <p:spPr>
          <a:xfrm>
            <a:off x="6245352" y="2871215"/>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2871215"/>
            <a:ext cx="91440"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83096" y="2962656"/>
            <a:ext cx="4983480" cy="292608"/>
          </a:xfrm>
          <a:prstGeom prst="rect">
            <a:avLst/>
          </a:prstGeom>
          <a:noFill/>
        </p:spPr>
        <p:txBody>
          <a:bodyPr wrap="square" anchor="t" lIns="36576" rIns="36576" tIns="18288" bIns="18288">
            <a:spAutoFit/>
          </a:bodyPr>
          <a:lstStyle/>
          <a:p>
            <a:pPr algn="l"/>
            <a:r>
              <a:rPr sz="1300" b="1">
                <a:solidFill>
                  <a:srgbClr val="0D9488"/>
                </a:solidFill>
                <a:latin typeface="Calibri"/>
              </a:rPr>
              <a:t>2. Strict JSON Schema Validation</a:t>
            </a:r>
          </a:p>
        </p:txBody>
      </p:sp>
      <p:sp>
        <p:nvSpPr>
          <p:cNvPr id="37" name="TextBox 36"/>
          <p:cNvSpPr txBox="1"/>
          <p:nvPr/>
        </p:nvSpPr>
        <p:spPr>
          <a:xfrm>
            <a:off x="6483096" y="3255263"/>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Use Gemini JSON mode parsed into Pydantic v2 contracts that enforce exact panel counts and numbering.</a:t>
            </a:r>
          </a:p>
        </p:txBody>
      </p:sp>
      <p:sp>
        <p:nvSpPr>
          <p:cNvPr id="38" name="Rounded Rectangle 37"/>
          <p:cNvSpPr/>
          <p:nvPr/>
        </p:nvSpPr>
        <p:spPr>
          <a:xfrm>
            <a:off x="6245352" y="4023359"/>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45352" y="4023359"/>
            <a:ext cx="91440"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83096" y="4114799"/>
            <a:ext cx="4983480" cy="292608"/>
          </a:xfrm>
          <a:prstGeom prst="rect">
            <a:avLst/>
          </a:prstGeom>
          <a:noFill/>
        </p:spPr>
        <p:txBody>
          <a:bodyPr wrap="square" anchor="t" lIns="36576" rIns="36576" tIns="18288" bIns="18288">
            <a:spAutoFit/>
          </a:bodyPr>
          <a:lstStyle/>
          <a:p>
            <a:pPr algn="l"/>
            <a:r>
              <a:rPr sz="1300" b="1">
                <a:solidFill>
                  <a:srgbClr val="0D9488"/>
                </a:solidFill>
                <a:latin typeface="Calibri"/>
              </a:rPr>
              <a:t>3. Character Bible Continuity</a:t>
            </a:r>
          </a:p>
        </p:txBody>
      </p:sp>
      <p:sp>
        <p:nvSpPr>
          <p:cNvPr id="41" name="TextBox 40"/>
          <p:cNvSpPr txBox="1"/>
          <p:nvPr/>
        </p:nvSpPr>
        <p:spPr>
          <a:xfrm>
            <a:off x="6483096" y="4407407"/>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Lock hero appearance in Stage 1 and repeat visual traits + negative prompts across every panel image.</a:t>
            </a:r>
          </a:p>
        </p:txBody>
      </p:sp>
      <p:sp>
        <p:nvSpPr>
          <p:cNvPr id="42" name="Rounded Rectangle 41"/>
          <p:cNvSpPr/>
          <p:nvPr/>
        </p:nvSpPr>
        <p:spPr>
          <a:xfrm>
            <a:off x="6245352" y="5175503"/>
            <a:ext cx="5394960" cy="1051560"/>
          </a:xfrm>
          <a:prstGeom prst="roundRect">
            <a:avLst>
              <a:gd name="adj" fmla="val 4000"/>
            </a:avLst>
          </a:prstGeom>
          <a:solidFill>
            <a:srgbClr val="FFFFFF"/>
          </a:solidFill>
          <a:ln w="1143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45352" y="5175503"/>
            <a:ext cx="91440"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83096" y="5266943"/>
            <a:ext cx="4983480" cy="292608"/>
          </a:xfrm>
          <a:prstGeom prst="rect">
            <a:avLst/>
          </a:prstGeom>
          <a:noFill/>
        </p:spPr>
        <p:txBody>
          <a:bodyPr wrap="square" anchor="t" lIns="36576" rIns="36576" tIns="18288" bIns="18288">
            <a:spAutoFit/>
          </a:bodyPr>
          <a:lstStyle/>
          <a:p>
            <a:pPr algn="l"/>
            <a:r>
              <a:rPr sz="1300" b="1">
                <a:solidFill>
                  <a:srgbClr val="0D9488"/>
                </a:solidFill>
                <a:latin typeface="Calibri"/>
              </a:rPr>
              <a:t>4. Graceful Offline &amp; Fallback Support</a:t>
            </a:r>
          </a:p>
        </p:txBody>
      </p:sp>
      <p:sp>
        <p:nvSpPr>
          <p:cNvPr id="45" name="TextBox 44"/>
          <p:cNvSpPr txBox="1"/>
          <p:nvPr/>
        </p:nvSpPr>
        <p:spPr>
          <a:xfrm>
            <a:off x="6483096" y="5559551"/>
            <a:ext cx="4983480" cy="585216"/>
          </a:xfrm>
          <a:prstGeom prst="rect">
            <a:avLst/>
          </a:prstGeom>
          <a:noFill/>
        </p:spPr>
        <p:txBody>
          <a:bodyPr wrap="square" anchor="t" lIns="36576" rIns="36576" tIns="18288" bIns="18288">
            <a:spAutoFit/>
          </a:bodyPr>
          <a:lstStyle/>
          <a:p>
            <a:pPr algn="l"/>
            <a:r>
              <a:rPr sz="1150" b="0">
                <a:solidFill>
                  <a:srgbClr val="334155"/>
                </a:solidFill>
                <a:latin typeface="Calibri"/>
              </a:rPr>
              <a:t>Provide retries, fallback model chains, offline Demo Writer, and Pillow Placeholder art for 100% uptime.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04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Existing System vs Proposed System</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Direct architectural comparison between conventional/fragile scripts and ComicCraft</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graphicFrame>
        <p:nvGraphicFramePr>
          <p:cNvPr id="10" name="Table 9"/>
          <p:cNvGraphicFramePr>
            <a:graphicFrameLocks noGrp="1"/>
          </p:cNvGraphicFramePr>
          <p:nvPr/>
        </p:nvGraphicFramePr>
        <p:xfrm>
          <a:off x="548640" y="1207008"/>
          <a:ext cx="11091672" cy="4343400"/>
        </p:xfrm>
        <a:graphic>
          <a:graphicData uri="http://schemas.openxmlformats.org/drawingml/2006/table">
            <a:tbl>
              <a:tblPr firstRow="1" bandRow="1">
                <a:tableStyleId>{5C22544A-7EE6-4342-B048-85BDC9FD1C3A}</a:tableStyleId>
              </a:tblPr>
              <a:tblGrid>
                <a:gridCol w="2240280"/>
                <a:gridCol w="4334256"/>
                <a:gridCol w="4517136"/>
              </a:tblGrid>
              <a:tr h="723900">
                <a:tc>
                  <a:txBody>
                    <a:bodyPr/>
                    <a:lstStyle/>
                    <a:p>
                      <a:pPr>
                        <a:lnSpc>
                          <a:spcPct val="115000"/>
                        </a:lnSpc>
                      </a:pPr>
                      <a:r>
                        <a:rPr sz="1300" b="1">
                          <a:solidFill>
                            <a:srgbClr val="FFFFFF"/>
                          </a:solidFill>
                          <a:latin typeface="Calibri"/>
                        </a:rPr>
                        <a:t>Dimension</a:t>
                      </a:r>
                    </a:p>
                  </a:txBody>
                  <a:tcPr anchor="ctr" marL="128016" marR="128016" marT="73152" marB="73152">
                    <a:solidFill>
                      <a:srgbClr val="0F172A"/>
                    </a:solidFill>
                  </a:tcPr>
                </a:tc>
                <a:tc>
                  <a:txBody>
                    <a:bodyPr/>
                    <a:lstStyle/>
                    <a:p>
                      <a:pPr>
                        <a:lnSpc>
                          <a:spcPct val="115000"/>
                        </a:lnSpc>
                      </a:pPr>
                      <a:r>
                        <a:rPr sz="1300" b="1">
                          <a:solidFill>
                            <a:srgbClr val="FFFFFF"/>
                          </a:solidFill>
                          <a:latin typeface="Calibri"/>
                        </a:rPr>
                        <a:t>Existing / Naive AI System</a:t>
                      </a:r>
                    </a:p>
                  </a:txBody>
                  <a:tcPr anchor="ctr" marL="128016" marR="128016" marT="73152" marB="73152">
                    <a:solidFill>
                      <a:srgbClr val="0F172A"/>
                    </a:solidFill>
                  </a:tcPr>
                </a:tc>
                <a:tc>
                  <a:txBody>
                    <a:bodyPr/>
                    <a:lstStyle/>
                    <a:p>
                      <a:pPr>
                        <a:lnSpc>
                          <a:spcPct val="115000"/>
                        </a:lnSpc>
                      </a:pPr>
                      <a:r>
                        <a:rPr sz="1300" b="1">
                          <a:solidFill>
                            <a:srgbClr val="FFFFFF"/>
                          </a:solidFill>
                          <a:latin typeface="Calibri"/>
                        </a:rPr>
                        <a:t>Proposed System (ComicCraft)</a:t>
                      </a:r>
                    </a:p>
                  </a:txBody>
                  <a:tcPr anchor="ctr" marL="128016" marR="128016" marT="73152" marB="73152">
                    <a:solidFill>
                      <a:srgbClr val="0D9488"/>
                    </a:solidFill>
                  </a:tcPr>
                </a:tc>
              </a:tr>
              <a:tr h="723900">
                <a:tc>
                  <a:txBody>
                    <a:bodyPr/>
                    <a:lstStyle/>
                    <a:p>
                      <a:pPr>
                        <a:lnSpc>
                          <a:spcPct val="115000"/>
                        </a:lnSpc>
                      </a:pPr>
                      <a:r>
                        <a:rPr sz="1250" b="1">
                          <a:solidFill>
                            <a:srgbClr val="0F172A"/>
                          </a:solidFill>
                          <a:latin typeface="Calibri"/>
                        </a:rPr>
                        <a:t>Workflow Pipeline</a:t>
                      </a:r>
                    </a:p>
                  </a:txBody>
                  <a:tcPr anchor="ctr" marL="128016" marR="128016" marT="73152" marB="73152">
                    <a:solidFill>
                      <a:srgbClr val="FFFFFF"/>
                    </a:solidFill>
                  </a:tcPr>
                </a:tc>
                <a:tc>
                  <a:txBody>
                    <a:bodyPr/>
                    <a:lstStyle/>
                    <a:p>
                      <a:pPr>
                        <a:lnSpc>
                          <a:spcPct val="115000"/>
                        </a:lnSpc>
                      </a:pPr>
                      <a:r>
                        <a:rPr sz="1200">
                          <a:solidFill>
                            <a:srgbClr val="64748B"/>
                          </a:solidFill>
                          <a:latin typeface="Calibri"/>
                        </a:rPr>
                        <a:t>Disconnected tools for script writing, illustration, and manual PDF layout.</a:t>
                      </a:r>
                    </a:p>
                  </a:txBody>
                  <a:tcPr anchor="ctr" marL="128016" marR="128016" marT="73152" marB="73152">
                    <a:solidFill>
                      <a:srgbClr val="FFFFFF"/>
                    </a:solidFill>
                  </a:tcPr>
                </a:tc>
                <a:tc>
                  <a:txBody>
                    <a:bodyPr/>
                    <a:lstStyle/>
                    <a:p>
                      <a:pPr>
                        <a:lnSpc>
                          <a:spcPct val="115000"/>
                        </a:lnSpc>
                      </a:pPr>
                      <a:r>
                        <a:rPr sz="1200" b="1">
                          <a:solidFill>
                            <a:srgbClr val="0F172A"/>
                          </a:solidFill>
                          <a:latin typeface="Calibri"/>
                        </a:rPr>
                        <a:t>Single integrated FastAPI pipeline from user brief to preview and A4 PDF.</a:t>
                      </a:r>
                    </a:p>
                  </a:txBody>
                  <a:tcPr anchor="ctr" marL="128016" marR="128016" marT="73152" marB="73152">
                    <a:solidFill>
                      <a:srgbClr val="F0FDFA"/>
                    </a:solidFill>
                  </a:tcPr>
                </a:tc>
              </a:tr>
              <a:tr h="723900">
                <a:tc>
                  <a:txBody>
                    <a:bodyPr/>
                    <a:lstStyle/>
                    <a:p>
                      <a:pPr>
                        <a:lnSpc>
                          <a:spcPct val="115000"/>
                        </a:lnSpc>
                      </a:pPr>
                      <a:r>
                        <a:rPr sz="1250" b="1">
                          <a:solidFill>
                            <a:srgbClr val="0F172A"/>
                          </a:solidFill>
                          <a:latin typeface="Calibri"/>
                        </a:rPr>
                        <a:t>AI Output Parsing</a:t>
                      </a:r>
                    </a:p>
                  </a:txBody>
                  <a:tcPr anchor="ctr" marL="128016" marR="128016" marT="73152" marB="73152">
                    <a:solidFill>
                      <a:srgbClr val="F1F5F9"/>
                    </a:solidFill>
                  </a:tcPr>
                </a:tc>
                <a:tc>
                  <a:txBody>
                    <a:bodyPr/>
                    <a:lstStyle/>
                    <a:p>
                      <a:pPr>
                        <a:lnSpc>
                          <a:spcPct val="115000"/>
                        </a:lnSpc>
                      </a:pPr>
                      <a:r>
                        <a:rPr sz="1200">
                          <a:solidFill>
                            <a:srgbClr val="64748B"/>
                          </a:solidFill>
                          <a:latin typeface="Calibri"/>
                        </a:rPr>
                        <a:t>Free-form prose split by string markers; breaks on slight format changes.</a:t>
                      </a:r>
                    </a:p>
                  </a:txBody>
                  <a:tcPr anchor="ctr" marL="128016" marR="128016" marT="73152" marB="73152">
                    <a:solidFill>
                      <a:srgbClr val="F8FAFC"/>
                    </a:solidFill>
                  </a:tcPr>
                </a:tc>
                <a:tc>
                  <a:txBody>
                    <a:bodyPr/>
                    <a:lstStyle/>
                    <a:p>
                      <a:pPr>
                        <a:lnSpc>
                          <a:spcPct val="115000"/>
                        </a:lnSpc>
                      </a:pPr>
                      <a:r>
                        <a:rPr sz="1200" b="1">
                          <a:solidFill>
                            <a:srgbClr val="0F172A"/>
                          </a:solidFill>
                          <a:latin typeface="Calibri"/>
                        </a:rPr>
                        <a:t>Gemini JSON mode validated strictly by Pydantic v2 (ComicOutline &amp; ComicScript).</a:t>
                      </a:r>
                    </a:p>
                  </a:txBody>
                  <a:tcPr anchor="ctr" marL="128016" marR="128016" marT="73152" marB="73152">
                    <a:solidFill>
                      <a:srgbClr val="FFFFFF"/>
                    </a:solidFill>
                  </a:tcPr>
                </a:tc>
              </a:tr>
              <a:tr h="723900">
                <a:tc>
                  <a:txBody>
                    <a:bodyPr/>
                    <a:lstStyle/>
                    <a:p>
                      <a:pPr>
                        <a:lnSpc>
                          <a:spcPct val="115000"/>
                        </a:lnSpc>
                      </a:pPr>
                      <a:r>
                        <a:rPr sz="1250" b="1">
                          <a:solidFill>
                            <a:srgbClr val="0F172A"/>
                          </a:solidFill>
                          <a:latin typeface="Calibri"/>
                        </a:rPr>
                        <a:t>Visual Continuity</a:t>
                      </a:r>
                    </a:p>
                  </a:txBody>
                  <a:tcPr anchor="ctr" marL="128016" marR="128016" marT="73152" marB="73152">
                    <a:solidFill>
                      <a:srgbClr val="FFFFFF"/>
                    </a:solidFill>
                  </a:tcPr>
                </a:tc>
                <a:tc>
                  <a:txBody>
                    <a:bodyPr/>
                    <a:lstStyle/>
                    <a:p>
                      <a:pPr>
                        <a:lnSpc>
                          <a:spcPct val="115000"/>
                        </a:lnSpc>
                      </a:pPr>
                      <a:r>
                        <a:rPr sz="1200">
                          <a:solidFill>
                            <a:srgbClr val="64748B"/>
                          </a:solidFill>
                          <a:latin typeface="Calibri"/>
                        </a:rPr>
                        <a:t>Ad-hoc per-panel prompts cause hero's face and outfit to drift.</a:t>
                      </a:r>
                    </a:p>
                  </a:txBody>
                  <a:tcPr anchor="ctr" marL="128016" marR="128016" marT="73152" marB="73152">
                    <a:solidFill>
                      <a:srgbClr val="FFFFFF"/>
                    </a:solidFill>
                  </a:tcPr>
                </a:tc>
                <a:tc>
                  <a:txBody>
                    <a:bodyPr/>
                    <a:lstStyle/>
                    <a:p>
                      <a:pPr>
                        <a:lnSpc>
                          <a:spcPct val="115000"/>
                        </a:lnSpc>
                      </a:pPr>
                      <a:r>
                        <a:rPr sz="1200" b="1">
                          <a:solidFill>
                            <a:srgbClr val="0F172A"/>
                          </a:solidFill>
                          <a:latin typeface="Calibri"/>
                        </a:rPr>
                        <a:t>Stage-1 Character Bible repeated in every panel prompt + negative prompts.</a:t>
                      </a:r>
                    </a:p>
                  </a:txBody>
                  <a:tcPr anchor="ctr" marL="128016" marR="128016" marT="73152" marB="73152">
                    <a:solidFill>
                      <a:srgbClr val="F0FDFA"/>
                    </a:solidFill>
                  </a:tcPr>
                </a:tc>
              </a:tr>
              <a:tr h="723900">
                <a:tc>
                  <a:txBody>
                    <a:bodyPr/>
                    <a:lstStyle/>
                    <a:p>
                      <a:pPr>
                        <a:lnSpc>
                          <a:spcPct val="115000"/>
                        </a:lnSpc>
                      </a:pPr>
                      <a:r>
                        <a:rPr sz="1250" b="1">
                          <a:solidFill>
                            <a:srgbClr val="0F172A"/>
                          </a:solidFill>
                          <a:latin typeface="Calibri"/>
                        </a:rPr>
                        <a:t>Fault Tolerance</a:t>
                      </a:r>
                    </a:p>
                  </a:txBody>
                  <a:tcPr anchor="ctr" marL="128016" marR="128016" marT="73152" marB="73152">
                    <a:solidFill>
                      <a:srgbClr val="F1F5F9"/>
                    </a:solidFill>
                  </a:tcPr>
                </a:tc>
                <a:tc>
                  <a:txBody>
                    <a:bodyPr/>
                    <a:lstStyle/>
                    <a:p>
                      <a:pPr>
                        <a:lnSpc>
                          <a:spcPct val="115000"/>
                        </a:lnSpc>
                      </a:pPr>
                      <a:r>
                        <a:rPr sz="1200">
                          <a:solidFill>
                            <a:srgbClr val="64748B"/>
                          </a:solidFill>
                          <a:latin typeface="Calibri"/>
                        </a:rPr>
                        <a:t>Single 429 rate-limit, 404 model rename, or missing key crashes the app.</a:t>
                      </a:r>
                    </a:p>
                  </a:txBody>
                  <a:tcPr anchor="ctr" marL="128016" marR="128016" marT="73152" marB="73152">
                    <a:solidFill>
                      <a:srgbClr val="F8FAFC"/>
                    </a:solidFill>
                  </a:tcPr>
                </a:tc>
                <a:tc>
                  <a:txBody>
                    <a:bodyPr/>
                    <a:lstStyle/>
                    <a:p>
                      <a:pPr>
                        <a:lnSpc>
                          <a:spcPct val="115000"/>
                        </a:lnSpc>
                      </a:pPr>
                      <a:r>
                        <a:rPr sz="1200" b="1">
                          <a:solidFill>
                            <a:srgbClr val="0F172A"/>
                          </a:solidFill>
                          <a:latin typeface="Calibri"/>
                        </a:rPr>
                        <a:t>Exponential backoff + fallback model chain + offline Demo &amp; Placeholder modes.</a:t>
                      </a:r>
                    </a:p>
                  </a:txBody>
                  <a:tcPr anchor="ctr" marL="128016" marR="128016" marT="73152" marB="73152">
                    <a:solidFill>
                      <a:srgbClr val="FFFFFF"/>
                    </a:solidFill>
                  </a:tcPr>
                </a:tc>
              </a:tr>
              <a:tr h="723900">
                <a:tc>
                  <a:txBody>
                    <a:bodyPr/>
                    <a:lstStyle/>
                    <a:p>
                      <a:pPr>
                        <a:lnSpc>
                          <a:spcPct val="115000"/>
                        </a:lnSpc>
                      </a:pPr>
                      <a:r>
                        <a:rPr sz="1250" b="1">
                          <a:solidFill>
                            <a:srgbClr val="0F172A"/>
                          </a:solidFill>
                          <a:latin typeface="Calibri"/>
                        </a:rPr>
                        <a:t>Storage &amp; Security</a:t>
                      </a:r>
                    </a:p>
                  </a:txBody>
                  <a:tcPr anchor="ctr" marL="128016" marR="128016" marT="73152" marB="73152">
                    <a:solidFill>
                      <a:srgbClr val="FFFFFF"/>
                    </a:solidFill>
                  </a:tcPr>
                </a:tc>
                <a:tc>
                  <a:txBody>
                    <a:bodyPr/>
                    <a:lstStyle/>
                    <a:p>
                      <a:pPr>
                        <a:lnSpc>
                          <a:spcPct val="115000"/>
                        </a:lnSpc>
                      </a:pPr>
                      <a:r>
                        <a:rPr sz="1200">
                          <a:solidFill>
                            <a:srgbClr val="64748B"/>
                          </a:solidFill>
                          <a:latin typeface="Calibri"/>
                        </a:rPr>
                        <a:t>Unsafe prompt filenames, overwrites, and no reopenable state.</a:t>
                      </a:r>
                    </a:p>
                  </a:txBody>
                  <a:tcPr anchor="ctr" marL="128016" marR="128016" marT="73152" marB="73152">
                    <a:solidFill>
                      <a:srgbClr val="FFFFFF"/>
                    </a:solidFill>
                  </a:tcPr>
                </a:tc>
                <a:tc>
                  <a:txBody>
                    <a:bodyPr/>
                    <a:lstStyle/>
                    <a:p>
                      <a:pPr>
                        <a:lnSpc>
                          <a:spcPct val="115000"/>
                        </a:lnSpc>
                      </a:pPr>
                      <a:r>
                        <a:rPr sz="1200" b="1">
                          <a:solidFill>
                            <a:srgbClr val="0F172A"/>
                          </a:solidFill>
                          <a:latin typeface="Calibri"/>
                        </a:rPr>
                        <a:t>32-hex UUID workspace, regex path guard, and atomic comic.json manifest.</a:t>
                      </a:r>
                    </a:p>
                  </a:txBody>
                  <a:tcPr anchor="ctr" marL="128016" marR="128016" marT="73152" marB="73152">
                    <a:solidFill>
                      <a:srgbClr val="F0FDFA"/>
                    </a:solidFill>
                  </a:tcPr>
                </a:tc>
              </a:tr>
            </a:tbl>
          </a:graphicData>
        </a:graphic>
      </p:graphicFrame>
      <p:sp>
        <p:nvSpPr>
          <p:cNvPr id="11" name="Rounded Rectangle 10"/>
          <p:cNvSpPr/>
          <p:nvPr/>
        </p:nvSpPr>
        <p:spPr>
          <a:xfrm>
            <a:off x="548640" y="5724144"/>
            <a:ext cx="11091672" cy="603504"/>
          </a:xfrm>
          <a:prstGeom prst="roundRect">
            <a:avLst>
              <a:gd name="adj" fmla="val 4000"/>
            </a:avLst>
          </a:prstGeom>
          <a:solidFill>
            <a:srgbClr val="FFFBE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24144"/>
            <a:ext cx="10652760" cy="603504"/>
          </a:xfrm>
          <a:prstGeom prst="rect">
            <a:avLst/>
          </a:prstGeom>
          <a:noFill/>
        </p:spPr>
        <p:txBody>
          <a:bodyPr wrap="square" anchor="ctr" lIns="36576" rIns="36576" tIns="18288" bIns="18288">
            <a:spAutoFit/>
          </a:bodyPr>
          <a:lstStyle/>
          <a:p>
            <a:pPr algn="l"/>
            <a:r>
              <a:rPr sz="1250" b="1">
                <a:solidFill>
                  <a:srgbClr val="B45309"/>
                </a:solidFill>
                <a:latin typeface="Calibri"/>
              </a:rPr>
              <a:t>Key Engineering Upgrade:  Every AI response is treated as schema-validated structured JSON data — never fragile prose — with honest provider badges and warnings.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05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Technology Stack &amp; System Requirements</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Verified open-source libraries, AI SDKs, and lightweight runtime specifications</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207008"/>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07008"/>
            <a:ext cx="3529584" cy="822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389888"/>
            <a:ext cx="3127248" cy="256032"/>
          </a:xfrm>
          <a:prstGeom prst="rect">
            <a:avLst/>
          </a:prstGeom>
          <a:noFill/>
        </p:spPr>
        <p:txBody>
          <a:bodyPr wrap="square" anchor="t" lIns="36576" rIns="36576" tIns="18288" bIns="18288">
            <a:spAutoFit/>
          </a:bodyPr>
          <a:lstStyle/>
          <a:p>
            <a:pPr algn="l"/>
            <a:r>
              <a:rPr sz="1050" b="1">
                <a:solidFill>
                  <a:srgbClr val="2563EB"/>
                </a:solidFill>
                <a:latin typeface="Calibri"/>
              </a:rPr>
              <a:t>BACKEND &amp; SERVER</a:t>
            </a:r>
          </a:p>
        </p:txBody>
      </p:sp>
      <p:sp>
        <p:nvSpPr>
          <p:cNvPr id="13" name="TextBox 12"/>
          <p:cNvSpPr txBox="1"/>
          <p:nvPr/>
        </p:nvSpPr>
        <p:spPr>
          <a:xfrm>
            <a:off x="749808" y="1645920"/>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Python 3.11+ · FastAPI · Uvicorn</a:t>
            </a:r>
          </a:p>
        </p:txBody>
      </p:sp>
      <p:sp>
        <p:nvSpPr>
          <p:cNvPr id="14" name="TextBox 13"/>
          <p:cNvSpPr txBox="1"/>
          <p:nvPr/>
        </p:nvSpPr>
        <p:spPr>
          <a:xfrm>
            <a:off x="749808" y="2048256"/>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High-speed ASGI web framework with automatic Swagger /docs and run_in_threadpool() for blocking tasks.</a:t>
            </a:r>
          </a:p>
        </p:txBody>
      </p:sp>
      <p:sp>
        <p:nvSpPr>
          <p:cNvPr id="15" name="Rounded Rectangle 14"/>
          <p:cNvSpPr/>
          <p:nvPr/>
        </p:nvSpPr>
        <p:spPr>
          <a:xfrm>
            <a:off x="4325112" y="1207008"/>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5112" y="1207008"/>
            <a:ext cx="3529584" cy="822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1389888"/>
            <a:ext cx="3127248" cy="256032"/>
          </a:xfrm>
          <a:prstGeom prst="rect">
            <a:avLst/>
          </a:prstGeom>
          <a:noFill/>
        </p:spPr>
        <p:txBody>
          <a:bodyPr wrap="square" anchor="t" lIns="36576" rIns="36576" tIns="18288" bIns="18288">
            <a:spAutoFit/>
          </a:bodyPr>
          <a:lstStyle/>
          <a:p>
            <a:pPr algn="l"/>
            <a:r>
              <a:rPr sz="1050" b="1">
                <a:solidFill>
                  <a:srgbClr val="0D9488"/>
                </a:solidFill>
                <a:latin typeface="Calibri"/>
              </a:rPr>
              <a:t>VALIDATION &amp; CONFIG</a:t>
            </a:r>
          </a:p>
        </p:txBody>
      </p:sp>
      <p:sp>
        <p:nvSpPr>
          <p:cNvPr id="18" name="TextBox 17"/>
          <p:cNvSpPr txBox="1"/>
          <p:nvPr/>
        </p:nvSpPr>
        <p:spPr>
          <a:xfrm>
            <a:off x="4526279" y="1645920"/>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Pydantic v2 · pydantic-settings</a:t>
            </a:r>
          </a:p>
        </p:txBody>
      </p:sp>
      <p:sp>
        <p:nvSpPr>
          <p:cNvPr id="19" name="TextBox 18"/>
          <p:cNvSpPr txBox="1"/>
          <p:nvPr/>
        </p:nvSpPr>
        <p:spPr>
          <a:xfrm>
            <a:off x="4526279" y="2048256"/>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Validates form/JSON inputs, AI JSON contracts, and loads .env API keys securely into SecretStr fields.</a:t>
            </a:r>
          </a:p>
        </p:txBody>
      </p:sp>
      <p:sp>
        <p:nvSpPr>
          <p:cNvPr id="20" name="Rounded Rectangle 19"/>
          <p:cNvSpPr/>
          <p:nvPr/>
        </p:nvSpPr>
        <p:spPr>
          <a:xfrm>
            <a:off x="8101583" y="1207008"/>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1583" y="1207008"/>
            <a:ext cx="3529584" cy="8229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2752" y="1389888"/>
            <a:ext cx="3127248" cy="256032"/>
          </a:xfrm>
          <a:prstGeom prst="rect">
            <a:avLst/>
          </a:prstGeom>
          <a:noFill/>
        </p:spPr>
        <p:txBody>
          <a:bodyPr wrap="square" anchor="t" lIns="36576" rIns="36576" tIns="18288" bIns="18288">
            <a:spAutoFit/>
          </a:bodyPr>
          <a:lstStyle/>
          <a:p>
            <a:pPr algn="l"/>
            <a:r>
              <a:rPr sz="1050" b="1">
                <a:solidFill>
                  <a:srgbClr val="4F46E5"/>
                </a:solidFill>
                <a:latin typeface="Calibri"/>
              </a:rPr>
              <a:t>AI STORY ENGINE</a:t>
            </a:r>
          </a:p>
        </p:txBody>
      </p:sp>
      <p:sp>
        <p:nvSpPr>
          <p:cNvPr id="23" name="TextBox 22"/>
          <p:cNvSpPr txBox="1"/>
          <p:nvPr/>
        </p:nvSpPr>
        <p:spPr>
          <a:xfrm>
            <a:off x="8302752" y="1645920"/>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Google Gemini · google-genai SDK</a:t>
            </a:r>
          </a:p>
        </p:txBody>
      </p:sp>
      <p:sp>
        <p:nvSpPr>
          <p:cNvPr id="24" name="TextBox 23"/>
          <p:cNvSpPr txBox="1"/>
          <p:nvPr/>
        </p:nvSpPr>
        <p:spPr>
          <a:xfrm>
            <a:off x="8302752" y="2048256"/>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Two-stage JSON generation (Outline -&gt; Story models) plus deterministic offline DemoStoryProvider.</a:t>
            </a:r>
          </a:p>
        </p:txBody>
      </p:sp>
      <p:sp>
        <p:nvSpPr>
          <p:cNvPr id="25" name="Rounded Rectangle 24"/>
          <p:cNvSpPr/>
          <p:nvPr/>
        </p:nvSpPr>
        <p:spPr>
          <a:xfrm>
            <a:off x="548640" y="3410712"/>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10712"/>
            <a:ext cx="3529584" cy="8229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593592"/>
            <a:ext cx="3127248" cy="256032"/>
          </a:xfrm>
          <a:prstGeom prst="rect">
            <a:avLst/>
          </a:prstGeom>
          <a:noFill/>
        </p:spPr>
        <p:txBody>
          <a:bodyPr wrap="square" anchor="t" lIns="36576" rIns="36576" tIns="18288" bIns="18288">
            <a:spAutoFit/>
          </a:bodyPr>
          <a:lstStyle/>
          <a:p>
            <a:pPr algn="l"/>
            <a:r>
              <a:rPr sz="1050" b="1">
                <a:solidFill>
                  <a:srgbClr val="F59E0B"/>
                </a:solidFill>
                <a:latin typeface="Calibri"/>
              </a:rPr>
              <a:t>IMAGE PROVIDERS</a:t>
            </a:r>
          </a:p>
        </p:txBody>
      </p:sp>
      <p:sp>
        <p:nvSpPr>
          <p:cNvPr id="28" name="TextBox 27"/>
          <p:cNvSpPr txBox="1"/>
          <p:nvPr/>
        </p:nvSpPr>
        <p:spPr>
          <a:xfrm>
            <a:off x="749808" y="3849624"/>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Pillow · HuggingFace · Diffusers</a:t>
            </a:r>
          </a:p>
        </p:txBody>
      </p:sp>
      <p:sp>
        <p:nvSpPr>
          <p:cNvPr id="29" name="TextBox 28"/>
          <p:cNvSpPr txBox="1"/>
          <p:nvPr/>
        </p:nvSpPr>
        <p:spPr>
          <a:xfrm>
            <a:off x="749808" y="4251960"/>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Pluggable protocol supporting local Placeholder PNGs, Cloud SDXL inference, and lazy Local Stable Diffusion.</a:t>
            </a:r>
          </a:p>
        </p:txBody>
      </p:sp>
      <p:sp>
        <p:nvSpPr>
          <p:cNvPr id="30" name="Rounded Rectangle 29"/>
          <p:cNvSpPr/>
          <p:nvPr/>
        </p:nvSpPr>
        <p:spPr>
          <a:xfrm>
            <a:off x="4325112" y="3410712"/>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25112" y="3410712"/>
            <a:ext cx="3529584" cy="82296"/>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3593592"/>
            <a:ext cx="3127248" cy="256032"/>
          </a:xfrm>
          <a:prstGeom prst="rect">
            <a:avLst/>
          </a:prstGeom>
          <a:noFill/>
        </p:spPr>
        <p:txBody>
          <a:bodyPr wrap="square" anchor="t" lIns="36576" rIns="36576" tIns="18288" bIns="18288">
            <a:spAutoFit/>
          </a:bodyPr>
          <a:lstStyle/>
          <a:p>
            <a:pPr algn="l"/>
            <a:r>
              <a:rPr sz="1050" b="1">
                <a:solidFill>
                  <a:srgbClr val="E11D48"/>
                </a:solidFill>
                <a:latin typeface="Calibri"/>
              </a:rPr>
              <a:t>PDF &amp; FRONTEND UI</a:t>
            </a:r>
          </a:p>
        </p:txBody>
      </p:sp>
      <p:sp>
        <p:nvSpPr>
          <p:cNvPr id="33" name="TextBox 32"/>
          <p:cNvSpPr txBox="1"/>
          <p:nvPr/>
        </p:nvSpPr>
        <p:spPr>
          <a:xfrm>
            <a:off x="4526279" y="3849624"/>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fpdf2 + DejaVu · Jinja2 + JS</a:t>
            </a:r>
          </a:p>
        </p:txBody>
      </p:sp>
      <p:sp>
        <p:nvSpPr>
          <p:cNvPr id="34" name="TextBox 33"/>
          <p:cNvSpPr txBox="1"/>
          <p:nvPr/>
        </p:nvSpPr>
        <p:spPr>
          <a:xfrm>
            <a:off x="4526279" y="4251960"/>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Unicode-safe A4 PDF builder (cover + panel pages) and responsive framework-free HTML5/CSS3/JS UI.</a:t>
            </a:r>
          </a:p>
        </p:txBody>
      </p:sp>
      <p:sp>
        <p:nvSpPr>
          <p:cNvPr id="35" name="Rounded Rectangle 34"/>
          <p:cNvSpPr/>
          <p:nvPr/>
        </p:nvSpPr>
        <p:spPr>
          <a:xfrm>
            <a:off x="8101583" y="3410712"/>
            <a:ext cx="3529584" cy="196596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3410712"/>
            <a:ext cx="3529584" cy="8229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02752" y="3593592"/>
            <a:ext cx="3127248" cy="256032"/>
          </a:xfrm>
          <a:prstGeom prst="rect">
            <a:avLst/>
          </a:prstGeom>
          <a:noFill/>
        </p:spPr>
        <p:txBody>
          <a:bodyPr wrap="square" anchor="t" lIns="36576" rIns="36576" tIns="18288" bIns="18288">
            <a:spAutoFit/>
          </a:bodyPr>
          <a:lstStyle/>
          <a:p>
            <a:pPr algn="l"/>
            <a:r>
              <a:rPr sz="1050" b="1">
                <a:solidFill>
                  <a:srgbClr val="0F172A"/>
                </a:solidFill>
                <a:latin typeface="Calibri"/>
              </a:rPr>
              <a:t>TESTING &amp; DEVOPS</a:t>
            </a:r>
          </a:p>
        </p:txBody>
      </p:sp>
      <p:sp>
        <p:nvSpPr>
          <p:cNvPr id="38" name="TextBox 37"/>
          <p:cNvSpPr txBox="1"/>
          <p:nvPr/>
        </p:nvSpPr>
        <p:spPr>
          <a:xfrm>
            <a:off x="8302752" y="3849624"/>
            <a:ext cx="3127248" cy="347472"/>
          </a:xfrm>
          <a:prstGeom prst="rect">
            <a:avLst/>
          </a:prstGeom>
          <a:noFill/>
        </p:spPr>
        <p:txBody>
          <a:bodyPr wrap="square" anchor="t" lIns="36576" rIns="36576" tIns="18288" bIns="18288">
            <a:spAutoFit/>
          </a:bodyPr>
          <a:lstStyle/>
          <a:p>
            <a:pPr algn="l"/>
            <a:r>
              <a:rPr sz="1220" b="1">
                <a:solidFill>
                  <a:srgbClr val="0F172A"/>
                </a:solidFill>
                <a:latin typeface="Calibri"/>
              </a:rPr>
              <a:t>pytest (11 Tests) · Ruff · Docker</a:t>
            </a:r>
          </a:p>
        </p:txBody>
      </p:sp>
      <p:sp>
        <p:nvSpPr>
          <p:cNvPr id="39" name="TextBox 38"/>
          <p:cNvSpPr txBox="1"/>
          <p:nvPr/>
        </p:nvSpPr>
        <p:spPr>
          <a:xfrm>
            <a:off x="8302752" y="4251960"/>
            <a:ext cx="3127248" cy="987552"/>
          </a:xfrm>
          <a:prstGeom prst="rect">
            <a:avLst/>
          </a:prstGeom>
          <a:noFill/>
        </p:spPr>
        <p:txBody>
          <a:bodyPr wrap="square" anchor="t" lIns="36576" rIns="36576" tIns="18288" bIns="18288">
            <a:spAutoFit/>
          </a:bodyPr>
          <a:lstStyle/>
          <a:p>
            <a:pPr algn="l"/>
            <a:r>
              <a:rPr sz="1150" b="0">
                <a:solidFill>
                  <a:srgbClr val="334155"/>
                </a:solidFill>
                <a:latin typeface="Calibri"/>
              </a:rPr>
              <a:t>~80% offline test coverage (zero paid API calls), clean static linting, and Docker Compose packaging.</a:t>
            </a:r>
          </a:p>
        </p:txBody>
      </p:sp>
      <p:sp>
        <p:nvSpPr>
          <p:cNvPr id="40" name="Rounded Rectangle 39"/>
          <p:cNvSpPr/>
          <p:nvPr/>
        </p:nvSpPr>
        <p:spPr>
          <a:xfrm>
            <a:off x="548640" y="5559552"/>
            <a:ext cx="11091672" cy="768096"/>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5632704"/>
            <a:ext cx="10607040" cy="292608"/>
          </a:xfrm>
          <a:prstGeom prst="rect">
            <a:avLst/>
          </a:prstGeom>
          <a:noFill/>
        </p:spPr>
        <p:txBody>
          <a:bodyPr wrap="square" anchor="t" lIns="36576" rIns="36576" tIns="18288" bIns="18288">
            <a:spAutoFit/>
          </a:bodyPr>
          <a:lstStyle/>
          <a:p>
            <a:pPr algn="l"/>
            <a:r>
              <a:rPr sz="1100" b="1">
                <a:solidFill>
                  <a:srgbClr val="F59E0B"/>
                </a:solidFill>
                <a:latin typeface="Calibri"/>
              </a:rPr>
              <a:t>MINIMUM SYSTEM REQUIREMENTS (RUNS FULLY OFFLINE WITHOUT GPU)</a:t>
            </a:r>
          </a:p>
        </p:txBody>
      </p:sp>
      <p:sp>
        <p:nvSpPr>
          <p:cNvPr id="42" name="TextBox 41"/>
          <p:cNvSpPr txBox="1"/>
          <p:nvPr/>
        </p:nvSpPr>
        <p:spPr>
          <a:xfrm>
            <a:off x="804672" y="5907024"/>
            <a:ext cx="10607040" cy="310896"/>
          </a:xfrm>
          <a:prstGeom prst="rect">
            <a:avLst/>
          </a:prstGeom>
          <a:noFill/>
        </p:spPr>
        <p:txBody>
          <a:bodyPr wrap="square" anchor="t" lIns="36576" rIns="36576" tIns="18288" bIns="18288">
            <a:spAutoFit/>
          </a:bodyPr>
          <a:lstStyle/>
          <a:p>
            <a:pPr algn="l"/>
            <a:r>
              <a:rPr sz="1150" b="0">
                <a:solidFill>
                  <a:srgbClr val="FFFFFF"/>
                </a:solidFill>
                <a:latin typeface="Calibri"/>
              </a:rPr>
              <a:t>OS: Windows / Linux / macOS / Android Termux   •   CPU: Core i3 / Ryzen 3+   •   RAM: 4 GB (8 GB rec.)   •   Disk: ~250 MB   •   Database: None (Local UUID Filesystem)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06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System Architecture</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Layered service-oriented architecture from client request to persisted UUID comic workspace</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170432"/>
            <a:ext cx="3547872" cy="768096"/>
          </a:xfrm>
          <a:prstGeom prst="roundRect">
            <a:avLst>
              <a:gd name="adj" fmla="val 4000"/>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234440"/>
            <a:ext cx="3291840" cy="292608"/>
          </a:xfrm>
          <a:prstGeom prst="rect">
            <a:avLst/>
          </a:prstGeom>
          <a:noFill/>
        </p:spPr>
        <p:txBody>
          <a:bodyPr wrap="square" anchor="t" lIns="36576" rIns="36576" tIns="18288" bIns="18288">
            <a:spAutoFit/>
          </a:bodyPr>
          <a:lstStyle/>
          <a:p>
            <a:pPr algn="ctr"/>
            <a:r>
              <a:rPr sz="1250" b="1">
                <a:solidFill>
                  <a:srgbClr val="2563EB"/>
                </a:solidFill>
                <a:latin typeface="Calibri"/>
              </a:rPr>
              <a:t>Web Browser Client</a:t>
            </a:r>
          </a:p>
        </p:txBody>
      </p:sp>
      <p:sp>
        <p:nvSpPr>
          <p:cNvPr id="12" name="TextBox 11"/>
          <p:cNvSpPr txBox="1"/>
          <p:nvPr/>
        </p:nvSpPr>
        <p:spPr>
          <a:xfrm>
            <a:off x="676656" y="1527048"/>
            <a:ext cx="3291840" cy="329184"/>
          </a:xfrm>
          <a:prstGeom prst="rect">
            <a:avLst/>
          </a:prstGeom>
          <a:noFill/>
        </p:spPr>
        <p:txBody>
          <a:bodyPr wrap="square" anchor="t" lIns="36576" rIns="36576" tIns="18288" bIns="18288">
            <a:spAutoFit/>
          </a:bodyPr>
          <a:lstStyle/>
          <a:p>
            <a:pPr algn="ctr"/>
            <a:r>
              <a:rPr sz="1019" b="0">
                <a:solidFill>
                  <a:srgbClr val="334155"/>
                </a:solidFill>
                <a:latin typeface="Calibri"/>
              </a:rPr>
              <a:t>Jinja2 Form (GET /, POST /generate)  •  Preview &amp; Download</a:t>
            </a:r>
          </a:p>
        </p:txBody>
      </p:sp>
      <p:sp>
        <p:nvSpPr>
          <p:cNvPr id="13" name="TextBox 12"/>
          <p:cNvSpPr txBox="1"/>
          <p:nvPr/>
        </p:nvSpPr>
        <p:spPr>
          <a:xfrm>
            <a:off x="2139696" y="1920240"/>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14" name="Rounded Rectangle 13"/>
          <p:cNvSpPr/>
          <p:nvPr/>
        </p:nvSpPr>
        <p:spPr>
          <a:xfrm>
            <a:off x="4320540" y="1170432"/>
            <a:ext cx="3547872" cy="768096"/>
          </a:xfrm>
          <a:prstGeom prst="roundRect">
            <a:avLst>
              <a:gd name="adj" fmla="val 4000"/>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8555" y="1234440"/>
            <a:ext cx="3291840" cy="292608"/>
          </a:xfrm>
          <a:prstGeom prst="rect">
            <a:avLst/>
          </a:prstGeom>
          <a:noFill/>
        </p:spPr>
        <p:txBody>
          <a:bodyPr wrap="square" anchor="t" lIns="36576" rIns="36576" tIns="18288" bIns="18288">
            <a:spAutoFit/>
          </a:bodyPr>
          <a:lstStyle/>
          <a:p>
            <a:pPr algn="ctr"/>
            <a:r>
              <a:rPr sz="1250" b="1">
                <a:solidFill>
                  <a:srgbClr val="2563EB"/>
                </a:solidFill>
                <a:latin typeface="Calibri"/>
              </a:rPr>
              <a:t>REST JSON API Client</a:t>
            </a:r>
          </a:p>
        </p:txBody>
      </p:sp>
      <p:sp>
        <p:nvSpPr>
          <p:cNvPr id="16" name="TextBox 15"/>
          <p:cNvSpPr txBox="1"/>
          <p:nvPr/>
        </p:nvSpPr>
        <p:spPr>
          <a:xfrm>
            <a:off x="4448555" y="1527048"/>
            <a:ext cx="3291840" cy="329184"/>
          </a:xfrm>
          <a:prstGeom prst="rect">
            <a:avLst/>
          </a:prstGeom>
          <a:noFill/>
        </p:spPr>
        <p:txBody>
          <a:bodyPr wrap="square" anchor="t" lIns="36576" rIns="36576" tIns="18288" bIns="18288">
            <a:spAutoFit/>
          </a:bodyPr>
          <a:lstStyle/>
          <a:p>
            <a:pPr algn="ctr"/>
            <a:r>
              <a:rPr sz="1019" b="0">
                <a:solidFill>
                  <a:srgbClr val="334155"/>
                </a:solidFill>
                <a:latin typeface="Calibri"/>
              </a:rPr>
              <a:t>POST /api/v1/comics  •  GET /api/v1/comics/{id}</a:t>
            </a:r>
          </a:p>
        </p:txBody>
      </p:sp>
      <p:sp>
        <p:nvSpPr>
          <p:cNvPr id="17" name="TextBox 16"/>
          <p:cNvSpPr txBox="1"/>
          <p:nvPr/>
        </p:nvSpPr>
        <p:spPr>
          <a:xfrm>
            <a:off x="5911596" y="1920240"/>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18" name="Rounded Rectangle 17"/>
          <p:cNvSpPr/>
          <p:nvPr/>
        </p:nvSpPr>
        <p:spPr>
          <a:xfrm>
            <a:off x="8092440" y="1170432"/>
            <a:ext cx="3547872" cy="768096"/>
          </a:xfrm>
          <a:prstGeom prst="roundRect">
            <a:avLst>
              <a:gd name="adj" fmla="val 4000"/>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0456" y="1234440"/>
            <a:ext cx="3291840" cy="292608"/>
          </a:xfrm>
          <a:prstGeom prst="rect">
            <a:avLst/>
          </a:prstGeom>
          <a:noFill/>
        </p:spPr>
        <p:txBody>
          <a:bodyPr wrap="square" anchor="t" lIns="36576" rIns="36576" tIns="18288" bIns="18288">
            <a:spAutoFit/>
          </a:bodyPr>
          <a:lstStyle/>
          <a:p>
            <a:pPr algn="ctr"/>
            <a:r>
              <a:rPr sz="1250" b="1">
                <a:solidFill>
                  <a:srgbClr val="2563EB"/>
                </a:solidFill>
                <a:latin typeface="Calibri"/>
              </a:rPr>
              <a:t>DevOps &amp; Diagnostics</a:t>
            </a:r>
          </a:p>
        </p:txBody>
      </p:sp>
      <p:sp>
        <p:nvSpPr>
          <p:cNvPr id="20" name="TextBox 19"/>
          <p:cNvSpPr txBox="1"/>
          <p:nvPr/>
        </p:nvSpPr>
        <p:spPr>
          <a:xfrm>
            <a:off x="8220456" y="1527048"/>
            <a:ext cx="3291840" cy="329184"/>
          </a:xfrm>
          <a:prstGeom prst="rect">
            <a:avLst/>
          </a:prstGeom>
          <a:noFill/>
        </p:spPr>
        <p:txBody>
          <a:bodyPr wrap="square" anchor="t" lIns="36576" rIns="36576" tIns="18288" bIns="18288">
            <a:spAutoFit/>
          </a:bodyPr>
          <a:lstStyle/>
          <a:p>
            <a:pPr algn="ctr"/>
            <a:r>
              <a:rPr sz="1019" b="0">
                <a:solidFill>
                  <a:srgbClr val="334155"/>
                </a:solidFill>
                <a:latin typeface="Calibri"/>
              </a:rPr>
              <a:t>GET /health Probe  •  Interactive OpenAPI /docs</a:t>
            </a:r>
          </a:p>
        </p:txBody>
      </p:sp>
      <p:sp>
        <p:nvSpPr>
          <p:cNvPr id="21" name="TextBox 20"/>
          <p:cNvSpPr txBox="1"/>
          <p:nvPr/>
        </p:nvSpPr>
        <p:spPr>
          <a:xfrm>
            <a:off x="9683496" y="1920240"/>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22" name="Rounded Rectangle 21"/>
          <p:cNvSpPr/>
          <p:nvPr/>
        </p:nvSpPr>
        <p:spPr>
          <a:xfrm>
            <a:off x="548640" y="2176272"/>
            <a:ext cx="11091672" cy="749808"/>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240280"/>
            <a:ext cx="10725912" cy="310896"/>
          </a:xfrm>
          <a:prstGeom prst="rect">
            <a:avLst/>
          </a:prstGeom>
          <a:noFill/>
        </p:spPr>
        <p:txBody>
          <a:bodyPr wrap="square" anchor="t" lIns="36576" rIns="36576" tIns="18288" bIns="18288">
            <a:spAutoFit/>
          </a:bodyPr>
          <a:lstStyle/>
          <a:p>
            <a:pPr algn="ctr"/>
            <a:r>
              <a:rPr sz="1300" b="1">
                <a:solidFill>
                  <a:srgbClr val="F59E0B"/>
                </a:solidFill>
                <a:latin typeface="Calibri"/>
              </a:rPr>
              <a:t>FASTAPI APPLICATION LAYER  (app/main.py &amp; app/routes.py)</a:t>
            </a:r>
          </a:p>
        </p:txBody>
      </p:sp>
      <p:sp>
        <p:nvSpPr>
          <p:cNvPr id="24" name="TextBox 23"/>
          <p:cNvSpPr txBox="1"/>
          <p:nvPr/>
        </p:nvSpPr>
        <p:spPr>
          <a:xfrm>
            <a:off x="731520" y="2551176"/>
            <a:ext cx="10725912" cy="292608"/>
          </a:xfrm>
          <a:prstGeom prst="rect">
            <a:avLst/>
          </a:prstGeom>
          <a:noFill/>
        </p:spPr>
        <p:txBody>
          <a:bodyPr wrap="square" anchor="t" lIns="36576" rIns="36576" tIns="18288" bIns="18288">
            <a:spAutoFit/>
          </a:bodyPr>
          <a:lstStyle/>
          <a:p>
            <a:pPr algn="ctr"/>
            <a:r>
              <a:rPr sz="1100" b="0">
                <a:solidFill>
                  <a:srgbClr val="E2E8F0"/>
                </a:solidFill>
                <a:latin typeface="Calibri"/>
              </a:rPr>
              <a:t>Pydantic ComicPrompt Validation   •   Security Headers (nosniff, SAMEORIGIN)   •   Async-Safe run_in_threadpool()   •   Error Handlers</a:t>
            </a:r>
          </a:p>
        </p:txBody>
      </p:sp>
      <p:sp>
        <p:nvSpPr>
          <p:cNvPr id="25" name="TextBox 24"/>
          <p:cNvSpPr txBox="1"/>
          <p:nvPr/>
        </p:nvSpPr>
        <p:spPr>
          <a:xfrm>
            <a:off x="5907024" y="2916936"/>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26" name="Rounded Rectangle 25"/>
          <p:cNvSpPr/>
          <p:nvPr/>
        </p:nvSpPr>
        <p:spPr>
          <a:xfrm>
            <a:off x="2423160" y="3163824"/>
            <a:ext cx="7342631" cy="749808"/>
          </a:xfrm>
          <a:prstGeom prst="roundRect">
            <a:avLst>
              <a:gd name="adj" fmla="val 4000"/>
            </a:avLst>
          </a:prstGeom>
          <a:solidFill>
            <a:srgbClr val="FFFBEB"/>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06040" y="3218688"/>
            <a:ext cx="6976872" cy="310896"/>
          </a:xfrm>
          <a:prstGeom prst="rect">
            <a:avLst/>
          </a:prstGeom>
          <a:noFill/>
        </p:spPr>
        <p:txBody>
          <a:bodyPr wrap="square" anchor="t" lIns="36576" rIns="36576" tIns="18288" bIns="18288">
            <a:spAutoFit/>
          </a:bodyPr>
          <a:lstStyle/>
          <a:p>
            <a:pPr algn="ctr"/>
            <a:r>
              <a:rPr sz="1300" b="1">
                <a:solidFill>
                  <a:srgbClr val="B45309"/>
                </a:solidFill>
                <a:latin typeface="Calibri"/>
              </a:rPr>
              <a:t>COMIC SERVICE ORCHESTRATOR  (app/services/comic_service.py)</a:t>
            </a:r>
          </a:p>
        </p:txBody>
      </p:sp>
      <p:sp>
        <p:nvSpPr>
          <p:cNvPr id="28" name="TextBox 27"/>
          <p:cNvSpPr txBox="1"/>
          <p:nvPr/>
        </p:nvSpPr>
        <p:spPr>
          <a:xfrm>
            <a:off x="2606040" y="3529584"/>
            <a:ext cx="6976872" cy="292608"/>
          </a:xfrm>
          <a:prstGeom prst="rect">
            <a:avLst/>
          </a:prstGeom>
          <a:noFill/>
        </p:spPr>
        <p:txBody>
          <a:bodyPr wrap="square" anchor="t" lIns="36576" rIns="36576" tIns="18288" bIns="18288">
            <a:spAutoFit/>
          </a:bodyPr>
          <a:lstStyle/>
          <a:p>
            <a:pPr algn="ctr"/>
            <a:r>
              <a:rPr sz="1100" b="1">
                <a:solidFill>
                  <a:srgbClr val="0F172A"/>
                </a:solidFill>
                <a:latin typeface="Calibri"/>
              </a:rPr>
              <a:t>Creates Workspace  -&gt;  Generates Story  -&gt;  Renders Panel PNGs  -&gt;  Builds PDF  -&gt;  Saves Manifest</a:t>
            </a:r>
          </a:p>
        </p:txBody>
      </p:sp>
      <p:sp>
        <p:nvSpPr>
          <p:cNvPr id="29" name="TextBox 28"/>
          <p:cNvSpPr txBox="1"/>
          <p:nvPr/>
        </p:nvSpPr>
        <p:spPr>
          <a:xfrm>
            <a:off x="1673352" y="3913632"/>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30" name="Rounded Rectangle 29"/>
          <p:cNvSpPr/>
          <p:nvPr/>
        </p:nvSpPr>
        <p:spPr>
          <a:xfrm>
            <a:off x="548640" y="4169663"/>
            <a:ext cx="2615184" cy="2121408"/>
          </a:xfrm>
          <a:prstGeom prst="roundRect">
            <a:avLst>
              <a:gd name="adj" fmla="val 4000"/>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169663"/>
            <a:ext cx="2615184" cy="822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4315968"/>
            <a:ext cx="2359152" cy="292608"/>
          </a:xfrm>
          <a:prstGeom prst="rect">
            <a:avLst/>
          </a:prstGeom>
          <a:noFill/>
        </p:spPr>
        <p:txBody>
          <a:bodyPr wrap="square" anchor="t" lIns="36576" rIns="36576" tIns="18288" bIns="18288">
            <a:spAutoFit/>
          </a:bodyPr>
          <a:lstStyle/>
          <a:p>
            <a:pPr algn="l"/>
            <a:r>
              <a:rPr sz="1250" b="1">
                <a:solidFill>
                  <a:srgbClr val="2563EB"/>
                </a:solidFill>
                <a:latin typeface="Calibri"/>
              </a:rPr>
              <a:t>ResilientStoryService</a:t>
            </a:r>
          </a:p>
        </p:txBody>
      </p:sp>
      <p:sp>
        <p:nvSpPr>
          <p:cNvPr id="33" name="TextBox 32"/>
          <p:cNvSpPr txBox="1"/>
          <p:nvPr/>
        </p:nvSpPr>
        <p:spPr>
          <a:xfrm>
            <a:off x="676656" y="4590288"/>
            <a:ext cx="2359152" cy="237744"/>
          </a:xfrm>
          <a:prstGeom prst="rect">
            <a:avLst/>
          </a:prstGeom>
          <a:noFill/>
        </p:spPr>
        <p:txBody>
          <a:bodyPr wrap="square" anchor="t" lIns="36576" rIns="36576" tIns="18288" bIns="18288">
            <a:spAutoFit/>
          </a:bodyPr>
          <a:lstStyle/>
          <a:p>
            <a:pPr algn="l"/>
            <a:r>
              <a:rPr sz="1000" b="1">
                <a:solidFill>
                  <a:srgbClr val="64748B"/>
                </a:solidFill>
                <a:latin typeface="Calibri"/>
              </a:rPr>
              <a:t>services/llm.py</a:t>
            </a:r>
          </a:p>
        </p:txBody>
      </p:sp>
      <p:sp>
        <p:nvSpPr>
          <p:cNvPr id="34" name="TextBox 33"/>
          <p:cNvSpPr txBox="1"/>
          <p:nvPr/>
        </p:nvSpPr>
        <p:spPr>
          <a:xfrm>
            <a:off x="676656" y="4882896"/>
            <a:ext cx="2359152" cy="1298448"/>
          </a:xfrm>
          <a:prstGeom prst="rect">
            <a:avLst/>
          </a:prstGeom>
          <a:noFill/>
        </p:spPr>
        <p:txBody>
          <a:bodyPr wrap="square" anchor="t" lIns="36576" rIns="36576" tIns="18288" bIns="18288">
            <a:spAutoFit/>
          </a:bodyPr>
          <a:lstStyle/>
          <a:p>
            <a:pPr algn="l"/>
            <a:r>
              <a:rPr sz="1100" b="0">
                <a:solidFill>
                  <a:srgbClr val="0F172A"/>
                </a:solidFill>
                <a:latin typeface="Calibri"/>
              </a:rPr>
              <a:t>• 2-Stage Gemini JSON
• Retry + Backoff + Jitter
• Model Fallback Chain
• Offline Demo Writer</a:t>
            </a:r>
          </a:p>
        </p:txBody>
      </p:sp>
      <p:sp>
        <p:nvSpPr>
          <p:cNvPr id="35" name="TextBox 34"/>
          <p:cNvSpPr txBox="1"/>
          <p:nvPr/>
        </p:nvSpPr>
        <p:spPr>
          <a:xfrm>
            <a:off x="4498848" y="3913632"/>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36" name="Rounded Rectangle 35"/>
          <p:cNvSpPr/>
          <p:nvPr/>
        </p:nvSpPr>
        <p:spPr>
          <a:xfrm>
            <a:off x="3374136" y="4169663"/>
            <a:ext cx="2615184" cy="2121408"/>
          </a:xfrm>
          <a:prstGeom prst="roundRect">
            <a:avLst>
              <a:gd name="adj" fmla="val 4000"/>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74136" y="4169663"/>
            <a:ext cx="2615184" cy="822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2152" y="4315968"/>
            <a:ext cx="2359152" cy="292608"/>
          </a:xfrm>
          <a:prstGeom prst="rect">
            <a:avLst/>
          </a:prstGeom>
          <a:noFill/>
        </p:spPr>
        <p:txBody>
          <a:bodyPr wrap="square" anchor="t" lIns="36576" rIns="36576" tIns="18288" bIns="18288">
            <a:spAutoFit/>
          </a:bodyPr>
          <a:lstStyle/>
          <a:p>
            <a:pPr algn="l"/>
            <a:r>
              <a:rPr sz="1250" b="1">
                <a:solidFill>
                  <a:srgbClr val="0D9488"/>
                </a:solidFill>
                <a:latin typeface="Calibri"/>
              </a:rPr>
              <a:t>ResilientImageService</a:t>
            </a:r>
          </a:p>
        </p:txBody>
      </p:sp>
      <p:sp>
        <p:nvSpPr>
          <p:cNvPr id="39" name="TextBox 38"/>
          <p:cNvSpPr txBox="1"/>
          <p:nvPr/>
        </p:nvSpPr>
        <p:spPr>
          <a:xfrm>
            <a:off x="3502152" y="4590288"/>
            <a:ext cx="2359152" cy="237744"/>
          </a:xfrm>
          <a:prstGeom prst="rect">
            <a:avLst/>
          </a:prstGeom>
          <a:noFill/>
        </p:spPr>
        <p:txBody>
          <a:bodyPr wrap="square" anchor="t" lIns="36576" rIns="36576" tIns="18288" bIns="18288">
            <a:spAutoFit/>
          </a:bodyPr>
          <a:lstStyle/>
          <a:p>
            <a:pPr algn="l"/>
            <a:r>
              <a:rPr sz="1000" b="1">
                <a:solidFill>
                  <a:srgbClr val="64748B"/>
                </a:solidFill>
                <a:latin typeface="Calibri"/>
              </a:rPr>
              <a:t>services/images.py</a:t>
            </a:r>
          </a:p>
        </p:txBody>
      </p:sp>
      <p:sp>
        <p:nvSpPr>
          <p:cNvPr id="40" name="TextBox 39"/>
          <p:cNvSpPr txBox="1"/>
          <p:nvPr/>
        </p:nvSpPr>
        <p:spPr>
          <a:xfrm>
            <a:off x="3502152" y="4882896"/>
            <a:ext cx="2359152" cy="1298448"/>
          </a:xfrm>
          <a:prstGeom prst="rect">
            <a:avLst/>
          </a:prstGeom>
          <a:noFill/>
        </p:spPr>
        <p:txBody>
          <a:bodyPr wrap="square" anchor="t" lIns="36576" rIns="36576" tIns="18288" bIns="18288">
            <a:spAutoFit/>
          </a:bodyPr>
          <a:lstStyle/>
          <a:p>
            <a:pPr algn="l"/>
            <a:r>
              <a:rPr sz="1100" b="0">
                <a:solidFill>
                  <a:srgbClr val="0F172A"/>
                </a:solidFill>
                <a:latin typeface="Calibri"/>
              </a:rPr>
              <a:t>• SHA-256 Panel Seed
• Pillow Placeholder Art
• Hugging Face SDXL API
• Local Diffusers SD v1.5</a:t>
            </a:r>
          </a:p>
        </p:txBody>
      </p:sp>
      <p:sp>
        <p:nvSpPr>
          <p:cNvPr id="41" name="TextBox 40"/>
          <p:cNvSpPr txBox="1"/>
          <p:nvPr/>
        </p:nvSpPr>
        <p:spPr>
          <a:xfrm>
            <a:off x="7324344" y="3913632"/>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42" name="Rounded Rectangle 41"/>
          <p:cNvSpPr/>
          <p:nvPr/>
        </p:nvSpPr>
        <p:spPr>
          <a:xfrm>
            <a:off x="6199631" y="4169663"/>
            <a:ext cx="2615184" cy="2121408"/>
          </a:xfrm>
          <a:prstGeom prst="roundRect">
            <a:avLst>
              <a:gd name="adj" fmla="val 4000"/>
            </a:avLst>
          </a:prstGeom>
          <a:solidFill>
            <a:srgbClr val="EEF2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9631" y="4169663"/>
            <a:ext cx="2615184" cy="8229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27647" y="4315968"/>
            <a:ext cx="2359152" cy="292608"/>
          </a:xfrm>
          <a:prstGeom prst="rect">
            <a:avLst/>
          </a:prstGeom>
          <a:noFill/>
        </p:spPr>
        <p:txBody>
          <a:bodyPr wrap="square" anchor="t" lIns="36576" rIns="36576" tIns="18288" bIns="18288">
            <a:spAutoFit/>
          </a:bodyPr>
          <a:lstStyle/>
          <a:p>
            <a:pPr algn="l"/>
            <a:r>
              <a:rPr sz="1250" b="1">
                <a:solidFill>
                  <a:srgbClr val="4F46E5"/>
                </a:solidFill>
                <a:latin typeface="Calibri"/>
              </a:rPr>
              <a:t>PDFService</a:t>
            </a:r>
          </a:p>
        </p:txBody>
      </p:sp>
      <p:sp>
        <p:nvSpPr>
          <p:cNvPr id="45" name="TextBox 44"/>
          <p:cNvSpPr txBox="1"/>
          <p:nvPr/>
        </p:nvSpPr>
        <p:spPr>
          <a:xfrm>
            <a:off x="6327647" y="4590288"/>
            <a:ext cx="2359152" cy="237744"/>
          </a:xfrm>
          <a:prstGeom prst="rect">
            <a:avLst/>
          </a:prstGeom>
          <a:noFill/>
        </p:spPr>
        <p:txBody>
          <a:bodyPr wrap="square" anchor="t" lIns="36576" rIns="36576" tIns="18288" bIns="18288">
            <a:spAutoFit/>
          </a:bodyPr>
          <a:lstStyle/>
          <a:p>
            <a:pPr algn="l"/>
            <a:r>
              <a:rPr sz="1000" b="1">
                <a:solidFill>
                  <a:srgbClr val="64748B"/>
                </a:solidFill>
                <a:latin typeface="Calibri"/>
              </a:rPr>
              <a:t>services/pdf_service.py</a:t>
            </a:r>
          </a:p>
        </p:txBody>
      </p:sp>
      <p:sp>
        <p:nvSpPr>
          <p:cNvPr id="46" name="TextBox 45"/>
          <p:cNvSpPr txBox="1"/>
          <p:nvPr/>
        </p:nvSpPr>
        <p:spPr>
          <a:xfrm>
            <a:off x="6327647" y="4882896"/>
            <a:ext cx="2359152" cy="1298448"/>
          </a:xfrm>
          <a:prstGeom prst="rect">
            <a:avLst/>
          </a:prstGeom>
          <a:noFill/>
        </p:spPr>
        <p:txBody>
          <a:bodyPr wrap="square" anchor="t" lIns="36576" rIns="36576" tIns="18288" bIns="18288">
            <a:spAutoFit/>
          </a:bodyPr>
          <a:lstStyle/>
          <a:p>
            <a:pPr algn="l"/>
            <a:r>
              <a:rPr sz="1100" b="0">
                <a:solidFill>
                  <a:srgbClr val="0F172A"/>
                </a:solidFill>
                <a:latin typeface="Calibri"/>
              </a:rPr>
              <a:t>• fpdf2 A4 Layout
• Dark Styled Cover Page
• 180×145mm Aspect Fit
• Bundled DejaVu Fonts</a:t>
            </a:r>
          </a:p>
        </p:txBody>
      </p:sp>
      <p:sp>
        <p:nvSpPr>
          <p:cNvPr id="47" name="TextBox 46"/>
          <p:cNvSpPr txBox="1"/>
          <p:nvPr/>
        </p:nvSpPr>
        <p:spPr>
          <a:xfrm>
            <a:off x="10149840" y="3913632"/>
            <a:ext cx="365760" cy="256032"/>
          </a:xfrm>
          <a:prstGeom prst="rect">
            <a:avLst/>
          </a:prstGeom>
          <a:noFill/>
        </p:spPr>
        <p:txBody>
          <a:bodyPr wrap="square" anchor="t" lIns="36576" rIns="36576" tIns="18288" bIns="18288">
            <a:spAutoFit/>
          </a:bodyPr>
          <a:lstStyle/>
          <a:p>
            <a:pPr algn="ctr"/>
            <a:r>
              <a:rPr sz="1200" b="1">
                <a:solidFill>
                  <a:srgbClr val="0F172A"/>
                </a:solidFill>
                <a:latin typeface="Calibri"/>
              </a:rPr>
              <a:t>▼</a:t>
            </a:r>
          </a:p>
        </p:txBody>
      </p:sp>
      <p:sp>
        <p:nvSpPr>
          <p:cNvPr id="48" name="Rounded Rectangle 47"/>
          <p:cNvSpPr/>
          <p:nvPr/>
        </p:nvSpPr>
        <p:spPr>
          <a:xfrm>
            <a:off x="9025128" y="4169663"/>
            <a:ext cx="2615184" cy="2121408"/>
          </a:xfrm>
          <a:prstGeom prst="roundRect">
            <a:avLst>
              <a:gd name="adj" fmla="val 4000"/>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25128" y="4169663"/>
            <a:ext cx="2615184" cy="8229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53144" y="4315968"/>
            <a:ext cx="2359152" cy="292608"/>
          </a:xfrm>
          <a:prstGeom prst="rect">
            <a:avLst/>
          </a:prstGeom>
          <a:noFill/>
        </p:spPr>
        <p:txBody>
          <a:bodyPr wrap="square" anchor="t" lIns="36576" rIns="36576" tIns="18288" bIns="18288">
            <a:spAutoFit/>
          </a:bodyPr>
          <a:lstStyle/>
          <a:p>
            <a:pPr algn="l"/>
            <a:r>
              <a:rPr sz="1250" b="1">
                <a:solidFill>
                  <a:srgbClr val="0F172A"/>
                </a:solidFill>
                <a:latin typeface="Calibri"/>
              </a:rPr>
              <a:t>ComicRepository</a:t>
            </a:r>
          </a:p>
        </p:txBody>
      </p:sp>
      <p:sp>
        <p:nvSpPr>
          <p:cNvPr id="51" name="TextBox 50"/>
          <p:cNvSpPr txBox="1"/>
          <p:nvPr/>
        </p:nvSpPr>
        <p:spPr>
          <a:xfrm>
            <a:off x="9153144" y="4590288"/>
            <a:ext cx="2359152" cy="237744"/>
          </a:xfrm>
          <a:prstGeom prst="rect">
            <a:avLst/>
          </a:prstGeom>
          <a:noFill/>
        </p:spPr>
        <p:txBody>
          <a:bodyPr wrap="square" anchor="t" lIns="36576" rIns="36576" tIns="18288" bIns="18288">
            <a:spAutoFit/>
          </a:bodyPr>
          <a:lstStyle/>
          <a:p>
            <a:pPr algn="l"/>
            <a:r>
              <a:rPr sz="1000" b="1">
                <a:solidFill>
                  <a:srgbClr val="64748B"/>
                </a:solidFill>
                <a:latin typeface="Calibri"/>
              </a:rPr>
              <a:t>services/repository.py</a:t>
            </a:r>
          </a:p>
        </p:txBody>
      </p:sp>
      <p:sp>
        <p:nvSpPr>
          <p:cNvPr id="52" name="TextBox 51"/>
          <p:cNvSpPr txBox="1"/>
          <p:nvPr/>
        </p:nvSpPr>
        <p:spPr>
          <a:xfrm>
            <a:off x="9153144" y="4882896"/>
            <a:ext cx="2359152" cy="1298448"/>
          </a:xfrm>
          <a:prstGeom prst="rect">
            <a:avLst/>
          </a:prstGeom>
          <a:noFill/>
        </p:spPr>
        <p:txBody>
          <a:bodyPr wrap="square" anchor="t" lIns="36576" rIns="36576" tIns="18288" bIns="18288">
            <a:spAutoFit/>
          </a:bodyPr>
          <a:lstStyle/>
          <a:p>
            <a:pPr algn="l"/>
            <a:r>
              <a:rPr sz="1100" b="0">
                <a:solidFill>
                  <a:srgbClr val="0F172A"/>
                </a:solidFill>
                <a:latin typeface="Calibri"/>
              </a:rPr>
              <a:t>• storage/comics/&lt;uuid&gt;/
• Regex ^[a-f0-9]{32}$
• panels/*.png &amp; comic.pdf
• Atomic comic.json Save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07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Two-Stage Gemini Workflow &amp; Character Continuity</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How structured JSON generation and a Character Bible keep multi-panel stories coherent</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234440"/>
            <a:ext cx="2542032" cy="3246120"/>
          </a:xfrm>
          <a:prstGeom prst="roundRect">
            <a:avLst>
              <a:gd name="adj" fmla="val 4000"/>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34440"/>
            <a:ext cx="2542032"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234440"/>
            <a:ext cx="2286000" cy="384048"/>
          </a:xfrm>
          <a:prstGeom prst="rect">
            <a:avLst/>
          </a:prstGeom>
          <a:noFill/>
        </p:spPr>
        <p:txBody>
          <a:bodyPr wrap="square" anchor="ctr" lIns="36576" rIns="36576" tIns="18288" bIns="18288">
            <a:spAutoFit/>
          </a:bodyPr>
          <a:lstStyle/>
          <a:p>
            <a:pPr algn="ctr"/>
            <a:r>
              <a:rPr sz="1100" b="1">
                <a:solidFill>
                  <a:srgbClr val="FFFFFF"/>
                </a:solidFill>
                <a:latin typeface="Calibri"/>
              </a:rPr>
              <a:t>STEP 1</a:t>
            </a:r>
          </a:p>
        </p:txBody>
      </p:sp>
      <p:sp>
        <p:nvSpPr>
          <p:cNvPr id="13" name="TextBox 12"/>
          <p:cNvSpPr txBox="1"/>
          <p:nvPr/>
        </p:nvSpPr>
        <p:spPr>
          <a:xfrm>
            <a:off x="694944" y="1719072"/>
            <a:ext cx="2249424" cy="329184"/>
          </a:xfrm>
          <a:prstGeom prst="rect">
            <a:avLst/>
          </a:prstGeom>
          <a:noFill/>
        </p:spPr>
        <p:txBody>
          <a:bodyPr wrap="square" anchor="t" lIns="36576" rIns="36576" tIns="18288" bIns="18288">
            <a:spAutoFit/>
          </a:bodyPr>
          <a:lstStyle/>
          <a:p>
            <a:pPr algn="l"/>
            <a:r>
              <a:rPr sz="1400" b="1">
                <a:solidFill>
                  <a:srgbClr val="0F172A"/>
                </a:solidFill>
                <a:latin typeface="Calibri"/>
              </a:rPr>
              <a:t>Validated Brief</a:t>
            </a:r>
          </a:p>
        </p:txBody>
      </p:sp>
      <p:sp>
        <p:nvSpPr>
          <p:cNvPr id="14" name="TextBox 13"/>
          <p:cNvSpPr txBox="1"/>
          <p:nvPr/>
        </p:nvSpPr>
        <p:spPr>
          <a:xfrm>
            <a:off x="694944" y="2029968"/>
            <a:ext cx="2249424" cy="256032"/>
          </a:xfrm>
          <a:prstGeom prst="rect">
            <a:avLst/>
          </a:prstGeom>
          <a:noFill/>
        </p:spPr>
        <p:txBody>
          <a:bodyPr wrap="square" anchor="t" lIns="36576" rIns="36576" tIns="18288" bIns="18288">
            <a:spAutoFit/>
          </a:bodyPr>
          <a:lstStyle/>
          <a:p>
            <a:pPr algn="l"/>
            <a:r>
              <a:rPr sz="1050" b="1">
                <a:solidFill>
                  <a:srgbClr val="0F172A"/>
                </a:solidFill>
                <a:latin typeface="Calibri"/>
              </a:rPr>
              <a:t>ComicPrompt</a:t>
            </a:r>
          </a:p>
        </p:txBody>
      </p:sp>
      <p:sp>
        <p:nvSpPr>
          <p:cNvPr id="15" name="TextBox 14"/>
          <p:cNvSpPr txBox="1"/>
          <p:nvPr/>
        </p:nvSpPr>
        <p:spPr>
          <a:xfrm>
            <a:off x="694944" y="2359152"/>
            <a:ext cx="2249424" cy="1965960"/>
          </a:xfrm>
          <a:prstGeom prst="rect">
            <a:avLst/>
          </a:prstGeom>
          <a:noFill/>
        </p:spPr>
        <p:txBody>
          <a:bodyPr wrap="square" anchor="t" lIns="36576" rIns="36576" tIns="18288" bIns="18288">
            <a:spAutoFit/>
          </a:bodyPr>
          <a:lstStyle/>
          <a:p>
            <a:pPr algn="l"/>
            <a:r>
              <a:rPr sz="1150" b="0">
                <a:solidFill>
                  <a:srgbClr val="0F172A"/>
                </a:solidFill>
                <a:latin typeface="Calibri"/>
              </a:rPr>
              <a:t>• Story idea (10–1500 chars)
• Hero name &amp; setting
• Tone &amp; art style
• Panel count: 3 to 8
• Blocks control chars</a:t>
            </a:r>
          </a:p>
        </p:txBody>
      </p:sp>
      <p:sp>
        <p:nvSpPr>
          <p:cNvPr id="16" name="TextBox 15"/>
          <p:cNvSpPr txBox="1"/>
          <p:nvPr/>
        </p:nvSpPr>
        <p:spPr>
          <a:xfrm>
            <a:off x="3108960" y="2606040"/>
            <a:ext cx="274320" cy="411480"/>
          </a:xfrm>
          <a:prstGeom prst="rect">
            <a:avLst/>
          </a:prstGeom>
          <a:noFill/>
        </p:spPr>
        <p:txBody>
          <a:bodyPr wrap="square" anchor="t" lIns="36576" rIns="36576" tIns="18288" bIns="18288">
            <a:spAutoFit/>
          </a:bodyPr>
          <a:lstStyle/>
          <a:p>
            <a:pPr algn="ctr"/>
            <a:r>
              <a:rPr sz="1800" b="1">
                <a:solidFill>
                  <a:srgbClr val="0F172A"/>
                </a:solidFill>
                <a:latin typeface="Calibri"/>
              </a:rPr>
              <a:t>➔</a:t>
            </a:r>
          </a:p>
        </p:txBody>
      </p:sp>
      <p:sp>
        <p:nvSpPr>
          <p:cNvPr id="17" name="Rounded Rectangle 16"/>
          <p:cNvSpPr/>
          <p:nvPr/>
        </p:nvSpPr>
        <p:spPr>
          <a:xfrm>
            <a:off x="3396996" y="1234440"/>
            <a:ext cx="2542032" cy="3246120"/>
          </a:xfrm>
          <a:prstGeom prst="roundRect">
            <a:avLst>
              <a:gd name="adj" fmla="val 4000"/>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6996" y="1234440"/>
            <a:ext cx="2542032"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5012" y="1234440"/>
            <a:ext cx="2286000" cy="384048"/>
          </a:xfrm>
          <a:prstGeom prst="rect">
            <a:avLst/>
          </a:prstGeom>
          <a:noFill/>
        </p:spPr>
        <p:txBody>
          <a:bodyPr wrap="square" anchor="ctr" lIns="36576" rIns="36576" tIns="18288" bIns="18288">
            <a:spAutoFit/>
          </a:bodyPr>
          <a:lstStyle/>
          <a:p>
            <a:pPr algn="ctr"/>
            <a:r>
              <a:rPr sz="1100" b="1">
                <a:solidFill>
                  <a:srgbClr val="FFFFFF"/>
                </a:solidFill>
                <a:latin typeface="Calibri"/>
              </a:rPr>
              <a:t>STEP 2</a:t>
            </a:r>
          </a:p>
        </p:txBody>
      </p:sp>
      <p:sp>
        <p:nvSpPr>
          <p:cNvPr id="20" name="TextBox 19"/>
          <p:cNvSpPr txBox="1"/>
          <p:nvPr/>
        </p:nvSpPr>
        <p:spPr>
          <a:xfrm>
            <a:off x="3543300" y="1719072"/>
            <a:ext cx="2249424" cy="329184"/>
          </a:xfrm>
          <a:prstGeom prst="rect">
            <a:avLst/>
          </a:prstGeom>
          <a:noFill/>
        </p:spPr>
        <p:txBody>
          <a:bodyPr wrap="square" anchor="t" lIns="36576" rIns="36576" tIns="18288" bIns="18288">
            <a:spAutoFit/>
          </a:bodyPr>
          <a:lstStyle/>
          <a:p>
            <a:pPr algn="l"/>
            <a:r>
              <a:rPr sz="1400" b="1">
                <a:solidFill>
                  <a:srgbClr val="0F172A"/>
                </a:solidFill>
                <a:latin typeface="Calibri"/>
              </a:rPr>
              <a:t>Stage 1: Outline</a:t>
            </a:r>
          </a:p>
        </p:txBody>
      </p:sp>
      <p:sp>
        <p:nvSpPr>
          <p:cNvPr id="21" name="TextBox 20"/>
          <p:cNvSpPr txBox="1"/>
          <p:nvPr/>
        </p:nvSpPr>
        <p:spPr>
          <a:xfrm>
            <a:off x="3543300" y="2029968"/>
            <a:ext cx="2249424" cy="256032"/>
          </a:xfrm>
          <a:prstGeom prst="rect">
            <a:avLst/>
          </a:prstGeom>
          <a:noFill/>
        </p:spPr>
        <p:txBody>
          <a:bodyPr wrap="square" anchor="t" lIns="36576" rIns="36576" tIns="18288" bIns="18288">
            <a:spAutoFit/>
          </a:bodyPr>
          <a:lstStyle/>
          <a:p>
            <a:pPr algn="l"/>
            <a:r>
              <a:rPr sz="1050" b="1">
                <a:solidFill>
                  <a:srgbClr val="2563EB"/>
                </a:solidFill>
                <a:latin typeface="Calibri"/>
              </a:rPr>
              <a:t>gemini-3.5-flash-lite</a:t>
            </a:r>
          </a:p>
        </p:txBody>
      </p:sp>
      <p:sp>
        <p:nvSpPr>
          <p:cNvPr id="22" name="TextBox 21"/>
          <p:cNvSpPr txBox="1"/>
          <p:nvPr/>
        </p:nvSpPr>
        <p:spPr>
          <a:xfrm>
            <a:off x="3543300" y="2359152"/>
            <a:ext cx="2249424" cy="1965960"/>
          </a:xfrm>
          <a:prstGeom prst="rect">
            <a:avLst/>
          </a:prstGeom>
          <a:noFill/>
        </p:spPr>
        <p:txBody>
          <a:bodyPr wrap="square" anchor="t" lIns="36576" rIns="36576" tIns="18288" bIns="18288">
            <a:spAutoFit/>
          </a:bodyPr>
          <a:lstStyle/>
          <a:p>
            <a:pPr algn="l"/>
            <a:r>
              <a:rPr sz="1150" b="0">
                <a:solidFill>
                  <a:srgbClr val="0F172A"/>
                </a:solidFill>
                <a:latin typeface="Calibri"/>
              </a:rPr>
              <a:t>• JSON MIME mode forced
• Generates Comic Title
• Creates Character Bible
• Plans N sequential scenes
• Validated by ComicOutline</a:t>
            </a:r>
          </a:p>
        </p:txBody>
      </p:sp>
      <p:sp>
        <p:nvSpPr>
          <p:cNvPr id="23" name="TextBox 22"/>
          <p:cNvSpPr txBox="1"/>
          <p:nvPr/>
        </p:nvSpPr>
        <p:spPr>
          <a:xfrm>
            <a:off x="5957315" y="2606040"/>
            <a:ext cx="274320" cy="411480"/>
          </a:xfrm>
          <a:prstGeom prst="rect">
            <a:avLst/>
          </a:prstGeom>
          <a:noFill/>
        </p:spPr>
        <p:txBody>
          <a:bodyPr wrap="square" anchor="t" lIns="36576" rIns="36576" tIns="18288" bIns="18288">
            <a:spAutoFit/>
          </a:bodyPr>
          <a:lstStyle/>
          <a:p>
            <a:pPr algn="ctr"/>
            <a:r>
              <a:rPr sz="1800" b="1">
                <a:solidFill>
                  <a:srgbClr val="0F172A"/>
                </a:solidFill>
                <a:latin typeface="Calibri"/>
              </a:rPr>
              <a:t>➔</a:t>
            </a:r>
          </a:p>
        </p:txBody>
      </p:sp>
      <p:sp>
        <p:nvSpPr>
          <p:cNvPr id="24" name="Rounded Rectangle 23"/>
          <p:cNvSpPr/>
          <p:nvPr/>
        </p:nvSpPr>
        <p:spPr>
          <a:xfrm>
            <a:off x="6245351" y="1234440"/>
            <a:ext cx="2542032" cy="3246120"/>
          </a:xfrm>
          <a:prstGeom prst="roundRect">
            <a:avLst>
              <a:gd name="adj" fmla="val 4000"/>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1" y="1234440"/>
            <a:ext cx="2542032"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7" y="1234440"/>
            <a:ext cx="2286000" cy="384048"/>
          </a:xfrm>
          <a:prstGeom prst="rect">
            <a:avLst/>
          </a:prstGeom>
          <a:noFill/>
        </p:spPr>
        <p:txBody>
          <a:bodyPr wrap="square" anchor="ctr" lIns="36576" rIns="36576" tIns="18288" bIns="18288">
            <a:spAutoFit/>
          </a:bodyPr>
          <a:lstStyle/>
          <a:p>
            <a:pPr algn="ctr"/>
            <a:r>
              <a:rPr sz="1100" b="1">
                <a:solidFill>
                  <a:srgbClr val="FFFFFF"/>
                </a:solidFill>
                <a:latin typeface="Calibri"/>
              </a:rPr>
              <a:t>STEP 3</a:t>
            </a:r>
          </a:p>
        </p:txBody>
      </p:sp>
      <p:sp>
        <p:nvSpPr>
          <p:cNvPr id="27" name="TextBox 26"/>
          <p:cNvSpPr txBox="1"/>
          <p:nvPr/>
        </p:nvSpPr>
        <p:spPr>
          <a:xfrm>
            <a:off x="6391655" y="1719072"/>
            <a:ext cx="2249424" cy="329184"/>
          </a:xfrm>
          <a:prstGeom prst="rect">
            <a:avLst/>
          </a:prstGeom>
          <a:noFill/>
        </p:spPr>
        <p:txBody>
          <a:bodyPr wrap="square" anchor="t" lIns="36576" rIns="36576" tIns="18288" bIns="18288">
            <a:spAutoFit/>
          </a:bodyPr>
          <a:lstStyle/>
          <a:p>
            <a:pPr algn="l"/>
            <a:r>
              <a:rPr sz="1400" b="1">
                <a:solidFill>
                  <a:srgbClr val="0F172A"/>
                </a:solidFill>
                <a:latin typeface="Calibri"/>
              </a:rPr>
              <a:t>Stage 2: Script</a:t>
            </a:r>
          </a:p>
        </p:txBody>
      </p:sp>
      <p:sp>
        <p:nvSpPr>
          <p:cNvPr id="28" name="TextBox 27"/>
          <p:cNvSpPr txBox="1"/>
          <p:nvPr/>
        </p:nvSpPr>
        <p:spPr>
          <a:xfrm>
            <a:off x="6391655" y="2029968"/>
            <a:ext cx="2249424" cy="256032"/>
          </a:xfrm>
          <a:prstGeom prst="rect">
            <a:avLst/>
          </a:prstGeom>
          <a:noFill/>
        </p:spPr>
        <p:txBody>
          <a:bodyPr wrap="square" anchor="t" lIns="36576" rIns="36576" tIns="18288" bIns="18288">
            <a:spAutoFit/>
          </a:bodyPr>
          <a:lstStyle/>
          <a:p>
            <a:pPr algn="l"/>
            <a:r>
              <a:rPr sz="1050" b="1">
                <a:solidFill>
                  <a:srgbClr val="0D9488"/>
                </a:solidFill>
                <a:latin typeface="Calibri"/>
              </a:rPr>
              <a:t>gemini-3.5-flash</a:t>
            </a:r>
          </a:p>
        </p:txBody>
      </p:sp>
      <p:sp>
        <p:nvSpPr>
          <p:cNvPr id="29" name="TextBox 28"/>
          <p:cNvSpPr txBox="1"/>
          <p:nvPr/>
        </p:nvSpPr>
        <p:spPr>
          <a:xfrm>
            <a:off x="6391655" y="2359152"/>
            <a:ext cx="2249424" cy="1965960"/>
          </a:xfrm>
          <a:prstGeom prst="rect">
            <a:avLst/>
          </a:prstGeom>
          <a:noFill/>
        </p:spPr>
        <p:txBody>
          <a:bodyPr wrap="square" anchor="t" lIns="36576" rIns="36576" tIns="18288" bIns="18288">
            <a:spAutoFit/>
          </a:bodyPr>
          <a:lstStyle/>
          <a:p>
            <a:pPr algn="l"/>
            <a:r>
              <a:rPr sz="1150" b="0">
                <a:solidFill>
                  <a:srgbClr val="0F172A"/>
                </a:solidFill>
                <a:latin typeface="Calibri"/>
              </a:rPr>
              <a:t>• Receives approved outline
• Panel caption &amp; narration
• 0–3 dialogue lines/panel
• Repeats Character Bible
• Validated by ComicScript</a:t>
            </a:r>
          </a:p>
        </p:txBody>
      </p:sp>
      <p:sp>
        <p:nvSpPr>
          <p:cNvPr id="30" name="TextBox 29"/>
          <p:cNvSpPr txBox="1"/>
          <p:nvPr/>
        </p:nvSpPr>
        <p:spPr>
          <a:xfrm>
            <a:off x="8805672" y="2606040"/>
            <a:ext cx="274320" cy="411480"/>
          </a:xfrm>
          <a:prstGeom prst="rect">
            <a:avLst/>
          </a:prstGeom>
          <a:noFill/>
        </p:spPr>
        <p:txBody>
          <a:bodyPr wrap="square" anchor="t" lIns="36576" rIns="36576" tIns="18288" bIns="18288">
            <a:spAutoFit/>
          </a:bodyPr>
          <a:lstStyle/>
          <a:p>
            <a:pPr algn="ctr"/>
            <a:r>
              <a:rPr sz="1800" b="1">
                <a:solidFill>
                  <a:srgbClr val="0F172A"/>
                </a:solidFill>
                <a:latin typeface="Calibri"/>
              </a:rPr>
              <a:t>➔</a:t>
            </a:r>
          </a:p>
        </p:txBody>
      </p:sp>
      <p:sp>
        <p:nvSpPr>
          <p:cNvPr id="31" name="Rounded Rectangle 30"/>
          <p:cNvSpPr/>
          <p:nvPr/>
        </p:nvSpPr>
        <p:spPr>
          <a:xfrm>
            <a:off x="9093707" y="1234440"/>
            <a:ext cx="2542032" cy="3246120"/>
          </a:xfrm>
          <a:prstGeom prst="roundRect">
            <a:avLst>
              <a:gd name="adj" fmla="val 4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3707" y="1234440"/>
            <a:ext cx="2542032"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21724" y="1234440"/>
            <a:ext cx="2286000" cy="384048"/>
          </a:xfrm>
          <a:prstGeom prst="rect">
            <a:avLst/>
          </a:prstGeom>
          <a:noFill/>
        </p:spPr>
        <p:txBody>
          <a:bodyPr wrap="square" anchor="ctr" lIns="36576" rIns="36576" tIns="18288" bIns="18288">
            <a:spAutoFit/>
          </a:bodyPr>
          <a:lstStyle/>
          <a:p>
            <a:pPr algn="ctr"/>
            <a:r>
              <a:rPr sz="1100" b="1">
                <a:solidFill>
                  <a:srgbClr val="FFFFFF"/>
                </a:solidFill>
                <a:latin typeface="Calibri"/>
              </a:rPr>
              <a:t>STEP 4</a:t>
            </a:r>
          </a:p>
        </p:txBody>
      </p:sp>
      <p:sp>
        <p:nvSpPr>
          <p:cNvPr id="34" name="TextBox 33"/>
          <p:cNvSpPr txBox="1"/>
          <p:nvPr/>
        </p:nvSpPr>
        <p:spPr>
          <a:xfrm>
            <a:off x="9240011" y="1719072"/>
            <a:ext cx="2249424" cy="329184"/>
          </a:xfrm>
          <a:prstGeom prst="rect">
            <a:avLst/>
          </a:prstGeom>
          <a:noFill/>
        </p:spPr>
        <p:txBody>
          <a:bodyPr wrap="square" anchor="t" lIns="36576" rIns="36576" tIns="18288" bIns="18288">
            <a:spAutoFit/>
          </a:bodyPr>
          <a:lstStyle/>
          <a:p>
            <a:pPr algn="l"/>
            <a:r>
              <a:rPr sz="1400" b="1">
                <a:solidFill>
                  <a:srgbClr val="0F172A"/>
                </a:solidFill>
                <a:latin typeface="Calibri"/>
              </a:rPr>
              <a:t>Seeded Panel Art</a:t>
            </a:r>
          </a:p>
        </p:txBody>
      </p:sp>
      <p:sp>
        <p:nvSpPr>
          <p:cNvPr id="35" name="TextBox 34"/>
          <p:cNvSpPr txBox="1"/>
          <p:nvPr/>
        </p:nvSpPr>
        <p:spPr>
          <a:xfrm>
            <a:off x="9240011" y="2029968"/>
            <a:ext cx="2249424" cy="256032"/>
          </a:xfrm>
          <a:prstGeom prst="rect">
            <a:avLst/>
          </a:prstGeom>
          <a:noFill/>
        </p:spPr>
        <p:txBody>
          <a:bodyPr wrap="square" anchor="t" lIns="36576" rIns="36576" tIns="18288" bIns="18288">
            <a:spAutoFit/>
          </a:bodyPr>
          <a:lstStyle/>
          <a:p>
            <a:pPr algn="l"/>
            <a:r>
              <a:rPr sz="1050" b="1">
                <a:solidFill>
                  <a:srgbClr val="B45309"/>
                </a:solidFill>
                <a:latin typeface="Calibri"/>
              </a:rPr>
              <a:t>ImageProvider Protocol</a:t>
            </a:r>
          </a:p>
        </p:txBody>
      </p:sp>
      <p:sp>
        <p:nvSpPr>
          <p:cNvPr id="36" name="TextBox 35"/>
          <p:cNvSpPr txBox="1"/>
          <p:nvPr/>
        </p:nvSpPr>
        <p:spPr>
          <a:xfrm>
            <a:off x="9240011" y="2359152"/>
            <a:ext cx="2249424" cy="1965960"/>
          </a:xfrm>
          <a:prstGeom prst="rect">
            <a:avLst/>
          </a:prstGeom>
          <a:noFill/>
        </p:spPr>
        <p:txBody>
          <a:bodyPr wrap="square" anchor="t" lIns="36576" rIns="36576" tIns="18288" bIns="18288">
            <a:spAutoFit/>
          </a:bodyPr>
          <a:lstStyle/>
          <a:p>
            <a:pPr algn="l"/>
            <a:r>
              <a:rPr sz="1150" b="0">
                <a:solidFill>
                  <a:srgbClr val="0F172A"/>
                </a:solidFill>
                <a:latin typeface="Calibri"/>
              </a:rPr>
              <a:t>• SHA-256 deterministic seed
• Negative prompts applied
• No text bubbles inside art
• Saves panel-1..N.png
• Feeds PDF &amp; Web preview</a:t>
            </a:r>
          </a:p>
        </p:txBody>
      </p:sp>
      <p:sp>
        <p:nvSpPr>
          <p:cNvPr id="37" name="Rounded Rectangle 36"/>
          <p:cNvSpPr/>
          <p:nvPr/>
        </p:nvSpPr>
        <p:spPr>
          <a:xfrm>
            <a:off x="548640" y="4736592"/>
            <a:ext cx="5413248" cy="1572768"/>
          </a:xfrm>
          <a:prstGeom prst="roundRect">
            <a:avLst>
              <a:gd name="adj" fmla="val 4000"/>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4736592"/>
            <a:ext cx="91440" cy="15727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4846320"/>
            <a:ext cx="4983480" cy="310896"/>
          </a:xfrm>
          <a:prstGeom prst="rect">
            <a:avLst/>
          </a:prstGeom>
          <a:noFill/>
        </p:spPr>
        <p:txBody>
          <a:bodyPr wrap="square" anchor="t" lIns="36576" rIns="36576" tIns="18288" bIns="18288">
            <a:spAutoFit/>
          </a:bodyPr>
          <a:lstStyle/>
          <a:p>
            <a:pPr algn="l"/>
            <a:r>
              <a:rPr sz="1250" b="1">
                <a:solidFill>
                  <a:srgbClr val="0D9488"/>
                </a:solidFill>
                <a:latin typeface="Calibri"/>
              </a:rPr>
              <a:t>WHY TWO GEMINI STAGES?</a:t>
            </a:r>
          </a:p>
        </p:txBody>
      </p:sp>
      <p:sp>
        <p:nvSpPr>
          <p:cNvPr id="40" name="TextBox 39"/>
          <p:cNvSpPr txBox="1"/>
          <p:nvPr/>
        </p:nvSpPr>
        <p:spPr>
          <a:xfrm>
            <a:off x="804672" y="5175504"/>
            <a:ext cx="4983480" cy="1024128"/>
          </a:xfrm>
          <a:prstGeom prst="rect">
            <a:avLst/>
          </a:prstGeom>
          <a:noFill/>
        </p:spPr>
        <p:txBody>
          <a:bodyPr wrap="square" anchor="t" lIns="36576" rIns="36576" tIns="18288" bIns="18288">
            <a:spAutoFit/>
          </a:bodyPr>
          <a:lstStyle/>
          <a:p>
            <a:pPr algn="l"/>
            <a:r>
              <a:rPr sz="1130" b="0">
                <a:solidFill>
                  <a:srgbClr val="334155"/>
                </a:solidFill>
                <a:latin typeface="Calibri"/>
              </a:rPr>
              <a:t>Single-prompt generation mixes story planning with dialogue writing, causing missing panels or broken pacing. Splitting Outline (fast lite model) and Script (story model) guarantees exact panel counts and richer storytelling.</a:t>
            </a:r>
          </a:p>
        </p:txBody>
      </p:sp>
      <p:sp>
        <p:nvSpPr>
          <p:cNvPr id="41" name="Rounded Rectangle 40"/>
          <p:cNvSpPr/>
          <p:nvPr/>
        </p:nvSpPr>
        <p:spPr>
          <a:xfrm>
            <a:off x="6227064" y="4736592"/>
            <a:ext cx="5413248" cy="1572768"/>
          </a:xfrm>
          <a:prstGeom prst="roundRect">
            <a:avLst>
              <a:gd name="adj" fmla="val 4000"/>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27064" y="4736592"/>
            <a:ext cx="91440" cy="15727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83096" y="4846320"/>
            <a:ext cx="4983480" cy="310896"/>
          </a:xfrm>
          <a:prstGeom prst="rect">
            <a:avLst/>
          </a:prstGeom>
          <a:noFill/>
        </p:spPr>
        <p:txBody>
          <a:bodyPr wrap="square" anchor="t" lIns="36576" rIns="36576" tIns="18288" bIns="18288">
            <a:spAutoFit/>
          </a:bodyPr>
          <a:lstStyle/>
          <a:p>
            <a:pPr algn="l"/>
            <a:r>
              <a:rPr sz="1250" b="1">
                <a:solidFill>
                  <a:srgbClr val="2563EB"/>
                </a:solidFill>
                <a:latin typeface="Calibri"/>
              </a:rPr>
              <a:t>HOW CHARACTER CONTINUITY WORKS</a:t>
            </a:r>
          </a:p>
        </p:txBody>
      </p:sp>
      <p:sp>
        <p:nvSpPr>
          <p:cNvPr id="44" name="TextBox 43"/>
          <p:cNvSpPr txBox="1"/>
          <p:nvPr/>
        </p:nvSpPr>
        <p:spPr>
          <a:xfrm>
            <a:off x="6483096" y="5175504"/>
            <a:ext cx="4983480" cy="1024128"/>
          </a:xfrm>
          <a:prstGeom prst="rect">
            <a:avLst/>
          </a:prstGeom>
          <a:noFill/>
        </p:spPr>
        <p:txBody>
          <a:bodyPr wrap="square" anchor="t" lIns="36576" rIns="36576" tIns="18288" bIns="18288">
            <a:spAutoFit/>
          </a:bodyPr>
          <a:lstStyle/>
          <a:p>
            <a:pPr algn="l"/>
            <a:r>
              <a:rPr sz="1130" b="0">
                <a:solidFill>
                  <a:srgbClr val="334155"/>
                </a:solidFill>
                <a:latin typeface="Calibri"/>
              </a:rPr>
              <a:t>Stage 1 produces a 'character_bible' (fixed face, hair, outfit, and colors). Stage 2 embeds those exact traits into every panel's image_prompt, while negative prompts ban 'inconsistent clothing' and stray text bubbles.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08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Resilience, Graceful Fallbacks &amp; Security</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Engineered so transient API failures, missing keys, or bad inputs never crash the application</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07008"/>
            <a:ext cx="3529584" cy="4572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207008"/>
            <a:ext cx="3273552" cy="457200"/>
          </a:xfrm>
          <a:prstGeom prst="rect">
            <a:avLst/>
          </a:prstGeom>
          <a:noFill/>
        </p:spPr>
        <p:txBody>
          <a:bodyPr wrap="square" anchor="ctr" lIns="36576" rIns="36576" tIns="18288" bIns="18288">
            <a:spAutoFit/>
          </a:bodyPr>
          <a:lstStyle/>
          <a:p>
            <a:pPr algn="ctr"/>
            <a:r>
              <a:rPr sz="1150" b="1">
                <a:solidFill>
                  <a:srgbClr val="FFFFFF"/>
                </a:solidFill>
                <a:latin typeface="Calibri"/>
              </a:rPr>
              <a:t>1. SMART GEMINI RETRY &amp; FALLBACK</a:t>
            </a:r>
          </a:p>
        </p:txBody>
      </p:sp>
      <p:sp>
        <p:nvSpPr>
          <p:cNvPr id="13" name="TextBox 12"/>
          <p:cNvSpPr txBox="1"/>
          <p:nvPr/>
        </p:nvSpPr>
        <p:spPr>
          <a:xfrm>
            <a:off x="713232" y="1810512"/>
            <a:ext cx="3200400" cy="4343400"/>
          </a:xfrm>
          <a:prstGeom prst="rect">
            <a:avLst/>
          </a:prstGeom>
          <a:noFill/>
        </p:spPr>
        <p:txBody>
          <a:bodyPr wrap="square" lIns="45720" rIns="45720" tIns="27432" bIns="27432">
            <a:spAutoFit/>
          </a:bodyPr>
          <a:lstStyle/>
          <a:p>
            <a:pPr>
              <a:lnSpc>
                <a:spcPct val="118000"/>
              </a:lnSpc>
              <a:spcAft>
                <a:spcPts val="1200"/>
              </a:spcAft>
            </a:pPr>
            <a:r>
              <a:rPr sz="1180" b="1">
                <a:solidFill>
                  <a:srgbClr val="0D9488"/>
                </a:solidFill>
                <a:latin typeface="Calibri"/>
              </a:rPr>
              <a:t>▪ </a:t>
            </a:r>
            <a:r>
              <a:rPr sz="1180" b="1">
                <a:solidFill>
                  <a:srgbClr val="0F172A"/>
                </a:solidFill>
                <a:latin typeface="Calibri"/>
              </a:rPr>
              <a:t>Transient 429 / 5xx Errors: </a:t>
            </a:r>
            <a:r>
              <a:rPr sz="1180" b="0">
                <a:solidFill>
                  <a:srgbClr val="334155"/>
                </a:solidFill>
                <a:latin typeface="Calibri"/>
              </a:rPr>
              <a:t>Retries up to GEMINI_RETRY_ATTEMPTS using bounded exponential backoff (base × 2^attempt) plus random jitter.</a:t>
            </a:r>
          </a:p>
          <a:p>
            <a:pPr>
              <a:lnSpc>
                <a:spcPct val="118000"/>
              </a:lnSpc>
              <a:spcAft>
                <a:spcPts val="1200"/>
              </a:spcAft>
            </a:pPr>
            <a:r>
              <a:rPr sz="1180" b="1">
                <a:solidFill>
                  <a:srgbClr val="0D9488"/>
                </a:solidFill>
                <a:latin typeface="Calibri"/>
              </a:rPr>
              <a:t>▪ </a:t>
            </a:r>
            <a:r>
              <a:rPr sz="1180" b="1">
                <a:solidFill>
                  <a:srgbClr val="0F172A"/>
                </a:solidFill>
                <a:latin typeface="Calibri"/>
              </a:rPr>
              <a:t>400 / 404 Invalid Model IDs: </a:t>
            </a:r>
            <a:r>
              <a:rPr sz="1180" b="0">
                <a:solidFill>
                  <a:srgbClr val="334155"/>
                </a:solidFill>
                <a:latin typeface="Calibri"/>
              </a:rPr>
              <a:t>Skips waiting and switches immediately to configured fallback Gemini models in .env.</a:t>
            </a:r>
          </a:p>
          <a:p>
            <a:pPr>
              <a:lnSpc>
                <a:spcPct val="118000"/>
              </a:lnSpc>
              <a:spcAft>
                <a:spcPts val="1200"/>
              </a:spcAft>
            </a:pPr>
            <a:r>
              <a:rPr sz="1180" b="1">
                <a:solidFill>
                  <a:srgbClr val="0D9488"/>
                </a:solidFill>
                <a:latin typeface="Calibri"/>
              </a:rPr>
              <a:t>▪ </a:t>
            </a:r>
            <a:r>
              <a:rPr sz="1180" b="1">
                <a:solidFill>
                  <a:srgbClr val="0F172A"/>
                </a:solidFill>
                <a:latin typeface="Calibri"/>
              </a:rPr>
              <a:t>Offline Story Fallback: </a:t>
            </a:r>
            <a:r>
              <a:rPr sz="1180" b="0">
                <a:solidFill>
                  <a:srgbClr val="334155"/>
                </a:solidFill>
                <a:latin typeface="Calibri"/>
              </a:rPr>
              <a:t>If all live models fail and ALLOW_AI_FALLBACK=true, DemoStoryProvider completes the comic with a visible warning.</a:t>
            </a:r>
          </a:p>
        </p:txBody>
      </p:sp>
      <p:sp>
        <p:nvSpPr>
          <p:cNvPr id="14" name="Rounded Rectangle 13"/>
          <p:cNvSpPr/>
          <p:nvPr/>
        </p:nvSpPr>
        <p:spPr>
          <a:xfrm>
            <a:off x="4329683"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9683" y="1207008"/>
            <a:ext cx="3529584"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7699" y="1207008"/>
            <a:ext cx="3273552" cy="457200"/>
          </a:xfrm>
          <a:prstGeom prst="rect">
            <a:avLst/>
          </a:prstGeom>
          <a:noFill/>
        </p:spPr>
        <p:txBody>
          <a:bodyPr wrap="square" anchor="ctr" lIns="36576" rIns="36576" tIns="18288" bIns="18288">
            <a:spAutoFit/>
          </a:bodyPr>
          <a:lstStyle/>
          <a:p>
            <a:pPr algn="ctr"/>
            <a:r>
              <a:rPr sz="1150" b="1">
                <a:solidFill>
                  <a:srgbClr val="FFFFFF"/>
                </a:solidFill>
                <a:latin typeface="Calibri"/>
              </a:rPr>
              <a:t>2. PER-PANEL IMAGE PROTECTION</a:t>
            </a:r>
          </a:p>
        </p:txBody>
      </p:sp>
      <p:sp>
        <p:nvSpPr>
          <p:cNvPr id="17" name="TextBox 16"/>
          <p:cNvSpPr txBox="1"/>
          <p:nvPr/>
        </p:nvSpPr>
        <p:spPr>
          <a:xfrm>
            <a:off x="4494275" y="1810512"/>
            <a:ext cx="3200400" cy="4343400"/>
          </a:xfrm>
          <a:prstGeom prst="rect">
            <a:avLst/>
          </a:prstGeom>
          <a:noFill/>
        </p:spPr>
        <p:txBody>
          <a:bodyPr wrap="square" lIns="45720" rIns="45720" tIns="27432" bIns="27432">
            <a:spAutoFit/>
          </a:bodyPr>
          <a:lstStyle/>
          <a:p>
            <a:pPr>
              <a:lnSpc>
                <a:spcPct val="118000"/>
              </a:lnSpc>
              <a:spcAft>
                <a:spcPts val="1200"/>
              </a:spcAft>
            </a:pPr>
            <a:r>
              <a:rPr sz="1180" b="1">
                <a:solidFill>
                  <a:srgbClr val="0D9488"/>
                </a:solidFill>
                <a:latin typeface="Calibri"/>
              </a:rPr>
              <a:t>▪ </a:t>
            </a:r>
            <a:r>
              <a:rPr sz="1180" b="1">
                <a:solidFill>
                  <a:srgbClr val="0F172A"/>
                </a:solidFill>
                <a:latin typeface="Calibri"/>
              </a:rPr>
              <a:t>Pluggable Provider Layer: </a:t>
            </a:r>
            <a:r>
              <a:rPr sz="1180" b="0">
                <a:solidFill>
                  <a:srgbClr val="334155"/>
                </a:solidFill>
                <a:latin typeface="Calibri"/>
              </a:rPr>
              <a:t>Supports Placeholder (Pillow), Hugging Face Hosted SDXL, and lazy-loaded Local Stable Diffusion.</a:t>
            </a:r>
          </a:p>
          <a:p>
            <a:pPr>
              <a:lnSpc>
                <a:spcPct val="118000"/>
              </a:lnSpc>
              <a:spcAft>
                <a:spcPts val="1200"/>
              </a:spcAft>
            </a:pPr>
            <a:r>
              <a:rPr sz="1180" b="1">
                <a:solidFill>
                  <a:srgbClr val="0D9488"/>
                </a:solidFill>
                <a:latin typeface="Calibri"/>
              </a:rPr>
              <a:t>▪ </a:t>
            </a:r>
            <a:r>
              <a:rPr sz="1180" b="1">
                <a:solidFill>
                  <a:srgbClr val="0F172A"/>
                </a:solidFill>
                <a:latin typeface="Calibri"/>
              </a:rPr>
              <a:t>Panel-Level Isolation: </a:t>
            </a:r>
            <a:r>
              <a:rPr sz="1180" b="0">
                <a:solidFill>
                  <a:srgbClr val="334155"/>
                </a:solidFill>
                <a:latin typeface="Calibri"/>
              </a:rPr>
              <a:t>If panel #3 fails on Hugging Face, the whole comic is NOT lost—only panel #3 falls back to a labeled Placeholder PNG.</a:t>
            </a:r>
          </a:p>
          <a:p>
            <a:pPr>
              <a:lnSpc>
                <a:spcPct val="118000"/>
              </a:lnSpc>
              <a:spcAft>
                <a:spcPts val="1200"/>
              </a:spcAft>
            </a:pPr>
            <a:r>
              <a:rPr sz="1180" b="1">
                <a:solidFill>
                  <a:srgbClr val="0D9488"/>
                </a:solidFill>
                <a:latin typeface="Calibri"/>
              </a:rPr>
              <a:t>▪ </a:t>
            </a:r>
            <a:r>
              <a:rPr sz="1180" b="1">
                <a:solidFill>
                  <a:srgbClr val="0F172A"/>
                </a:solidFill>
                <a:latin typeface="Calibri"/>
              </a:rPr>
              <a:t>Honest Provider Metadata: </a:t>
            </a:r>
            <a:r>
              <a:rPr sz="1180" b="0">
                <a:solidFill>
                  <a:srgbClr val="334155"/>
                </a:solidFill>
                <a:latin typeface="Calibri"/>
              </a:rPr>
              <a:t>ProviderInfo records exact models used, image providers, used_fallback=true, and user-visible warnings.</a:t>
            </a:r>
          </a:p>
        </p:txBody>
      </p:sp>
      <p:sp>
        <p:nvSpPr>
          <p:cNvPr id="18" name="Rounded Rectangle 17"/>
          <p:cNvSpPr/>
          <p:nvPr/>
        </p:nvSpPr>
        <p:spPr>
          <a:xfrm>
            <a:off x="8110727"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207008"/>
            <a:ext cx="3529584"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207008"/>
            <a:ext cx="3273552" cy="457200"/>
          </a:xfrm>
          <a:prstGeom prst="rect">
            <a:avLst/>
          </a:prstGeom>
          <a:noFill/>
        </p:spPr>
        <p:txBody>
          <a:bodyPr wrap="square" anchor="ctr" lIns="36576" rIns="36576" tIns="18288" bIns="18288">
            <a:spAutoFit/>
          </a:bodyPr>
          <a:lstStyle/>
          <a:p>
            <a:pPr algn="ctr"/>
            <a:r>
              <a:rPr sz="1150" b="1">
                <a:solidFill>
                  <a:srgbClr val="FFFFFF"/>
                </a:solidFill>
                <a:latin typeface="Calibri"/>
              </a:rPr>
              <a:t>3. STORAGE &amp; SECURITY GUARDS</a:t>
            </a:r>
          </a:p>
        </p:txBody>
      </p:sp>
      <p:sp>
        <p:nvSpPr>
          <p:cNvPr id="21" name="TextBox 20"/>
          <p:cNvSpPr txBox="1"/>
          <p:nvPr/>
        </p:nvSpPr>
        <p:spPr>
          <a:xfrm>
            <a:off x="8275319" y="1810512"/>
            <a:ext cx="3200400" cy="4343400"/>
          </a:xfrm>
          <a:prstGeom prst="rect">
            <a:avLst/>
          </a:prstGeom>
          <a:noFill/>
        </p:spPr>
        <p:txBody>
          <a:bodyPr wrap="square" lIns="45720" rIns="45720" tIns="27432" bIns="27432">
            <a:spAutoFit/>
          </a:bodyPr>
          <a:lstStyle/>
          <a:p>
            <a:pPr>
              <a:lnSpc>
                <a:spcPct val="118000"/>
              </a:lnSpc>
              <a:spcAft>
                <a:spcPts val="1200"/>
              </a:spcAft>
            </a:pPr>
            <a:r>
              <a:rPr sz="1180" b="1">
                <a:solidFill>
                  <a:srgbClr val="0D9488"/>
                </a:solidFill>
                <a:latin typeface="Calibri"/>
              </a:rPr>
              <a:t>▪ </a:t>
            </a:r>
            <a:r>
              <a:rPr sz="1180" b="1">
                <a:solidFill>
                  <a:srgbClr val="0F172A"/>
                </a:solidFill>
                <a:latin typeface="Calibri"/>
              </a:rPr>
              <a:t>Path Traversal Protection: </a:t>
            </a:r>
            <a:r>
              <a:rPr sz="1180" b="0">
                <a:solidFill>
                  <a:srgbClr val="334155"/>
                </a:solidFill>
                <a:latin typeface="Calibri"/>
              </a:rPr>
              <a:t>Every comic_id must match ^[a-f0-9]{32}$ before any disk read/write, blocking '../' traversal attacks.</a:t>
            </a:r>
          </a:p>
          <a:p>
            <a:pPr>
              <a:lnSpc>
                <a:spcPct val="118000"/>
              </a:lnSpc>
              <a:spcAft>
                <a:spcPts val="1200"/>
              </a:spcAft>
            </a:pPr>
            <a:r>
              <a:rPr sz="1180" b="1">
                <a:solidFill>
                  <a:srgbClr val="0D9488"/>
                </a:solidFill>
                <a:latin typeface="Calibri"/>
              </a:rPr>
              <a:t>▪ </a:t>
            </a:r>
            <a:r>
              <a:rPr sz="1180" b="1">
                <a:solidFill>
                  <a:srgbClr val="0F172A"/>
                </a:solidFill>
                <a:latin typeface="Calibri"/>
              </a:rPr>
              <a:t>Atomic Manifest Writes: </a:t>
            </a:r>
            <a:r>
              <a:rPr sz="1180" b="0">
                <a:solidFill>
                  <a:srgbClr val="334155"/>
                </a:solidFill>
                <a:latin typeface="Calibri"/>
              </a:rPr>
              <a:t>Writes comic.json.tmp first and atomically replaces comic.json so crashed writes never corrupt saved comics.</a:t>
            </a:r>
          </a:p>
          <a:p>
            <a:pPr>
              <a:lnSpc>
                <a:spcPct val="118000"/>
              </a:lnSpc>
              <a:spcAft>
                <a:spcPts val="1200"/>
              </a:spcAft>
            </a:pPr>
            <a:r>
              <a:rPr sz="1180" b="1">
                <a:solidFill>
                  <a:srgbClr val="0D9488"/>
                </a:solidFill>
                <a:latin typeface="Calibri"/>
              </a:rPr>
              <a:t>▪ </a:t>
            </a:r>
            <a:r>
              <a:rPr sz="1180" b="1">
                <a:solidFill>
                  <a:srgbClr val="0F172A"/>
                </a:solidFill>
                <a:latin typeface="Calibri"/>
              </a:rPr>
              <a:t>Secret &amp; Header Hygiene: </a:t>
            </a:r>
            <a:r>
              <a:rPr sz="1180" b="0">
                <a:solidFill>
                  <a:srgbClr val="334155"/>
                </a:solidFill>
                <a:latin typeface="Calibri"/>
              </a:rPr>
              <a:t>API keys stored as Pydantic SecretStr in .env; auto-deletes failed workspaces; sets nosniff &amp; SAMEORIGIN headers.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09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Application Output &amp; Live Screenshots</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Verified captures from the running ComicCraft application — Web Studio, Panels &amp; A4 PDF</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07008"/>
            <a:ext cx="3529584" cy="822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353312"/>
            <a:ext cx="3200400" cy="329184"/>
          </a:xfrm>
          <a:prstGeom prst="rect">
            <a:avLst/>
          </a:prstGeom>
          <a:noFill/>
        </p:spPr>
        <p:txBody>
          <a:bodyPr wrap="square" anchor="t" lIns="36576" rIns="36576" tIns="18288" bIns="18288">
            <a:spAutoFit/>
          </a:bodyPr>
          <a:lstStyle/>
          <a:p>
            <a:pPr algn="l"/>
            <a:r>
              <a:rPr sz="1300" b="1">
                <a:solidFill>
                  <a:srgbClr val="0F172A"/>
                </a:solidFill>
                <a:latin typeface="Calibri"/>
              </a:rPr>
              <a:t>1. Interactive Story Brief Form</a:t>
            </a:r>
          </a:p>
        </p:txBody>
      </p:sp>
      <p:sp>
        <p:nvSpPr>
          <p:cNvPr id="13" name="Rectangle 12"/>
          <p:cNvSpPr/>
          <p:nvPr/>
        </p:nvSpPr>
        <p:spPr>
          <a:xfrm>
            <a:off x="694944" y="1755648"/>
            <a:ext cx="3236976" cy="31546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iccraft-input-form.png"/>
          <p:cNvPicPr>
            <a:picLocks noChangeAspect="1"/>
          </p:cNvPicPr>
          <p:nvPr/>
        </p:nvPicPr>
        <p:blipFill>
          <a:blip r:embed="rId2"/>
          <a:stretch>
            <a:fillRect/>
          </a:stretch>
        </p:blipFill>
        <p:spPr>
          <a:xfrm>
            <a:off x="731520" y="2289365"/>
            <a:ext cx="3163824" cy="2087244"/>
          </a:xfrm>
          <a:prstGeom prst="rect">
            <a:avLst/>
          </a:prstGeom>
        </p:spPr>
      </p:pic>
      <p:sp>
        <p:nvSpPr>
          <p:cNvPr id="15" name="TextBox 14"/>
          <p:cNvSpPr txBox="1"/>
          <p:nvPr/>
        </p:nvSpPr>
        <p:spPr>
          <a:xfrm>
            <a:off x="713232" y="5029200"/>
            <a:ext cx="3200400" cy="1143000"/>
          </a:xfrm>
          <a:prstGeom prst="rect">
            <a:avLst/>
          </a:prstGeom>
          <a:noFill/>
        </p:spPr>
        <p:txBody>
          <a:bodyPr wrap="square" anchor="t" lIns="36576" rIns="36576" tIns="18288" bIns="18288">
            <a:spAutoFit/>
          </a:bodyPr>
          <a:lstStyle/>
          <a:p>
            <a:pPr algn="l"/>
            <a:r>
              <a:rPr sz="1120" b="0">
                <a:solidFill>
                  <a:srgbClr val="334155"/>
                </a:solidFill>
                <a:latin typeface="Calibri"/>
              </a:rPr>
              <a:t>Grouped sections (Story, Character &amp; World, Style &amp; 3–8 Panels) with live character counter and active mode card.</a:t>
            </a:r>
          </a:p>
        </p:txBody>
      </p:sp>
      <p:sp>
        <p:nvSpPr>
          <p:cNvPr id="16" name="Rounded Rectangle 15"/>
          <p:cNvSpPr/>
          <p:nvPr/>
        </p:nvSpPr>
        <p:spPr>
          <a:xfrm>
            <a:off x="4329683"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683" y="1207008"/>
            <a:ext cx="3529584" cy="822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4275" y="1353312"/>
            <a:ext cx="3200400" cy="329184"/>
          </a:xfrm>
          <a:prstGeom prst="rect">
            <a:avLst/>
          </a:prstGeom>
          <a:noFill/>
        </p:spPr>
        <p:txBody>
          <a:bodyPr wrap="square" anchor="t" lIns="36576" rIns="36576" tIns="18288" bIns="18288">
            <a:spAutoFit/>
          </a:bodyPr>
          <a:lstStyle/>
          <a:p>
            <a:pPr algn="l"/>
            <a:r>
              <a:rPr sz="1300" b="1">
                <a:solidFill>
                  <a:srgbClr val="0F172A"/>
                </a:solidFill>
                <a:latin typeface="Calibri"/>
              </a:rPr>
              <a:t>2. Generated Comic Panels UI</a:t>
            </a:r>
          </a:p>
        </p:txBody>
      </p:sp>
      <p:sp>
        <p:nvSpPr>
          <p:cNvPr id="19" name="Rectangle 18"/>
          <p:cNvSpPr/>
          <p:nvPr/>
        </p:nvSpPr>
        <p:spPr>
          <a:xfrm>
            <a:off x="4475988" y="1755648"/>
            <a:ext cx="3236976" cy="31546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iccraft-comic-panels.png"/>
          <p:cNvPicPr>
            <a:picLocks noChangeAspect="1"/>
          </p:cNvPicPr>
          <p:nvPr/>
        </p:nvPicPr>
        <p:blipFill>
          <a:blip r:embed="rId3"/>
          <a:stretch>
            <a:fillRect/>
          </a:stretch>
        </p:blipFill>
        <p:spPr>
          <a:xfrm>
            <a:off x="4512564" y="2289365"/>
            <a:ext cx="3163824" cy="2087244"/>
          </a:xfrm>
          <a:prstGeom prst="rect">
            <a:avLst/>
          </a:prstGeom>
        </p:spPr>
      </p:pic>
      <p:sp>
        <p:nvSpPr>
          <p:cNvPr id="21" name="TextBox 20"/>
          <p:cNvSpPr txBox="1"/>
          <p:nvPr/>
        </p:nvSpPr>
        <p:spPr>
          <a:xfrm>
            <a:off x="4494275" y="5029200"/>
            <a:ext cx="3200400" cy="1143000"/>
          </a:xfrm>
          <a:prstGeom prst="rect">
            <a:avLst/>
          </a:prstGeom>
          <a:noFill/>
        </p:spPr>
        <p:txBody>
          <a:bodyPr wrap="square" anchor="t" lIns="36576" rIns="36576" tIns="18288" bIns="18288">
            <a:spAutoFit/>
          </a:bodyPr>
          <a:lstStyle/>
          <a:p>
            <a:pPr algn="l"/>
            <a:r>
              <a:rPr sz="1120" b="0">
                <a:solidFill>
                  <a:srgbClr val="334155"/>
                </a:solidFill>
                <a:latin typeface="Calibri"/>
              </a:rPr>
              <a:t>Alternating responsive cards pairing panel artwork, scene summary, caption, narration, dialogue, and provider badge.</a:t>
            </a:r>
          </a:p>
        </p:txBody>
      </p:sp>
      <p:sp>
        <p:nvSpPr>
          <p:cNvPr id="22" name="Rounded Rectangle 21"/>
          <p:cNvSpPr/>
          <p:nvPr/>
        </p:nvSpPr>
        <p:spPr>
          <a:xfrm>
            <a:off x="8110727" y="1207008"/>
            <a:ext cx="3529584" cy="5102352"/>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10727" y="1207008"/>
            <a:ext cx="3529584" cy="8229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1353312"/>
            <a:ext cx="3200400" cy="329184"/>
          </a:xfrm>
          <a:prstGeom prst="rect">
            <a:avLst/>
          </a:prstGeom>
          <a:noFill/>
        </p:spPr>
        <p:txBody>
          <a:bodyPr wrap="square" anchor="t" lIns="36576" rIns="36576" tIns="18288" bIns="18288">
            <a:spAutoFit/>
          </a:bodyPr>
          <a:lstStyle/>
          <a:p>
            <a:pPr algn="l"/>
            <a:r>
              <a:rPr sz="1300" b="1">
                <a:solidFill>
                  <a:srgbClr val="0F172A"/>
                </a:solidFill>
                <a:latin typeface="Calibri"/>
              </a:rPr>
              <a:t>3. Exported A4 Comic PDF</a:t>
            </a:r>
          </a:p>
        </p:txBody>
      </p:sp>
      <p:sp>
        <p:nvSpPr>
          <p:cNvPr id="25" name="Rectangle 24"/>
          <p:cNvSpPr/>
          <p:nvPr/>
        </p:nvSpPr>
        <p:spPr>
          <a:xfrm>
            <a:off x="8257031" y="1755648"/>
            <a:ext cx="3236976" cy="31546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miccraft-pdf-output.png"/>
          <p:cNvPicPr>
            <a:picLocks noChangeAspect="1"/>
          </p:cNvPicPr>
          <p:nvPr/>
        </p:nvPicPr>
        <p:blipFill>
          <a:blip r:embed="rId4"/>
          <a:stretch>
            <a:fillRect/>
          </a:stretch>
        </p:blipFill>
        <p:spPr>
          <a:xfrm>
            <a:off x="8293607" y="2217965"/>
            <a:ext cx="3163824" cy="2230044"/>
          </a:xfrm>
          <a:prstGeom prst="rect">
            <a:avLst/>
          </a:prstGeom>
        </p:spPr>
      </p:pic>
      <p:sp>
        <p:nvSpPr>
          <p:cNvPr id="27" name="TextBox 26"/>
          <p:cNvSpPr txBox="1"/>
          <p:nvPr/>
        </p:nvSpPr>
        <p:spPr>
          <a:xfrm>
            <a:off x="8275319" y="5029200"/>
            <a:ext cx="3200400" cy="1143000"/>
          </a:xfrm>
          <a:prstGeom prst="rect">
            <a:avLst/>
          </a:prstGeom>
          <a:noFill/>
        </p:spPr>
        <p:txBody>
          <a:bodyPr wrap="square" anchor="t" lIns="36576" rIns="36576" tIns="18288" bIns="18288">
            <a:spAutoFit/>
          </a:bodyPr>
          <a:lstStyle/>
          <a:p>
            <a:pPr algn="l"/>
            <a:r>
              <a:rPr sz="1120" b="0">
                <a:solidFill>
                  <a:srgbClr val="334155"/>
                </a:solidFill>
                <a:latin typeface="Calibri"/>
              </a:rPr>
              <a:t>Built with fpdf2 &amp; DejaVu Unicode fonts: styled dark cover page + one aspect-preserved page per panel.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0"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744200" y="274320"/>
            <a:ext cx="896112" cy="329184"/>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44200" y="274320"/>
            <a:ext cx="896112" cy="329184"/>
          </a:xfrm>
          <a:prstGeom prst="rect">
            <a:avLst/>
          </a:prstGeom>
          <a:noFill/>
        </p:spPr>
        <p:txBody>
          <a:bodyPr wrap="square" anchor="ctr" lIns="36576" rIns="36576" tIns="18288" bIns="18288">
            <a:spAutoFit/>
          </a:bodyPr>
          <a:lstStyle/>
          <a:p>
            <a:pPr algn="ctr"/>
            <a:r>
              <a:rPr sz="1100" b="1">
                <a:solidFill>
                  <a:srgbClr val="F59E0B"/>
                </a:solidFill>
                <a:latin typeface="Calibri"/>
              </a:rPr>
              <a:t>10 / 10</a:t>
            </a:r>
          </a:p>
        </p:txBody>
      </p:sp>
      <p:sp>
        <p:nvSpPr>
          <p:cNvPr id="6" name="TextBox 5"/>
          <p:cNvSpPr txBox="1"/>
          <p:nvPr/>
        </p:nvSpPr>
        <p:spPr>
          <a:xfrm>
            <a:off x="548640" y="219456"/>
            <a:ext cx="9966960" cy="438912"/>
          </a:xfrm>
          <a:prstGeom prst="rect">
            <a:avLst/>
          </a:prstGeom>
          <a:noFill/>
        </p:spPr>
        <p:txBody>
          <a:bodyPr wrap="square" anchor="t" lIns="36576" rIns="36576" tIns="18288" bIns="18288">
            <a:spAutoFit/>
          </a:bodyPr>
          <a:lstStyle/>
          <a:p>
            <a:pPr algn="l"/>
            <a:r>
              <a:rPr sz="2500" b="1">
                <a:solidFill>
                  <a:srgbClr val="0F172A"/>
                </a:solidFill>
                <a:latin typeface="Calibri"/>
              </a:rPr>
              <a:t>Testing, Future Enhancements &amp; Conclusion</a:t>
            </a:r>
          </a:p>
        </p:txBody>
      </p:sp>
      <p:sp>
        <p:nvSpPr>
          <p:cNvPr id="7" name="TextBox 6"/>
          <p:cNvSpPr txBox="1"/>
          <p:nvPr/>
        </p:nvSpPr>
        <p:spPr>
          <a:xfrm>
            <a:off x="548640" y="658368"/>
            <a:ext cx="10058400" cy="292608"/>
          </a:xfrm>
          <a:prstGeom prst="rect">
            <a:avLst/>
          </a:prstGeom>
          <a:noFill/>
        </p:spPr>
        <p:txBody>
          <a:bodyPr wrap="square" anchor="t" lIns="36576" rIns="36576" tIns="18288" bIns="18288">
            <a:spAutoFit/>
          </a:bodyPr>
          <a:lstStyle/>
          <a:p>
            <a:pPr algn="l"/>
            <a:r>
              <a:rPr sz="1300" b="0">
                <a:solidFill>
                  <a:srgbClr val="64748B"/>
                </a:solidFill>
                <a:latin typeface="Calibri"/>
              </a:rPr>
              <a:t>Verified offline test suite, roadmap for production scale, and final summary</a:t>
            </a:r>
          </a:p>
        </p:txBody>
      </p:sp>
      <p:sp>
        <p:nvSpPr>
          <p:cNvPr id="8" name="Rectangle 7"/>
          <p:cNvSpPr/>
          <p:nvPr/>
        </p:nvSpPr>
        <p:spPr>
          <a:xfrm>
            <a:off x="548640" y="987552"/>
            <a:ext cx="11094415" cy="16459"/>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772400" cy="228600"/>
          </a:xfrm>
          <a:prstGeom prst="rect">
            <a:avLst/>
          </a:prstGeom>
          <a:noFill/>
        </p:spPr>
        <p:txBody>
          <a:bodyPr wrap="square" anchor="t" lIns="36576" rIns="36576" tIns="18288" bIns="18288">
            <a:spAutoFit/>
          </a:bodyPr>
          <a:lstStyle/>
          <a:p>
            <a:pPr algn="l"/>
            <a:r>
              <a:rPr sz="950" b="0">
                <a:solidFill>
                  <a:srgbClr val="64748B"/>
                </a:solidFill>
                <a:latin typeface="Calibri"/>
              </a:rPr>
              <a:t>ComicCraft – AI Comic Story Creator Using Gemini Models  |  Naan Mudhalvan Project</a:t>
            </a:r>
          </a:p>
        </p:txBody>
      </p:sp>
      <p:sp>
        <p:nvSpPr>
          <p:cNvPr id="10" name="Rounded Rectangle 9"/>
          <p:cNvSpPr/>
          <p:nvPr/>
        </p:nvSpPr>
        <p:spPr>
          <a:xfrm>
            <a:off x="548640" y="1188720"/>
            <a:ext cx="3529584" cy="4133087"/>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3529584"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353312"/>
            <a:ext cx="3163824" cy="329184"/>
          </a:xfrm>
          <a:prstGeom prst="rect">
            <a:avLst/>
          </a:prstGeom>
          <a:noFill/>
        </p:spPr>
        <p:txBody>
          <a:bodyPr wrap="square" anchor="t" lIns="36576" rIns="36576" tIns="18288" bIns="18288">
            <a:spAutoFit/>
          </a:bodyPr>
          <a:lstStyle/>
          <a:p>
            <a:pPr algn="l"/>
            <a:r>
              <a:rPr sz="1300" b="1">
                <a:solidFill>
                  <a:srgbClr val="0D9488"/>
                </a:solidFill>
                <a:latin typeface="Calibri"/>
              </a:rPr>
              <a:t>AUTOMATED TESTING &amp; QA</a:t>
            </a:r>
          </a:p>
        </p:txBody>
      </p:sp>
      <p:sp>
        <p:nvSpPr>
          <p:cNvPr id="13" name="TextBox 12"/>
          <p:cNvSpPr txBox="1"/>
          <p:nvPr/>
        </p:nvSpPr>
        <p:spPr>
          <a:xfrm>
            <a:off x="713232" y="1737360"/>
            <a:ext cx="3200400" cy="3474720"/>
          </a:xfrm>
          <a:prstGeom prst="rect">
            <a:avLst/>
          </a:prstGeom>
          <a:noFill/>
        </p:spPr>
        <p:txBody>
          <a:bodyPr wrap="square" lIns="45720" rIns="45720" tIns="27432" bIns="27432">
            <a:spAutoFit/>
          </a:bodyPr>
          <a:lstStyle/>
          <a:p>
            <a:pPr>
              <a:lnSpc>
                <a:spcPct val="118000"/>
              </a:lnSpc>
              <a:spcAft>
                <a:spcPts val="1000"/>
              </a:spcAft>
            </a:pPr>
            <a:r>
              <a:rPr sz="1150" b="1">
                <a:solidFill>
                  <a:srgbClr val="0D9488"/>
                </a:solidFill>
                <a:latin typeface="Calibri"/>
              </a:rPr>
              <a:t>▪ </a:t>
            </a:r>
            <a:r>
              <a:rPr sz="1150" b="1">
                <a:solidFill>
                  <a:srgbClr val="0F172A"/>
                </a:solidFill>
                <a:latin typeface="Calibri"/>
              </a:rPr>
              <a:t>11 / 11 Pytest Suite PASS: </a:t>
            </a:r>
            <a:r>
              <a:rPr sz="1150" b="0">
                <a:solidFill>
                  <a:srgbClr val="334155"/>
                </a:solidFill>
                <a:latin typeface="Calibri"/>
              </a:rPr>
              <a:t>Runs 100% offline using demo + placeholder providers and mocked Gemini clients—zero paid API calls.</a:t>
            </a:r>
          </a:p>
          <a:p>
            <a:pPr>
              <a:lnSpc>
                <a:spcPct val="118000"/>
              </a:lnSpc>
              <a:spcAft>
                <a:spcPts val="1000"/>
              </a:spcAft>
            </a:pPr>
            <a:r>
              <a:rPr sz="1150" b="1">
                <a:solidFill>
                  <a:srgbClr val="0D9488"/>
                </a:solidFill>
                <a:latin typeface="Calibri"/>
              </a:rPr>
              <a:t>▪ </a:t>
            </a:r>
            <a:r>
              <a:rPr sz="1150" b="1">
                <a:solidFill>
                  <a:srgbClr val="0F172A"/>
                </a:solidFill>
                <a:latin typeface="Calibri"/>
              </a:rPr>
              <a:t>~80% Code Coverage: </a:t>
            </a:r>
            <a:r>
              <a:rPr sz="1150" b="0">
                <a:solidFill>
                  <a:srgbClr val="334155"/>
                </a:solidFill>
                <a:latin typeface="Calibri"/>
              </a:rPr>
              <a:t>99% coverage on pdf_service.py, 95% on config.py, and 93% on main.py.</a:t>
            </a:r>
          </a:p>
          <a:p>
            <a:pPr>
              <a:lnSpc>
                <a:spcPct val="118000"/>
              </a:lnSpc>
              <a:spcAft>
                <a:spcPts val="1000"/>
              </a:spcAft>
            </a:pPr>
            <a:r>
              <a:rPr sz="1150" b="1">
                <a:solidFill>
                  <a:srgbClr val="0D9488"/>
                </a:solidFill>
                <a:latin typeface="Calibri"/>
              </a:rPr>
              <a:t>▪ </a:t>
            </a:r>
            <a:r>
              <a:rPr sz="1150" b="1">
                <a:solidFill>
                  <a:srgbClr val="0F172A"/>
                </a:solidFill>
                <a:latin typeface="Calibri"/>
              </a:rPr>
              <a:t>End-to-End Verified: </a:t>
            </a:r>
            <a:r>
              <a:rPr sz="1150" b="0">
                <a:solidFill>
                  <a:srgbClr val="334155"/>
                </a:solidFill>
                <a:latin typeface="Calibri"/>
              </a:rPr>
              <a:t>Tested /health, HTML form flow, REST 201 JSON lifecycle, PDF export, 422/404 handling, and 503/404 fallbacks.</a:t>
            </a:r>
          </a:p>
        </p:txBody>
      </p:sp>
      <p:sp>
        <p:nvSpPr>
          <p:cNvPr id="14" name="Rounded Rectangle 13"/>
          <p:cNvSpPr/>
          <p:nvPr/>
        </p:nvSpPr>
        <p:spPr>
          <a:xfrm>
            <a:off x="4329683" y="1188720"/>
            <a:ext cx="3529584" cy="4133087"/>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9683" y="1188720"/>
            <a:ext cx="3529584"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2564" y="1353312"/>
            <a:ext cx="3163824" cy="329184"/>
          </a:xfrm>
          <a:prstGeom prst="rect">
            <a:avLst/>
          </a:prstGeom>
          <a:noFill/>
        </p:spPr>
        <p:txBody>
          <a:bodyPr wrap="square" anchor="t" lIns="36576" rIns="36576" tIns="18288" bIns="18288">
            <a:spAutoFit/>
          </a:bodyPr>
          <a:lstStyle/>
          <a:p>
            <a:pPr algn="l"/>
            <a:r>
              <a:rPr sz="1300" b="1">
                <a:solidFill>
                  <a:srgbClr val="2563EB"/>
                </a:solidFill>
                <a:latin typeface="Calibri"/>
              </a:rPr>
              <a:t>FUTURE ENHANCEMENTS</a:t>
            </a:r>
          </a:p>
        </p:txBody>
      </p:sp>
      <p:sp>
        <p:nvSpPr>
          <p:cNvPr id="17" name="TextBox 16"/>
          <p:cNvSpPr txBox="1"/>
          <p:nvPr/>
        </p:nvSpPr>
        <p:spPr>
          <a:xfrm>
            <a:off x="4494275" y="1737360"/>
            <a:ext cx="3200400" cy="3474720"/>
          </a:xfrm>
          <a:prstGeom prst="rect">
            <a:avLst/>
          </a:prstGeom>
          <a:noFill/>
        </p:spPr>
        <p:txBody>
          <a:bodyPr wrap="square" lIns="45720" rIns="45720" tIns="27432" bIns="27432">
            <a:spAutoFit/>
          </a:bodyPr>
          <a:lstStyle/>
          <a:p>
            <a:pPr>
              <a:lnSpc>
                <a:spcPct val="118000"/>
              </a:lnSpc>
              <a:spcAft>
                <a:spcPts val="1000"/>
              </a:spcAft>
            </a:pPr>
            <a:r>
              <a:rPr sz="1150" b="1">
                <a:solidFill>
                  <a:srgbClr val="0D9488"/>
                </a:solidFill>
                <a:latin typeface="Calibri"/>
              </a:rPr>
              <a:t>▪ </a:t>
            </a:r>
            <a:r>
              <a:rPr sz="1150" b="1">
                <a:solidFill>
                  <a:srgbClr val="0F172A"/>
                </a:solidFill>
                <a:latin typeface="Calibri"/>
              </a:rPr>
              <a:t>Async Background Queue: </a:t>
            </a:r>
            <a:r>
              <a:rPr sz="1150" b="0">
                <a:solidFill>
                  <a:srgbClr val="334155"/>
                </a:solidFill>
                <a:latin typeface="Calibri"/>
              </a:rPr>
              <a:t>Add Celery/Redis task queues with live progress polling for multi-minute diffusion generations.</a:t>
            </a:r>
          </a:p>
          <a:p>
            <a:pPr>
              <a:lnSpc>
                <a:spcPct val="118000"/>
              </a:lnSpc>
              <a:spcAft>
                <a:spcPts val="1000"/>
              </a:spcAft>
            </a:pPr>
            <a:r>
              <a:rPr sz="1150" b="1">
                <a:solidFill>
                  <a:srgbClr val="0D9488"/>
                </a:solidFill>
                <a:latin typeface="Calibri"/>
              </a:rPr>
              <a:t>▪ </a:t>
            </a:r>
            <a:r>
              <a:rPr sz="1150" b="1">
                <a:solidFill>
                  <a:srgbClr val="0F172A"/>
                </a:solidFill>
                <a:latin typeface="Calibri"/>
              </a:rPr>
              <a:t>Cloud Auth &amp; Storage: </a:t>
            </a:r>
            <a:r>
              <a:rPr sz="1150" b="0">
                <a:solidFill>
                  <a:srgbClr val="334155"/>
                </a:solidFill>
                <a:latin typeface="Calibri"/>
              </a:rPr>
              <a:t>Add user login, quotas, PostgreSQL metadata, and AWS S3 object storage for multi-user deployment.</a:t>
            </a:r>
          </a:p>
          <a:p>
            <a:pPr>
              <a:lnSpc>
                <a:spcPct val="118000"/>
              </a:lnSpc>
              <a:spcAft>
                <a:spcPts val="1000"/>
              </a:spcAft>
            </a:pPr>
            <a:r>
              <a:rPr sz="1150" b="1">
                <a:solidFill>
                  <a:srgbClr val="0D9488"/>
                </a:solidFill>
                <a:latin typeface="Calibri"/>
              </a:rPr>
              <a:t>▪ </a:t>
            </a:r>
            <a:r>
              <a:rPr sz="1150" b="1">
                <a:solidFill>
                  <a:srgbClr val="0F172A"/>
                </a:solidFill>
                <a:latin typeface="Calibri"/>
              </a:rPr>
              <a:t>Rich Editing &amp; Regional UI: </a:t>
            </a:r>
            <a:r>
              <a:rPr sz="1150" b="0">
                <a:solidFill>
                  <a:srgbClr val="334155"/>
                </a:solidFill>
                <a:latin typeface="Calibri"/>
              </a:rPr>
              <a:t>Support single-panel regeneration, multi-panel comic grid layouts, and Tamil language comic scripts.</a:t>
            </a:r>
          </a:p>
        </p:txBody>
      </p:sp>
      <p:sp>
        <p:nvSpPr>
          <p:cNvPr id="18" name="Rounded Rectangle 17"/>
          <p:cNvSpPr/>
          <p:nvPr/>
        </p:nvSpPr>
        <p:spPr>
          <a:xfrm>
            <a:off x="8110727" y="1188720"/>
            <a:ext cx="3529584" cy="4133087"/>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188720"/>
            <a:ext cx="3529584"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7" y="1353312"/>
            <a:ext cx="3163824" cy="329184"/>
          </a:xfrm>
          <a:prstGeom prst="rect">
            <a:avLst/>
          </a:prstGeom>
          <a:noFill/>
        </p:spPr>
        <p:txBody>
          <a:bodyPr wrap="square" anchor="t" lIns="36576" rIns="36576" tIns="18288" bIns="18288">
            <a:spAutoFit/>
          </a:bodyPr>
          <a:lstStyle/>
          <a:p>
            <a:pPr algn="l"/>
            <a:r>
              <a:rPr sz="1300" b="1">
                <a:solidFill>
                  <a:srgbClr val="B45309"/>
                </a:solidFill>
                <a:latin typeface="Calibri"/>
              </a:rPr>
              <a:t>CONCLUSION</a:t>
            </a:r>
          </a:p>
        </p:txBody>
      </p:sp>
      <p:sp>
        <p:nvSpPr>
          <p:cNvPr id="21" name="TextBox 20"/>
          <p:cNvSpPr txBox="1"/>
          <p:nvPr/>
        </p:nvSpPr>
        <p:spPr>
          <a:xfrm>
            <a:off x="8275319" y="1737360"/>
            <a:ext cx="3200400" cy="3474720"/>
          </a:xfrm>
          <a:prstGeom prst="rect">
            <a:avLst/>
          </a:prstGeom>
          <a:noFill/>
        </p:spPr>
        <p:txBody>
          <a:bodyPr wrap="square" lIns="45720" rIns="45720" tIns="27432" bIns="27432">
            <a:spAutoFit/>
          </a:bodyPr>
          <a:lstStyle/>
          <a:p>
            <a:pPr>
              <a:lnSpc>
                <a:spcPct val="118000"/>
              </a:lnSpc>
              <a:spcAft>
                <a:spcPts val="1000"/>
              </a:spcAft>
            </a:pPr>
            <a:r>
              <a:rPr sz="1150" b="1">
                <a:solidFill>
                  <a:srgbClr val="0D9488"/>
                </a:solidFill>
                <a:latin typeface="Calibri"/>
              </a:rPr>
              <a:t>▪ </a:t>
            </a:r>
            <a:r>
              <a:rPr sz="1150" b="1">
                <a:solidFill>
                  <a:srgbClr val="0F172A"/>
                </a:solidFill>
                <a:latin typeface="Calibri"/>
              </a:rPr>
              <a:t>Complete Integrated Product: </a:t>
            </a:r>
            <a:r>
              <a:rPr sz="1150" b="0">
                <a:solidFill>
                  <a:srgbClr val="334155"/>
                </a:solidFill>
                <a:latin typeface="Calibri"/>
              </a:rPr>
              <a:t>Transforms a one-line story idea into a previewed, illustrated, A4 PDF comic book in one workflow.</a:t>
            </a:r>
          </a:p>
          <a:p>
            <a:pPr>
              <a:lnSpc>
                <a:spcPct val="118000"/>
              </a:lnSpc>
              <a:spcAft>
                <a:spcPts val="1000"/>
              </a:spcAft>
            </a:pPr>
            <a:r>
              <a:rPr sz="1150" b="1">
                <a:solidFill>
                  <a:srgbClr val="0D9488"/>
                </a:solidFill>
                <a:latin typeface="Calibri"/>
              </a:rPr>
              <a:t>▪ </a:t>
            </a:r>
            <a:r>
              <a:rPr sz="1150" b="1">
                <a:solidFill>
                  <a:srgbClr val="0F172A"/>
                </a:solidFill>
                <a:latin typeface="Calibri"/>
              </a:rPr>
              <a:t>Production-Grade AI Patterns: </a:t>
            </a:r>
            <a:r>
              <a:rPr sz="1150" b="0">
                <a:solidFill>
                  <a:srgbClr val="334155"/>
                </a:solidFill>
                <a:latin typeface="Calibri"/>
              </a:rPr>
              <a:t>Replaces brittle text splitting with Pydantic v2 JSON validation and Character Bible visual continuity.</a:t>
            </a:r>
          </a:p>
          <a:p>
            <a:pPr>
              <a:lnSpc>
                <a:spcPct val="118000"/>
              </a:lnSpc>
              <a:spcAft>
                <a:spcPts val="1000"/>
              </a:spcAft>
            </a:pPr>
            <a:r>
              <a:rPr sz="1150" b="1">
                <a:solidFill>
                  <a:srgbClr val="0D9488"/>
                </a:solidFill>
                <a:latin typeface="Calibri"/>
              </a:rPr>
              <a:t>▪ </a:t>
            </a:r>
            <a:r>
              <a:rPr sz="1150" b="1">
                <a:solidFill>
                  <a:srgbClr val="0F172A"/>
                </a:solidFill>
                <a:latin typeface="Calibri"/>
              </a:rPr>
              <a:t>Always Demonstrable: </a:t>
            </a:r>
            <a:r>
              <a:rPr sz="1150" b="0">
                <a:solidFill>
                  <a:srgbClr val="334155"/>
                </a:solidFill>
                <a:latin typeface="Calibri"/>
              </a:rPr>
              <a:t>Layered retries and offline fallbacks guarantee smooth operation with or without external API credentials.</a:t>
            </a:r>
          </a:p>
        </p:txBody>
      </p:sp>
      <p:sp>
        <p:nvSpPr>
          <p:cNvPr id="22" name="Rounded Rectangle 21"/>
          <p:cNvSpPr/>
          <p:nvPr/>
        </p:nvSpPr>
        <p:spPr>
          <a:xfrm>
            <a:off x="548640" y="5504688"/>
            <a:ext cx="11091672" cy="859536"/>
          </a:xfrm>
          <a:prstGeom prst="roundRect">
            <a:avLst>
              <a:gd name="adj" fmla="val 4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504688"/>
            <a:ext cx="128016" cy="85953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577840"/>
            <a:ext cx="6720840" cy="402336"/>
          </a:xfrm>
          <a:prstGeom prst="rect">
            <a:avLst/>
          </a:prstGeom>
          <a:noFill/>
        </p:spPr>
        <p:txBody>
          <a:bodyPr wrap="square" anchor="t" lIns="36576" rIns="36576" tIns="18288" bIns="18288">
            <a:spAutoFit/>
          </a:bodyPr>
          <a:lstStyle/>
          <a:p>
            <a:pPr algn="l"/>
            <a:r>
              <a:rPr sz="1550" b="1">
                <a:solidFill>
                  <a:srgbClr val="FFFFFF"/>
                </a:solidFill>
                <a:latin typeface="Calibri"/>
              </a:rPr>
              <a:t>Thank You!  —  Questions &amp; Live Demo Welcome</a:t>
            </a:r>
          </a:p>
        </p:txBody>
      </p:sp>
      <p:sp>
        <p:nvSpPr>
          <p:cNvPr id="25" name="TextBox 24"/>
          <p:cNvSpPr txBox="1"/>
          <p:nvPr/>
        </p:nvSpPr>
        <p:spPr>
          <a:xfrm>
            <a:off x="868680" y="5971032"/>
            <a:ext cx="6720840" cy="310896"/>
          </a:xfrm>
          <a:prstGeom prst="rect">
            <a:avLst/>
          </a:prstGeom>
          <a:noFill/>
        </p:spPr>
        <p:txBody>
          <a:bodyPr wrap="square" anchor="t" lIns="36576" rIns="36576" tIns="18288" bIns="18288">
            <a:spAutoFit/>
          </a:bodyPr>
          <a:lstStyle/>
          <a:p>
            <a:pPr algn="l"/>
            <a:r>
              <a:rPr sz="1100" b="1">
                <a:solidFill>
                  <a:srgbClr val="2DD4BF"/>
                </a:solidFill>
                <a:latin typeface="Calibri"/>
              </a:rPr>
              <a:t>Run Live Demo:  uvicorn app.main:app --host 0.0.0.0 --port 8000</a:t>
            </a:r>
          </a:p>
        </p:txBody>
      </p:sp>
      <p:sp>
        <p:nvSpPr>
          <p:cNvPr id="26" name="TextBox 25"/>
          <p:cNvSpPr txBox="1"/>
          <p:nvPr/>
        </p:nvSpPr>
        <p:spPr>
          <a:xfrm>
            <a:off x="7498079" y="5504688"/>
            <a:ext cx="3931920" cy="859536"/>
          </a:xfrm>
          <a:prstGeom prst="rect">
            <a:avLst/>
          </a:prstGeom>
          <a:noFill/>
        </p:spPr>
        <p:txBody>
          <a:bodyPr wrap="square" anchor="ctr" lIns="36576" rIns="36576" tIns="18288" bIns="18288">
            <a:spAutoFit/>
          </a:bodyPr>
          <a:lstStyle/>
          <a:p>
            <a:pPr algn="r"/>
            <a:r>
              <a:rPr sz="1080" b="1">
                <a:solidFill>
                  <a:srgbClr val="F59E0B"/>
                </a:solidFill>
                <a:latin typeface="Calibri"/>
              </a:rPr>
              <a:t>Routes:  /  ·  /comics/{id}  ·  /download/{id}  ·  /docs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