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Greet the panel and state the exact project title. One-line pitch: the app takes a single story sentence and produces a complete comic — outline, script, per-panel art, browser preview and PDF. Emphasise the title's promise: Gemini models do the writing; a pluggable image layer does the art. Mention that everything shown comes from the actual repository (version 1.0.0) and that the demo runs without API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input brief and the four pipeline stages exactly as the app presents them on its home page (Plan / Write / Illustrate / Publish card in index.html). Stress dual surface: the same pipeline serves the HTML form and the versioned JSON API. Persistence with UUID workspaces means demos can reopen any previously generated comic.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seven problems are literally documented in the repository's PROJECT_ANALYSIS.md as the review of the supplied design. They justify every architectural decision shown later: structured output, configurable models, character bible, demo provider, fallbacks, UUID workspaces, and the test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objective maps to repository evidence: validation (schemas.py), two-stage flow (llm.py), character bible (ComicOutline), providers+seeds (images.py), fallbacks (Resilient* services + ProviderInfo), persistence (repository.py), offline tests (tests/conftest.py). Keep this slide short — it sets up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fairly: the supplied design had the correct pipeline shape; the implementation simply hardened it. PROJECT_ANALYSIS.md lists all ten gaps verbatim — invite examiners to read it. This slide justifies the 'proposed system'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each bullet back to the problem slide. The differentiator is honesty: users always know which provider made their comic and when a fallback happened, which is rare in demo AI apps. Mention ProviderInfo in ComicResult.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the default path needs no GPU and no API keys — only ~250 MB of Python packages. Gemini and Hugging Face keys come from the user's own accounts via .env. Local diffusers is the only GPU-hungry option and is lazy-loaded. Full requirement tables (FR/NFR with IDs) exist in Phase 2 of the submission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right: browser/JSON clients hit routing + middleware (security headers, timing) with typed error handling; all generation goes through ComicService in the thread pool; story and image services each pick a provider based on .env; PDF service typesets with fpdf2; repository persists to UUID workspaces. External calls are only Gemini (text) and Hugging Face (hosted art) — everything else is local and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Justify choices: FastAPI gives free interactive docs (used in the demo at /docs); Pydantic unifies input and AI-output validation; fpdf2 with bundled fonts makes PDFs identical across machines; pytest fixtures force offline mode so CI never spends money. Versions are pinned with upper bounds in requirements.txt.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six code-level talking points examiners most often probe. If asked to show code, open app/services/llm.py::_generate_json (retry/model-switch), images.py::generate_panel (seed+fallback), and repository.py::save (atomic write). Speaker can quote line-level behaviour confidently.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pytest summary line if asked ('11 passed in 1.34s'). Emphasise covers: mocked Gemini client proves 503 retry-with-backoff and 404 immediate model switch; live fallback runs produced real warning text. The not-executed register is a deliberate honesty feature of the test report (Test_Cases.xlsx sheet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numbers on this slide are measured: HTTP statuses, byte counts, page counts and the comic id were captured on 23 Sep 2026. The cosmetic notes show engineering maturity — we log even cosmetic findings instead of hiding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a real placeholder-mode panel (Pillow-rendered: gradient sky, halftone dots, comic rays, hero silhouette, caption card, panel badge). Centre: the same panel inside the exported PDF with caption, narration and dialogue. Right: the PDF's dark cover page. Live Gemini/HF screenshots are not shown because the review environment has no credentials — said openly rather than mocked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strictly to not-yet-implemented items — several come straight from the README's own production checklist, which shows self-awareness in the repo. Do not present these as existing features in the viva.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confidently: the project proves that reliability engineering (contracts, fallbacks, transparency) is the difference between an AI demo and an AI product. Offer the live demo — it runs offline, so nothing in the demo can fail due to network or keys. Invite examiners to try /docs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ComicCraft – AI Comic Story Creator Using Gemini Models</a:t>
            </a:r>
          </a:p>
          <a:p>
            <a:pPr>
              <a:spcBef>
                <a:spcPts val="1800"/>
              </a:spcBef>
            </a:pPr>
            <a:r>
              <a:rPr sz="1800">
                <a:solidFill>
                  <a:srgbClr val="2DC9BE"/>
                </a:solidFill>
              </a:rPr>
              <a:t>One sentence in. A validated, illustrated, PDF-exportable comic out.</a:t>
            </a:r>
          </a:p>
          <a:p>
            <a:pPr>
              <a:spcBef>
                <a:spcPts val="2600"/>
              </a:spcBef>
            </a:pPr>
            <a:r>
              <a:rPr sz="1300">
                <a:solidFill>
                  <a:srgbClr val="C8D1DD"/>
                </a:solidFill>
              </a:rPr>
              <a:t>FastAPI · Google Gemini (two-stage structured generation) · Pluggable image providers · fpdf2 PDF export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8F9AAD"/>
                </a:solidFill>
              </a:rPr>
              <a:t>Final project presentation · Based entirely on the GitHub repository gokulraj0708/ComicCraft v1.0.0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90000"/>
            <a:ext cx="11155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30000"/>
            <a:ext cx="2011680" cy="50800"/>
          </a:xfrm>
          <a:prstGeom prst="rect">
            <a:avLst/>
          </a:prstGeom>
          <a:solidFill>
            <a:srgbClr val="2D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70000"/>
            <a:ext cx="1115568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F6E"/>
                </a:solidFill>
              </a:rPr>
              <a:t>What ComicCraft is and how it works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00000"/>
            <a:ext cx="11003280" cy="5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168C88"/>
                </a:solidFill>
              </a:rPr>
              <a:t>▪ </a:t>
            </a:r>
            <a:r>
              <a:rPr sz="1450" b="1">
                <a:solidFill>
                  <a:srgbClr val="10182E"/>
                </a:solidFill>
              </a:rPr>
              <a:t>What it is: </a:t>
            </a:r>
            <a:r>
              <a:rPr sz="1450">
                <a:solidFill>
                  <a:srgbClr val="333333"/>
                </a:solidFill>
              </a:rPr>
              <a:t>A FastAPI web application that converts a one-sentence story idea into a 3–8 panel comic with preview + PDF export.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68C88"/>
                </a:solidFill>
              </a:rPr>
              <a:t>▪ </a:t>
            </a:r>
            <a:r>
              <a:rPr sz="1450" b="1">
                <a:solidFill>
                  <a:srgbClr val="10182E"/>
                </a:solidFill>
              </a:rPr>
              <a:t>User inputs: </a:t>
            </a:r>
            <a:r>
              <a:rPr sz="1450">
                <a:solidFill>
                  <a:srgbClr val="333333"/>
                </a:solidFill>
              </a:rPr>
              <a:t>story idea, main character, setting, tone, art style, panel count — via browser form or JSON API.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68C88"/>
                </a:solidFill>
              </a:rPr>
              <a:t>▪ </a:t>
            </a:r>
            <a:r>
              <a:rPr sz="1450" b="1">
                <a:solidFill>
                  <a:srgbClr val="10182E"/>
                </a:solidFill>
              </a:rPr>
              <a:t>Four-step pipeline (shown in the app's own UI): </a:t>
            </a:r>
            <a:r>
              <a:rPr sz="1450">
                <a:solidFill>
                  <a:srgbClr val="333333"/>
                </a:solidFill>
              </a:rPr>
              <a:t>Plan → Write → Illustrate → Publish.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68C88"/>
                </a:solidFill>
              </a:rPr>
              <a:t>▪ </a:t>
            </a:r>
            <a:r>
              <a:rPr sz="1450" b="1">
                <a:solidFill>
                  <a:srgbClr val="10182E"/>
                </a:solidFill>
              </a:rPr>
              <a:t>Writing: </a:t>
            </a:r>
            <a:r>
              <a:rPr sz="1450">
                <a:solidFill>
                  <a:srgbClr val="333333"/>
                </a:solidFill>
              </a:rPr>
              <a:t>two-stage Google Gemini workflow (outline model then story model) returning validated JSON.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68C88"/>
                </a:solidFill>
              </a:rPr>
              <a:t>▪ </a:t>
            </a:r>
            <a:r>
              <a:rPr sz="1450" b="1">
                <a:solidFill>
                  <a:srgbClr val="10182E"/>
                </a:solidFill>
              </a:rPr>
              <a:t>Illustration: </a:t>
            </a:r>
            <a:r>
              <a:rPr sz="1450">
                <a:solidFill>
                  <a:srgbClr val="333333"/>
                </a:solidFill>
              </a:rPr>
              <a:t>selectable image provider — placeholder (offline Pillow art), hosted Hugging Face SDXL, or local Stable Diffusion (diffusers).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68C88"/>
                </a:solidFill>
              </a:rPr>
              <a:t>▪ </a:t>
            </a:r>
            <a:r>
              <a:rPr sz="1450" b="1">
                <a:solidFill>
                  <a:srgbClr val="10182E"/>
                </a:solidFill>
              </a:rPr>
              <a:t>Delivery: </a:t>
            </a:r>
            <a:r>
              <a:rPr sz="1450">
                <a:solidFill>
                  <a:srgbClr val="333333"/>
                </a:solidFill>
              </a:rPr>
              <a:t>responsive web preview + A4 PDF via fpdf2; every comic persisted with a UUID manifest for reopening.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98000"/>
            <a:ext cx="109728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E"/>
                </a:solidFill>
              </a:rPr>
              <a:t>ComicCraft – AI Comic Story Creator Using Gemini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90000"/>
            <a:ext cx="11155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30000"/>
            <a:ext cx="2011680" cy="50800"/>
          </a:xfrm>
          <a:prstGeom prst="rect">
            <a:avLst/>
          </a:prstGeom>
          <a:solidFill>
            <a:srgbClr val="2D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70000"/>
            <a:ext cx="1115568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F6E"/>
                </a:solidFill>
              </a:rPr>
              <a:t>Why naive AI comic generation breaks (PROJECT_ANALYSIS.md)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00000"/>
            <a:ext cx="11003280" cy="5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 b="1">
                <a:solidFill>
                  <a:srgbClr val="10182E"/>
                </a:solidFill>
              </a:rPr>
              <a:t>Fragile parsing: </a:t>
            </a:r>
            <a:r>
              <a:rPr sz="1400">
                <a:solidFill>
                  <a:srgbClr val="333333"/>
                </a:solidFill>
              </a:rPr>
              <a:t>original snippets stripped Markdown fences and split text on '**Panel' — any format drift breaks the app.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 b="1">
                <a:solidFill>
                  <a:srgbClr val="10182E"/>
                </a:solidFill>
              </a:rPr>
              <a:t>Stale model IDs: </a:t>
            </a:r>
            <a:r>
              <a:rPr sz="1400">
                <a:solidFill>
                  <a:srgbClr val="333333"/>
                </a:solidFill>
              </a:rPr>
              <a:t>hard-coded Gemini 1.5 names; providers rename models regularly.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 b="1">
                <a:solidFill>
                  <a:srgbClr val="10182E"/>
                </a:solidFill>
              </a:rPr>
              <a:t>Character drift: </a:t>
            </a:r>
            <a:r>
              <a:rPr sz="1400">
                <a:solidFill>
                  <a:srgbClr val="333333"/>
                </a:solidFill>
              </a:rPr>
              <a:t>independent image prompts change the hero's look between panels.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 b="1">
                <a:solidFill>
                  <a:srgbClr val="10182E"/>
                </a:solidFill>
              </a:rPr>
              <a:t>No offline path: </a:t>
            </a:r>
            <a:r>
              <a:rPr sz="1400">
                <a:solidFill>
                  <a:srgbClr val="333333"/>
                </a:solidFill>
              </a:rPr>
              <a:t>original design could not run or be tested without paid services.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 b="1">
                <a:solidFill>
                  <a:srgbClr val="10182E"/>
                </a:solidFill>
              </a:rPr>
              <a:t>Weak failure handling: </a:t>
            </a:r>
            <a:r>
              <a:rPr sz="1400">
                <a:solidFill>
                  <a:srgbClr val="333333"/>
                </a:solidFill>
              </a:rPr>
              <a:t>raw provider errors aborted the whole request.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 b="1">
                <a:solidFill>
                  <a:srgbClr val="10182E"/>
                </a:solidFill>
              </a:rPr>
              <a:t>Unsafe output handling: </a:t>
            </a:r>
            <a:r>
              <a:rPr sz="1400">
                <a:solidFill>
                  <a:srgbClr val="333333"/>
                </a:solidFill>
              </a:rPr>
              <a:t>prompt-based filenames + timestamp collisions; no manifests, no reopen capability.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 b="1">
                <a:solidFill>
                  <a:srgbClr val="10182E"/>
                </a:solidFill>
              </a:rPr>
              <a:t>Nothing to verify with: </a:t>
            </a:r>
            <a:r>
              <a:rPr sz="1400">
                <a:solidFill>
                  <a:srgbClr val="333333"/>
                </a:solidFill>
              </a:rPr>
              <a:t>no tests, no Docker, no editor configuration.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98000"/>
            <a:ext cx="109728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E"/>
                </a:solidFill>
              </a:rPr>
              <a:t>ComicCraft – AI Comic Story Creator Using Gemini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90000"/>
            <a:ext cx="11155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30000"/>
            <a:ext cx="2011680" cy="50800"/>
          </a:xfrm>
          <a:prstGeom prst="rect">
            <a:avLst/>
          </a:prstGeom>
          <a:solidFill>
            <a:srgbClr val="2D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70000"/>
            <a:ext cx="1115568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F6E"/>
                </a:solidFill>
              </a:rPr>
              <a:t>Measurable goals the implementation had to meet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00000"/>
            <a:ext cx="11003280" cy="5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>
                <a:solidFill>
                  <a:srgbClr val="333333"/>
                </a:solidFill>
              </a:rPr>
              <a:t>Accept a small validated brief and generate a 3–8 panel comic in one request.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>
                <a:solidFill>
                  <a:srgbClr val="333333"/>
                </a:solidFill>
              </a:rPr>
              <a:t>Two-stage Gemini generation with Pydantic-validated JSON (count + sequence enforced).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>
                <a:solidFill>
                  <a:srgbClr val="333333"/>
                </a:solidFill>
              </a:rPr>
              <a:t>Character continuity via a character bible repeated in every image prompt.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>
                <a:solidFill>
                  <a:srgbClr val="333333"/>
                </a:solidFill>
              </a:rPr>
              <a:t>Three interchangeable image providers with deterministic per-panel seeds.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>
                <a:solidFill>
                  <a:srgbClr val="333333"/>
                </a:solidFill>
              </a:rPr>
              <a:t>Visible resilience: retry+backoff, model fallback, offline demo story fallback, labelled placeholder panel fallback.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>
                <a:solidFill>
                  <a:srgbClr val="333333"/>
                </a:solidFill>
              </a:rPr>
              <a:t>Persist panels/PDF/manifest; reopen by UUID; export print-ready A4 PDF.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>
                <a:solidFill>
                  <a:srgbClr val="333333"/>
                </a:solidFill>
              </a:rPr>
              <a:t>Run fully offline by default; pass an automated test suite without network access.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98000"/>
            <a:ext cx="109728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E"/>
                </a:solidFill>
              </a:rPr>
              <a:t>ComicCraft – AI Comic Story Creator Using Gemini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90000"/>
            <a:ext cx="11155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Existing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30000"/>
            <a:ext cx="2011680" cy="50800"/>
          </a:xfrm>
          <a:prstGeom prst="rect">
            <a:avLst/>
          </a:prstGeom>
          <a:solidFill>
            <a:srgbClr val="2D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70000"/>
            <a:ext cx="1115568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F6E"/>
                </a:solidFill>
              </a:rPr>
              <a:t>Conventional practice + the supplied partial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00000"/>
            <a:ext cx="11003280" cy="5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 b="1">
                <a:solidFill>
                  <a:srgbClr val="10182E"/>
                </a:solidFill>
              </a:rPr>
              <a:t>Manual comics: </a:t>
            </a:r>
            <a:r>
              <a:rPr sz="1400">
                <a:solidFill>
                  <a:srgbClr val="333333"/>
                </a:solidFill>
              </a:rPr>
              <a:t>writer + illustrator + layout designer — slow and skill-gated.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 b="1">
                <a:solidFill>
                  <a:srgbClr val="10182E"/>
                </a:solidFill>
              </a:rPr>
              <a:t>Chat-style AI use: </a:t>
            </a:r>
            <a:r>
              <a:rPr sz="1400">
                <a:solidFill>
                  <a:srgbClr val="333333"/>
                </a:solidFill>
              </a:rPr>
              <a:t>unstructured prose — cannot drive a reliable panel pipeline.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 b="1">
                <a:solidFill>
                  <a:srgbClr val="10182E"/>
                </a:solidFill>
              </a:rPr>
              <a:t>Supplied design (documented): </a:t>
            </a:r>
            <a:r>
              <a:rPr sz="1400">
                <a:solidFill>
                  <a:srgbClr val="333333"/>
                </a:solidFill>
              </a:rPr>
              <a:t>right shape — FastAPI form, fast Gemini outline model, stronger story model, SD image per panel, PDF — but delivered as incomplete snippets.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 b="1">
                <a:solidFill>
                  <a:srgbClr val="10182E"/>
                </a:solidFill>
              </a:rPr>
              <a:t>Its gaps: </a:t>
            </a:r>
            <a:r>
              <a:rPr sz="1400">
                <a:solidFill>
                  <a:srgbClr val="333333"/>
                </a:solidFill>
              </a:rPr>
              <a:t>missing imports/config/schemas/templates; brittle text splitting; outdated model IDs; no continuity mechanism; no offline mode; no fallbacks; unsafe filenames; no persistence; no tests/deployment files.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 b="1">
                <a:solidFill>
                  <a:srgbClr val="10182E"/>
                </a:solidFill>
              </a:rPr>
              <a:t>Conclusion: </a:t>
            </a:r>
            <a:r>
              <a:rPr sz="1400">
                <a:solidFill>
                  <a:srgbClr val="333333"/>
                </a:solidFill>
              </a:rPr>
              <a:t>a validated, runnable, testable rebuild was required — this repository.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98000"/>
            <a:ext cx="109728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E"/>
                </a:solidFill>
              </a:rPr>
              <a:t>ComicCraft – AI Comic Story Creator Using Gemini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90000"/>
            <a:ext cx="11155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30000"/>
            <a:ext cx="2011680" cy="50800"/>
          </a:xfrm>
          <a:prstGeom prst="rect">
            <a:avLst/>
          </a:prstGeom>
          <a:solidFill>
            <a:srgbClr val="2D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70000"/>
            <a:ext cx="1115568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F6E"/>
                </a:solidFill>
              </a:rPr>
              <a:t>ComicCraft as implemented in the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00000"/>
            <a:ext cx="11003280" cy="5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 b="1">
                <a:solidFill>
                  <a:srgbClr val="10182E"/>
                </a:solidFill>
              </a:rPr>
              <a:t>Contracts first: </a:t>
            </a:r>
            <a:r>
              <a:rPr sz="1400">
                <a:solidFill>
                  <a:srgbClr val="333333"/>
                </a:solidFill>
              </a:rPr>
              <a:t>Pydantic models validate user input, AI output and API payloads.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 b="1">
                <a:solidFill>
                  <a:srgbClr val="10182E"/>
                </a:solidFill>
              </a:rPr>
              <a:t>Two-stage Gemini: </a:t>
            </a:r>
            <a:r>
              <a:rPr sz="1400">
                <a:solidFill>
                  <a:srgbClr val="333333"/>
                </a:solidFill>
              </a:rPr>
              <a:t>outline → script with JSON mode, retries, jitter, and model fallback lists from .env.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 b="1">
                <a:solidFill>
                  <a:srgbClr val="10182E"/>
                </a:solidFill>
              </a:rPr>
              <a:t>Provider abstraction: </a:t>
            </a:r>
            <a:r>
              <a:rPr sz="1400">
                <a:solidFill>
                  <a:srgbClr val="333333"/>
                </a:solidFill>
              </a:rPr>
              <a:t>placeholder / Hugging Face / diffusers behind one Protocol; sha256-derived per-panel seeds.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 b="1">
                <a:solidFill>
                  <a:srgbClr val="10182E"/>
                </a:solidFill>
              </a:rPr>
              <a:t>Visible fallbacks: </a:t>
            </a:r>
            <a:r>
              <a:rPr sz="1400">
                <a:solidFill>
                  <a:srgbClr val="333333"/>
                </a:solidFill>
              </a:rPr>
              <a:t>demo story fallback + per-panel placeholder fallback are flagged in the UI and API metadata.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 b="1">
                <a:solidFill>
                  <a:srgbClr val="10182E"/>
                </a:solidFill>
              </a:rPr>
              <a:t>Persistence: </a:t>
            </a:r>
            <a:r>
              <a:rPr sz="1400">
                <a:solidFill>
                  <a:srgbClr val="333333"/>
                </a:solidFill>
              </a:rPr>
              <a:t>UUID workspaces + atomic comic.json manifest; cleanup utility included.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 b="1">
                <a:solidFill>
                  <a:srgbClr val="10182E"/>
                </a:solidFill>
              </a:rPr>
              <a:t>Honesty by default: </a:t>
            </a:r>
            <a:r>
              <a:rPr sz="1400">
                <a:solidFill>
                  <a:srgbClr val="333333"/>
                </a:solidFill>
              </a:rPr>
              <a:t>provider chips, warnings banner, inspectable image prompts, cover-page review reminder — placeholder art is never called AI 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98000"/>
            <a:ext cx="109728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E"/>
                </a:solidFill>
              </a:rPr>
              <a:t>ComicCraft – AI Comic Story Creator Using Gemini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90000"/>
            <a:ext cx="11155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30000"/>
            <a:ext cx="2011680" cy="50800"/>
          </a:xfrm>
          <a:prstGeom prst="rect">
            <a:avLst/>
          </a:prstGeom>
          <a:solidFill>
            <a:srgbClr val="2D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70000"/>
            <a:ext cx="1115568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F6E"/>
                </a:solidFill>
              </a:rPr>
              <a:t>Hardware, software and external services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500000"/>
          <a:ext cx="10972800" cy="4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961120"/>
              </a:tblGrid>
              <a:tr h="5500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0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Requirement (as pinned in repository)</a:t>
                      </a:r>
                    </a:p>
                  </a:txBody>
                  <a:tcPr>
                    <a:solidFill>
                      <a:srgbClr val="10182E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E"/>
                          </a:solidFill>
                        </a:rPr>
                        <a:t>Runtime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Python ≥ 3.11 (Docker uses 3.12-slim); ~250 MB environment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E"/>
                          </a:solidFill>
                        </a:rPr>
                        <a:t>Core libs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FastAPI, uvicorn, Jinja2, Pydantic v2 + pydantic-settings, httpx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E"/>
                          </a:solidFill>
                        </a:rPr>
                        <a:t>AI text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google-genai; Gemini outline/story model IDs configurable + fallback lists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E"/>
                          </a:solidFill>
                        </a:rPr>
                        <a:t>AI art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huggingface-hub (hosted); optional torch+diffusers stack (local, GPU recommended)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E"/>
                          </a:solidFill>
                        </a:rPr>
                        <a:t>Output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Pillow (art + sizing), fpdf2 + bundled DejaVu Unicode fonts (PDF)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E"/>
                          </a:solidFill>
                        </a:rPr>
                        <a:t>Testing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pytest + pytest-cov, ruff; suite forces demo+placeholder (zero network)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E"/>
                          </a:solidFill>
                        </a:rPr>
                        <a:t>Hardware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Any modern machine for default mode; CUDA GPU only for local diffusion option</a:t>
                      </a:r>
                    </a:p>
                  </a:txBody>
                  <a:tcPr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598000"/>
            <a:ext cx="109728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E"/>
                </a:solidFill>
              </a:rPr>
              <a:t>ComicCraft – AI Comic Story Creator Using Gemini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90000"/>
            <a:ext cx="11155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30000"/>
            <a:ext cx="2011680" cy="50800"/>
          </a:xfrm>
          <a:prstGeom prst="rect">
            <a:avLst/>
          </a:prstGeom>
          <a:solidFill>
            <a:srgbClr val="2D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70000"/>
            <a:ext cx="1115568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F6E"/>
                </a:solidFill>
              </a:rPr>
              <a:t>Clients → FastAPI layer → ComicService → services → providers</a:t>
            </a:r>
          </a:p>
        </p:txBody>
      </p:sp>
      <p:pic>
        <p:nvPicPr>
          <p:cNvPr id="6" name="Picture 5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264" y="1350000"/>
            <a:ext cx="7577471" cy="530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98000"/>
            <a:ext cx="109728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E"/>
                </a:solidFill>
              </a:rPr>
              <a:t>ComicCraft – AI Comic Story Creator Using Gemini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90000"/>
            <a:ext cx="11155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30000"/>
            <a:ext cx="2011680" cy="50800"/>
          </a:xfrm>
          <a:prstGeom prst="rect">
            <a:avLst/>
          </a:prstGeom>
          <a:solidFill>
            <a:srgbClr val="2D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70000"/>
            <a:ext cx="1115568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F6E"/>
                </a:solidFill>
              </a:rPr>
              <a:t>Why each tool was chosen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00000"/>
            <a:ext cx="11003280" cy="5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168C88"/>
                </a:solidFill>
              </a:rPr>
              <a:t>▪ </a:t>
            </a:r>
            <a:r>
              <a:rPr sz="1350" b="1">
                <a:solidFill>
                  <a:srgbClr val="10182E"/>
                </a:solidFill>
              </a:rPr>
              <a:t>FastAPI + Uvicorn: </a:t>
            </a:r>
            <a:r>
              <a:rPr sz="1350">
                <a:solidFill>
                  <a:srgbClr val="333333"/>
                </a:solidFill>
              </a:rPr>
              <a:t>async server, OpenAPI docs at /docs for free, dependency injection.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68C88"/>
                </a:solidFill>
              </a:rPr>
              <a:t>▪ </a:t>
            </a:r>
            <a:r>
              <a:rPr sz="1350" b="1">
                <a:solidFill>
                  <a:srgbClr val="10182E"/>
                </a:solidFill>
              </a:rPr>
              <a:t>Pydantic v2 + pydantic-settings: </a:t>
            </a:r>
            <a:r>
              <a:rPr sz="1350">
                <a:solidFill>
                  <a:srgbClr val="333333"/>
                </a:solidFill>
              </a:rPr>
              <a:t>one validation layer for users, AI and config; .env secrets via SecretStr.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68C88"/>
                </a:solidFill>
              </a:rPr>
              <a:t>▪ </a:t>
            </a:r>
            <a:r>
              <a:rPr sz="1350" b="1">
                <a:solidFill>
                  <a:srgbClr val="10182E"/>
                </a:solidFill>
              </a:rPr>
              <a:t>google-genai: </a:t>
            </a:r>
            <a:r>
              <a:rPr sz="1350">
                <a:solidFill>
                  <a:srgbClr val="333333"/>
                </a:solidFill>
              </a:rPr>
              <a:t>official Gemini SDK; JSON-mode responses; model IDs externalised to .env.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68C88"/>
                </a:solidFill>
              </a:rPr>
              <a:t>▪ </a:t>
            </a:r>
            <a:r>
              <a:rPr sz="1350" b="1">
                <a:solidFill>
                  <a:srgbClr val="10182E"/>
                </a:solidFill>
              </a:rPr>
              <a:t>huggingface-hub InferenceClient: </a:t>
            </a:r>
            <a:r>
              <a:rPr sz="1350">
                <a:solidFill>
                  <a:srgbClr val="333333"/>
                </a:solidFill>
              </a:rPr>
              <a:t>hosted text-to-image without owning a GPU.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68C88"/>
                </a:solidFill>
              </a:rPr>
              <a:t>▪ </a:t>
            </a:r>
            <a:r>
              <a:rPr sz="1350" b="1">
                <a:solidFill>
                  <a:srgbClr val="10182E"/>
                </a:solidFill>
              </a:rPr>
              <a:t>diffusers + torch (optional): </a:t>
            </a:r>
            <a:r>
              <a:rPr sz="1350">
                <a:solidFill>
                  <a:srgbClr val="333333"/>
                </a:solidFill>
              </a:rPr>
              <a:t>local Stable Diffusion, lazy-loaded with attention slicing and cuda/mps/cpu autodetect.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68C88"/>
                </a:solidFill>
              </a:rPr>
              <a:t>▪ </a:t>
            </a:r>
            <a:r>
              <a:rPr sz="1350" b="1">
                <a:solidFill>
                  <a:srgbClr val="10182E"/>
                </a:solidFill>
              </a:rPr>
              <a:t>Pillow + fpdf2 + DejaVu: </a:t>
            </a:r>
            <a:r>
              <a:rPr sz="1350">
                <a:solidFill>
                  <a:srgbClr val="333333"/>
                </a:solidFill>
              </a:rPr>
              <a:t>deterministic placeholder art and Unicode-true A4 PDF.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68C88"/>
                </a:solidFill>
              </a:rPr>
              <a:t>▪ </a:t>
            </a:r>
            <a:r>
              <a:rPr sz="1350" b="1">
                <a:solidFill>
                  <a:srgbClr val="10182E"/>
                </a:solidFill>
              </a:rPr>
              <a:t>pytest + ruff + Docker: </a:t>
            </a:r>
            <a:r>
              <a:rPr sz="1350">
                <a:solidFill>
                  <a:srgbClr val="333333"/>
                </a:solidFill>
              </a:rPr>
              <a:t>offline-testable, lint-clean, reproducible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98000"/>
            <a:ext cx="109728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E"/>
                </a:solidFill>
              </a:rPr>
              <a:t>ComicCraft – AI Comic Story Creator Using Gemini Models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90000"/>
            <a:ext cx="11155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Implementation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30000"/>
            <a:ext cx="2011680" cy="50800"/>
          </a:xfrm>
          <a:prstGeom prst="rect">
            <a:avLst/>
          </a:prstGeom>
          <a:solidFill>
            <a:srgbClr val="2D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70000"/>
            <a:ext cx="1115568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F6E"/>
                </a:solidFill>
              </a:rPr>
              <a:t>The code that makes the promises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00000"/>
            <a:ext cx="11003280" cy="5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168C88"/>
                </a:solidFill>
              </a:rPr>
              <a:t>▪ </a:t>
            </a:r>
            <a:r>
              <a:rPr sz="1350" b="1">
                <a:solidFill>
                  <a:srgbClr val="10182E"/>
                </a:solidFill>
              </a:rPr>
              <a:t>llm.py — two stages: </a:t>
            </a:r>
            <a:r>
              <a:rPr sz="1350">
                <a:solidFill>
                  <a:srgbClr val="333333"/>
                </a:solidFill>
              </a:rPr>
              <a:t>_generate_outline (→ComicOutline) then _generate_script (→ComicScript); both validated + panel sequence checked.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68C88"/>
                </a:solidFill>
              </a:rPr>
              <a:t>▪ </a:t>
            </a:r>
            <a:r>
              <a:rPr sz="1350" b="1">
                <a:solidFill>
                  <a:srgbClr val="10182E"/>
                </a:solidFill>
              </a:rPr>
              <a:t>Resilience wrapper: </a:t>
            </a:r>
            <a:r>
              <a:rPr sz="1350">
                <a:solidFill>
                  <a:srgbClr val="333333"/>
                </a:solidFill>
              </a:rPr>
              <a:t>429/5xx → exponential backoff+jitter; 400/404 → switch model immediately; exhausted → demo fallback with used_fallback flag.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68C88"/>
                </a:solidFill>
              </a:rPr>
              <a:t>▪ </a:t>
            </a:r>
            <a:r>
              <a:rPr sz="1350" b="1">
                <a:solidFill>
                  <a:srgbClr val="10182E"/>
                </a:solidFill>
              </a:rPr>
              <a:t>images.py — seeds: </a:t>
            </a:r>
            <a:r>
              <a:rPr sz="1350">
                <a:solidFill>
                  <a:srgbClr val="333333"/>
                </a:solidFill>
              </a:rPr>
              <a:t>seed = sha256(comic_id : panel_number : image_prompt) → reproducible art; per-panel placeholder fallback with warning text.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68C88"/>
                </a:solidFill>
              </a:rPr>
              <a:t>▪ </a:t>
            </a:r>
            <a:r>
              <a:rPr sz="1350" b="1">
                <a:solidFill>
                  <a:srgbClr val="10182E"/>
                </a:solidFill>
              </a:rPr>
              <a:t>comic_service.py: </a:t>
            </a:r>
            <a:r>
              <a:rPr sz="1350">
                <a:solidFill>
                  <a:srgbClr val="333333"/>
                </a:solidFill>
              </a:rPr>
              <a:t>workspace → story → per-panel images → PDF → ProviderInfo assembly → atomic save; workspace deleted on failure.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68C88"/>
                </a:solidFill>
              </a:rPr>
              <a:t>▪ </a:t>
            </a:r>
            <a:r>
              <a:rPr sz="1350" b="1">
                <a:solidFill>
                  <a:srgbClr val="10182E"/>
                </a:solidFill>
              </a:rPr>
              <a:t>pdf_service.py: </a:t>
            </a:r>
            <a:r>
              <a:rPr sz="1350">
                <a:solidFill>
                  <a:srgbClr val="333333"/>
                </a:solidFill>
              </a:rPr>
              <a:t>A4 cover + one page per panel; 180×145 mm aspect-preserved art; DejaVu fonts; page footer.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68C88"/>
                </a:solidFill>
              </a:rPr>
              <a:t>▪ </a:t>
            </a:r>
            <a:r>
              <a:rPr sz="1350" b="1">
                <a:solidFill>
                  <a:srgbClr val="10182E"/>
                </a:solidFill>
              </a:rPr>
              <a:t>repository.py: </a:t>
            </a:r>
            <a:r>
              <a:rPr sz="1350">
                <a:solidFill>
                  <a:srgbClr val="333333"/>
                </a:solidFill>
              </a:rPr>
              <a:t>UUID workspaces, ^[a-f0-9]{32}$ ID guard, tmp→replace atomic manifest.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98000"/>
            <a:ext cx="109728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E"/>
                </a:solidFill>
              </a:rPr>
              <a:t>ComicCraft – AI Comic Story Creator Using Gemini Models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90000"/>
            <a:ext cx="11155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30000"/>
            <a:ext cx="2011680" cy="50800"/>
          </a:xfrm>
          <a:prstGeom prst="rect">
            <a:avLst/>
          </a:prstGeom>
          <a:solidFill>
            <a:srgbClr val="2D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70000"/>
            <a:ext cx="1115568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F6E"/>
                </a:solidFill>
              </a:rPr>
              <a:t>Executed evidence — nothing marked PASS without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00000"/>
            <a:ext cx="11003280" cy="5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168C88"/>
                </a:solidFill>
              </a:rPr>
              <a:t>▪ </a:t>
            </a:r>
            <a:r>
              <a:rPr sz="1350" b="1">
                <a:solidFill>
                  <a:srgbClr val="10182E"/>
                </a:solidFill>
              </a:rPr>
              <a:t>Automated suite: </a:t>
            </a:r>
            <a:r>
              <a:rPr sz="1350">
                <a:solidFill>
                  <a:srgbClr val="333333"/>
                </a:solidFill>
              </a:rPr>
              <a:t>11/11 pytest tests PASS (Python 3.11.2, pytest 9.1.1) — API lifecycle, aliases, validation, 404, health, home, web form, demo story, Gemini retry/switch, test-image.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68C88"/>
                </a:solidFill>
              </a:rPr>
              <a:t>▪ </a:t>
            </a:r>
            <a:r>
              <a:rPr sz="1350" b="1">
                <a:solidFill>
                  <a:srgbClr val="10182E"/>
                </a:solidFill>
              </a:rPr>
              <a:t>Coverage: </a:t>
            </a:r>
            <a:r>
              <a:rPr sz="1350">
                <a:solidFill>
                  <a:srgbClr val="333333"/>
                </a:solidFill>
              </a:rPr>
              <a:t>80% overall — 99% pdf_service; uncovered lines are live-provider network paths by design.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68C88"/>
                </a:solidFill>
              </a:rPr>
              <a:t>▪ </a:t>
            </a:r>
            <a:r>
              <a:rPr sz="1350" b="1">
                <a:solidFill>
                  <a:srgbClr val="10182E"/>
                </a:solidFill>
              </a:rPr>
              <a:t>Live verification (11/11): </a:t>
            </a:r>
            <a:r>
              <a:rPr sz="1350">
                <a:solidFill>
                  <a:srgbClr val="333333"/>
                </a:solidFill>
              </a:rPr>
              <a:t>boot, health JSON, 201 generation, storage layout, PDF download (%PDF-1.3, 4 pages), preview reopen, 404/422, story fallback, image fallback.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68C88"/>
                </a:solidFill>
              </a:rPr>
              <a:t>▪ </a:t>
            </a:r>
            <a:r>
              <a:rPr sz="1350" b="1">
                <a:solidFill>
                  <a:srgbClr val="10182E"/>
                </a:solidFill>
              </a:rPr>
              <a:t>Honest register: </a:t>
            </a:r>
            <a:r>
              <a:rPr sz="1350">
                <a:solidFill>
                  <a:srgbClr val="333333"/>
                </a:solidFill>
              </a:rPr>
              <a:t>live Gemini output, hosted art success, local diffusion, Android, Docker build and multi-browser visual QA are NOT EXECUTED — credentials/devices unavailable, never claimed otherwise.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98000"/>
            <a:ext cx="109728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E"/>
                </a:solidFill>
              </a:rPr>
              <a:t>ComicCraft – AI Comic Story Creator Using Gemini Models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90000"/>
            <a:ext cx="11155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30000"/>
            <a:ext cx="2011680" cy="50800"/>
          </a:xfrm>
          <a:prstGeom prst="rect">
            <a:avLst/>
          </a:prstGeom>
          <a:solidFill>
            <a:srgbClr val="2D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70000"/>
            <a:ext cx="1115568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F6E"/>
                </a:solidFill>
              </a:rPr>
              <a:t>Verified outcomes from the running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00000"/>
            <a:ext cx="11003280" cy="5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168C88"/>
                </a:solidFill>
              </a:rPr>
              <a:t>▪ </a:t>
            </a:r>
            <a:r>
              <a:rPr sz="1350" b="1">
                <a:solidFill>
                  <a:srgbClr val="10182E"/>
                </a:solidFill>
              </a:rPr>
              <a:t>Zero-credential run: </a:t>
            </a:r>
            <a:r>
              <a:rPr sz="1350">
                <a:solidFill>
                  <a:srgbClr val="333333"/>
                </a:solidFill>
              </a:rPr>
              <a:t>ComicCraft 1.0.0 boots in AI=demo, images=placeholder and completes full comics offline.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68C88"/>
                </a:solidFill>
              </a:rPr>
              <a:t>▪ </a:t>
            </a:r>
            <a:r>
              <a:rPr sz="1350" b="1">
                <a:solidFill>
                  <a:srgbClr val="10182E"/>
                </a:solidFill>
              </a:rPr>
              <a:t>API generation: </a:t>
            </a:r>
            <a:r>
              <a:rPr sz="1350">
                <a:solidFill>
                  <a:srgbClr val="333333"/>
                </a:solidFill>
              </a:rPr>
              <a:t>POST /api/v1/comics → 201; 3-panel comic id bef9e5c7… with title, panels, URLs and provider_info.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68C88"/>
                </a:solidFill>
              </a:rPr>
              <a:t>▪ </a:t>
            </a:r>
            <a:r>
              <a:rPr sz="1350" b="1">
                <a:solidFill>
                  <a:srgbClr val="10182E"/>
                </a:solidFill>
              </a:rPr>
              <a:t>Persistence: </a:t>
            </a:r>
            <a:r>
              <a:rPr sz="1350">
                <a:solidFill>
                  <a:srgbClr val="333333"/>
                </a:solidFill>
              </a:rPr>
              <a:t>comic.json (atomic), comic.pdf and panels/ inside the UUID workspace; preview re-renders from manifest.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68C88"/>
                </a:solidFill>
              </a:rPr>
              <a:t>▪ </a:t>
            </a:r>
            <a:r>
              <a:rPr sz="1350" b="1">
                <a:solidFill>
                  <a:srgbClr val="10182E"/>
                </a:solidFill>
              </a:rPr>
              <a:t>PDF: </a:t>
            </a:r>
            <a:r>
              <a:rPr sz="1350">
                <a:solidFill>
                  <a:srgbClr val="333333"/>
                </a:solidFill>
              </a:rPr>
              <a:t>127,334-byte A4 PDF — cover page + one page per panel, valid %PDF-1.3.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68C88"/>
                </a:solidFill>
              </a:rPr>
              <a:t>▪ </a:t>
            </a:r>
            <a:r>
              <a:rPr sz="1350" b="1">
                <a:solidFill>
                  <a:srgbClr val="10182E"/>
                </a:solidFill>
              </a:rPr>
              <a:t>Transparency: </a:t>
            </a:r>
            <a:r>
              <a:rPr sz="1350">
                <a:solidFill>
                  <a:srgbClr val="333333"/>
                </a:solidFill>
              </a:rPr>
              <a:t>provider_info lists demo models and placeholder art; fallbacks raise used_fallback with exact warning strings.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68C88"/>
                </a:solidFill>
              </a:rPr>
              <a:t>▪ </a:t>
            </a:r>
            <a:r>
              <a:rPr sz="1350" b="1">
                <a:solidFill>
                  <a:srgbClr val="10182E"/>
                </a:solidFill>
              </a:rPr>
              <a:t>Known cosmetic notes: </a:t>
            </a:r>
            <a:r>
              <a:rPr sz="1350">
                <a:solidFill>
                  <a:srgbClr val="333333"/>
                </a:solidFill>
              </a:rPr>
              <a:t>demo titles can read awkwardly; placeholder caption wrap is tight at some sizes — logged openly in the test report (D1–D3).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98000"/>
            <a:ext cx="109728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E"/>
                </a:solidFill>
              </a:rPr>
              <a:t>ComicCraft – AI Comic Story Creator Using Gemini Models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90000"/>
            <a:ext cx="11155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Application Output (real captures)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30000"/>
            <a:ext cx="2011680" cy="50800"/>
          </a:xfrm>
          <a:prstGeom prst="rect">
            <a:avLst/>
          </a:prstGeom>
          <a:solidFill>
            <a:srgbClr val="2D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70000"/>
            <a:ext cx="1115568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F6E"/>
                </a:solidFill>
              </a:rPr>
              <a:t>Generated during verification in demo+placeholder mode</a:t>
            </a:r>
          </a:p>
        </p:txBody>
      </p:sp>
      <p:pic>
        <p:nvPicPr>
          <p:cNvPr id="6" name="Picture 5" descr="pane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50000"/>
            <a:ext cx="5050000" cy="5050000"/>
          </a:xfrm>
          <a:prstGeom prst="rect">
            <a:avLst/>
          </a:prstGeom>
        </p:spPr>
      </p:pic>
      <p:pic>
        <p:nvPicPr>
          <p:cNvPr id="7" name="Picture 6" descr="pdf_p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350000"/>
            <a:ext cx="3569530" cy="5050000"/>
          </a:xfrm>
          <a:prstGeom prst="rect">
            <a:avLst/>
          </a:prstGeom>
        </p:spPr>
      </p:pic>
      <p:pic>
        <p:nvPicPr>
          <p:cNvPr id="8" name="Picture 7" descr="pdf_p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350000"/>
            <a:ext cx="3569530" cy="505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598000"/>
            <a:ext cx="109728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E"/>
                </a:solidFill>
              </a:rPr>
              <a:t>ComicCraft – AI Comic Story Creator Using Gemini Models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90000"/>
            <a:ext cx="11155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30000"/>
            <a:ext cx="2011680" cy="50800"/>
          </a:xfrm>
          <a:prstGeom prst="rect">
            <a:avLst/>
          </a:prstGeom>
          <a:solidFill>
            <a:srgbClr val="2D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70000"/>
            <a:ext cx="1115568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F6E"/>
                </a:solidFill>
              </a:rPr>
              <a:t>Not implemented today — proposed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00000"/>
            <a:ext cx="11003280" cy="5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>
                <a:solidFill>
                  <a:srgbClr val="333333"/>
                </a:solidFill>
              </a:rPr>
              <a:t>Authentication, per-user quotas, rate limiting (README production checklist).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>
                <a:solidFill>
                  <a:srgbClr val="333333"/>
                </a:solidFill>
              </a:rPr>
              <a:t>Background job queue with status polling for long live-provider generations.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>
                <a:solidFill>
                  <a:srgbClr val="333333"/>
                </a:solidFill>
              </a:rPr>
              <a:t>Database metadata + object storage; scheduled cleanup automation.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>
                <a:solidFill>
                  <a:srgbClr val="333333"/>
                </a:solidFill>
              </a:rPr>
              <a:t>Audience-appropriate content moderation; provider cost budgets and observability.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>
                <a:solidFill>
                  <a:srgbClr val="333333"/>
                </a:solidFill>
              </a:rPr>
              <a:t>Editable outline approval step; regenerate single panel; speech-bubble compositing; more styles/layouts.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>
                <a:solidFill>
                  <a:srgbClr val="333333"/>
                </a:solidFill>
              </a:rPr>
              <a:t>Test hardening: malformed Gemini JSON, empty responses, visual regression checks; fix logged cosmetic issues D1–D3.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98000"/>
            <a:ext cx="109728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E"/>
                </a:solidFill>
              </a:rPr>
              <a:t>ComicCraft – AI Comic Story Creator Using Gemini Models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0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90000"/>
            <a:ext cx="11155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30000"/>
            <a:ext cx="2011680" cy="50800"/>
          </a:xfrm>
          <a:prstGeom prst="rect">
            <a:avLst/>
          </a:prstGeom>
          <a:solidFill>
            <a:srgbClr val="2D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70000"/>
            <a:ext cx="1115568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F6E"/>
                </a:solidFill>
              </a:rPr>
              <a:t>What the project demonstrates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00000"/>
            <a:ext cx="11003280" cy="52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>
                <a:solidFill>
                  <a:srgbClr val="333333"/>
                </a:solidFill>
              </a:rPr>
              <a:t>A disciplined small FastAPI codebase can chain AI services into a dependable product.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>
                <a:solidFill>
                  <a:srgbClr val="333333"/>
                </a:solidFill>
              </a:rPr>
              <a:t>AI output handled as schema-bound data — never brittle string splitting.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>
                <a:solidFill>
                  <a:srgbClr val="333333"/>
                </a:solidFill>
              </a:rPr>
              <a:t>Reliability is layered: validation → retries → model fallback → offline fallback, all user-visible.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>
                <a:solidFill>
                  <a:srgbClr val="333333"/>
                </a:solidFill>
              </a:rPr>
              <a:t>Character continuity and determinism are engineered, not hoped for (character bible, seeds, negative prompts).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>
                <a:solidFill>
                  <a:srgbClr val="333333"/>
                </a:solidFill>
              </a:rPr>
              <a:t>Fully verifiable: 11/11 automated tests + 11/11 live checks + honest not-executed register.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68C88"/>
                </a:solidFill>
              </a:rPr>
              <a:t>▪ </a:t>
            </a:r>
            <a:r>
              <a:rPr sz="1400" b="1">
                <a:solidFill>
                  <a:srgbClr val="10182E"/>
                </a:solidFill>
              </a:rPr>
              <a:t>Thank you — questions welcome. </a:t>
            </a:r>
            <a:r>
              <a:rPr sz="1400">
                <a:solidFill>
                  <a:srgbClr val="333333"/>
                </a:solidFill>
              </a:rPr>
              <a:t>Live demo order: home → form → preview → PDF → /docs → fallbacks.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98000"/>
            <a:ext cx="109728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E"/>
                </a:solidFill>
              </a:rPr>
              <a:t>ComicCraft – AI Comic Story Creator Using Gemini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